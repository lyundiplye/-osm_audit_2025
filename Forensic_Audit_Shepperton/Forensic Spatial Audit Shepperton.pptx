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4377" r:id="rId1"/>
  </p:sldMasterIdLst>
  <p:notesMasterIdLst>
    <p:notesMasterId r:id="rId49"/>
  </p:notesMasterIdLst>
  <p:handoutMasterIdLst>
    <p:handoutMasterId r:id="rId50"/>
  </p:handoutMasterIdLst>
  <p:sldIdLst>
    <p:sldId id="256" r:id="rId2"/>
    <p:sldId id="284" r:id="rId3"/>
    <p:sldId id="277" r:id="rId4"/>
    <p:sldId id="281" r:id="rId5"/>
    <p:sldId id="257" r:id="rId6"/>
    <p:sldId id="268" r:id="rId7"/>
    <p:sldId id="282" r:id="rId8"/>
    <p:sldId id="278" r:id="rId9"/>
    <p:sldId id="259" r:id="rId10"/>
    <p:sldId id="271" r:id="rId11"/>
    <p:sldId id="292" r:id="rId12"/>
    <p:sldId id="279" r:id="rId13"/>
    <p:sldId id="260" r:id="rId14"/>
    <p:sldId id="270" r:id="rId15"/>
    <p:sldId id="296" r:id="rId16"/>
    <p:sldId id="261" r:id="rId17"/>
    <p:sldId id="283" r:id="rId18"/>
    <p:sldId id="286" r:id="rId19"/>
    <p:sldId id="291" r:id="rId20"/>
    <p:sldId id="298" r:id="rId21"/>
    <p:sldId id="287" r:id="rId22"/>
    <p:sldId id="295" r:id="rId23"/>
    <p:sldId id="289" r:id="rId24"/>
    <p:sldId id="288" r:id="rId25"/>
    <p:sldId id="290" r:id="rId26"/>
    <p:sldId id="262" r:id="rId27"/>
    <p:sldId id="294" r:id="rId28"/>
    <p:sldId id="266" r:id="rId29"/>
    <p:sldId id="285" r:id="rId30"/>
    <p:sldId id="267" r:id="rId31"/>
    <p:sldId id="303" r:id="rId32"/>
    <p:sldId id="304" r:id="rId33"/>
    <p:sldId id="276" r:id="rId34"/>
    <p:sldId id="280" r:id="rId35"/>
    <p:sldId id="263" r:id="rId36"/>
    <p:sldId id="272" r:id="rId37"/>
    <p:sldId id="273" r:id="rId38"/>
    <p:sldId id="264" r:id="rId39"/>
    <p:sldId id="274" r:id="rId40"/>
    <p:sldId id="275" r:id="rId41"/>
    <p:sldId id="299" r:id="rId42"/>
    <p:sldId id="306" r:id="rId43"/>
    <p:sldId id="302" r:id="rId44"/>
    <p:sldId id="301" r:id="rId45"/>
    <p:sldId id="269" r:id="rId46"/>
    <p:sldId id="300" r:id="rId47"/>
    <p:sldId id="305" r:id="rId4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933"/>
    <p:restoredTop sz="69695"/>
  </p:normalViewPr>
  <p:slideViewPr>
    <p:cSldViewPr snapToGrid="0" snapToObjects="1">
      <p:cViewPr varScale="1">
        <p:scale>
          <a:sx n="153" d="100"/>
          <a:sy n="153" d="100"/>
        </p:scale>
        <p:origin x="912" y="17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6" d="100"/>
          <a:sy n="96" d="100"/>
        </p:scale>
        <p:origin x="364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D3A4A9-A031-6DC4-6E08-9EA5E4334E43}"/>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C05F1202-F25B-401A-C725-260270FDF285}"/>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194CD084-547B-C74A-938A-9B3DB5C64E01}" type="datetimeFigureOut">
              <a:rPr lang="en-GB" smtClean="0"/>
              <a:t>06/03/2026</a:t>
            </a:fld>
            <a:endParaRPr lang="en-GB"/>
          </a:p>
        </p:txBody>
      </p:sp>
      <p:sp>
        <p:nvSpPr>
          <p:cNvPr id="4" name="Footer Placeholder 3">
            <a:extLst>
              <a:ext uri="{FF2B5EF4-FFF2-40B4-BE49-F238E27FC236}">
                <a16:creationId xmlns:a16="http://schemas.microsoft.com/office/drawing/2014/main" id="{C028B7F5-15B9-77CC-66CE-F8E22AD92678}"/>
              </a:ext>
            </a:extLst>
          </p:cNvPr>
          <p:cNvSpPr>
            <a:spLocks noGrp="1"/>
          </p:cNvSpPr>
          <p:nvPr>
            <p:ph type="ftr" sz="quarter" idx="2"/>
          </p:nvPr>
        </p:nvSpPr>
        <p:spPr>
          <a:xfrm>
            <a:off x="0" y="8685212"/>
            <a:ext cx="2228850" cy="4587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1BBB8073-FEEB-D704-950D-D294C990F618}"/>
              </a:ext>
            </a:extLst>
          </p:cNvPr>
          <p:cNvSpPr>
            <a:spLocks noGrp="1"/>
          </p:cNvSpPr>
          <p:nvPr>
            <p:ph type="sldNum" sz="quarter" idx="3"/>
          </p:nvPr>
        </p:nvSpPr>
        <p:spPr>
          <a:xfrm>
            <a:off x="2913063" y="8685212"/>
            <a:ext cx="2228850" cy="458788"/>
          </a:xfrm>
          <a:prstGeom prst="rect">
            <a:avLst/>
          </a:prstGeom>
        </p:spPr>
        <p:txBody>
          <a:bodyPr vert="horz" lIns="91440" tIns="45720" rIns="91440" bIns="45720" rtlCol="0" anchor="b"/>
          <a:lstStyle>
            <a:lvl1pPr algn="r">
              <a:defRPr sz="1200"/>
            </a:lvl1pPr>
          </a:lstStyle>
          <a:p>
            <a:fld id="{9D98FE51-A722-3643-BF48-F7D2534A74A9}" type="slidenum">
              <a:rPr lang="en-GB" smtClean="0"/>
              <a:t>‹#›</a:t>
            </a:fld>
            <a:endParaRPr lang="en-GB"/>
          </a:p>
        </p:txBody>
      </p:sp>
    </p:spTree>
    <p:extLst>
      <p:ext uri="{BB962C8B-B14F-4D97-AF65-F5344CB8AC3E}">
        <p14:creationId xmlns:p14="http://schemas.microsoft.com/office/powerpoint/2010/main" val="1001044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2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Good morning, everyone. My name is Hanpu Li. Today, I am going to share a forensic spatial audit with you, titled: </a:t>
            </a:r>
            <a:r>
              <a:rPr lang="en-GB" sz="1200" i="1" kern="1200" dirty="0">
                <a:solidFill>
                  <a:schemeClr val="tx1"/>
                </a:solidFill>
                <a:effectLst/>
                <a:latin typeface="+mn-lt"/>
                <a:ea typeface="+mn-ea"/>
                <a:cs typeface="+mn-cs"/>
              </a:rPr>
              <a:t>The Political Economy of Greenwashing</a:t>
            </a:r>
            <a:r>
              <a:rPr lang="en-GB" sz="1200" kern="1200" dirty="0">
                <a:solidFill>
                  <a:schemeClr val="tx1"/>
                </a:solidFill>
                <a:effectLst/>
                <a:latin typeface="+mn-lt"/>
                <a:ea typeface="+mn-ea"/>
                <a:cs typeface="+mn-cs"/>
              </a:rPr>
              <a:t>. We are going to look at the hidden physical costs of the so-called "immaterial" digital cloud. Texts on slides might be intensive, and you don’t need to read everything.</a:t>
            </a:r>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4A5C-E480-3B01-3524-4F4266E62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E6262-9E73-1D5F-BF42-D85937243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F38BC9-2D67-EA45-F988-68CD0C5C94ED}"/>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When the film industry promotes "Virtual Production"—using massive LED screens to replace real-world filming locations—they sell us a beautiful story. They tell us that by not flying crews around the world, making movies is now a sustainable, low-carbon, and "virtual" process.</a:t>
            </a:r>
          </a:p>
        </p:txBody>
      </p:sp>
      <p:sp>
        <p:nvSpPr>
          <p:cNvPr id="4" name="Slide Number Placeholder 3">
            <a:extLst>
              <a:ext uri="{FF2B5EF4-FFF2-40B4-BE49-F238E27FC236}">
                <a16:creationId xmlns:a16="http://schemas.microsoft.com/office/drawing/2014/main" id="{57CD0711-E833-BD67-4AE0-A2B4B80CB22B}"/>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255761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FE425-1B19-E20C-D523-593C9BB56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C3E99-45E9-DDE3-2DEB-546D05F09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A5774-F43D-C6EF-6EC1-2D9D54E834F7}"/>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My research asks a simple but critical question: Does this digital technology actually save the environment, or does it just hide the damage? My goal today is to quantify the very real, physical footprint of this "virtual" alternative.</a:t>
            </a:r>
          </a:p>
        </p:txBody>
      </p:sp>
      <p:sp>
        <p:nvSpPr>
          <p:cNvPr id="4" name="Slide Number Placeholder 3">
            <a:extLst>
              <a:ext uri="{FF2B5EF4-FFF2-40B4-BE49-F238E27FC236}">
                <a16:creationId xmlns:a16="http://schemas.microsoft.com/office/drawing/2014/main" id="{02A3AC2F-CF61-CD96-3532-D43CC62E73A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68666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9B634-5D34-AF4D-767D-FADFEF240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45597-4D61-E11B-C71C-7FD371516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6077E-EC36-AD7D-B5AB-35922B9B9F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 establish the </a:t>
            </a:r>
            <a:r>
              <a:rPr lang="en-GB" sz="1200" b="1" kern="1200" dirty="0">
                <a:solidFill>
                  <a:schemeClr val="tx1"/>
                </a:solidFill>
                <a:effectLst/>
                <a:latin typeface="+mn-lt"/>
                <a:ea typeface="+mn-ea"/>
                <a:cs typeface="+mn-cs"/>
              </a:rPr>
              <a:t>SITUATION</a:t>
            </a:r>
            <a:r>
              <a:rPr lang="en-GB" sz="1200" kern="1200" dirty="0">
                <a:solidFill>
                  <a:schemeClr val="tx1"/>
                </a:solidFill>
                <a:effectLst/>
                <a:latin typeface="+mn-lt"/>
                <a:ea typeface="+mn-ea"/>
                <a:cs typeface="+mn-cs"/>
              </a:rPr>
              <a:t>, we are looking at the massive expansion of Virtual Production hubs here in the UK, specifically the Shepperton Studios expansion. While the industry frames this as an eco-friendly move, my audit reveals it is actually a cover for aggressive land expansion.</a:t>
            </a:r>
          </a:p>
          <a:p>
            <a:endParaRPr lang="en-US" dirty="0"/>
          </a:p>
        </p:txBody>
      </p:sp>
      <p:sp>
        <p:nvSpPr>
          <p:cNvPr id="4" name="Slide Number Placeholder 3">
            <a:extLst>
              <a:ext uri="{FF2B5EF4-FFF2-40B4-BE49-F238E27FC236}">
                <a16:creationId xmlns:a16="http://schemas.microsoft.com/office/drawing/2014/main" id="{A38E9668-BA28-FF77-3569-F55343FFD64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8655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 look at this through the lens of Political Economy. There is a concept called the </a:t>
            </a:r>
            <a:r>
              <a:rPr lang="en-GB" sz="1200" b="1" kern="1200" dirty="0">
                <a:solidFill>
                  <a:schemeClr val="tx1"/>
                </a:solidFill>
                <a:effectLst/>
                <a:latin typeface="+mn-lt"/>
                <a:ea typeface="+mn-ea"/>
                <a:cs typeface="+mn-cs"/>
              </a:rPr>
              <a:t>"Digital Spatial Fix."</a:t>
            </a:r>
            <a:r>
              <a:rPr lang="en-GB" sz="1200" kern="1200" dirty="0">
                <a:solidFill>
                  <a:schemeClr val="tx1"/>
                </a:solidFill>
                <a:effectLst/>
                <a:latin typeface="+mn-lt"/>
                <a:ea typeface="+mn-ea"/>
                <a:cs typeface="+mn-cs"/>
              </a:rPr>
              <a:t> In plain English, this means that digital capitalism doesn't actually get rid of pollution or crisis; it simply moves it somewhere else. We are just shifting the environmental damage from airplane skies down into local </a:t>
            </a:r>
            <a:r>
              <a:rPr lang="en-GB" sz="1200" kern="1200" dirty="0" err="1">
                <a:solidFill>
                  <a:schemeClr val="tx1"/>
                </a:solidFill>
                <a:effectLst/>
                <a:latin typeface="+mn-lt"/>
                <a:ea typeface="+mn-ea"/>
                <a:cs typeface="+mn-cs"/>
              </a:rPr>
              <a:t>neighborhoods</a:t>
            </a:r>
            <a:r>
              <a:rPr lang="en-GB"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F91C4-49FA-E76B-0A08-D6DACE71B2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99D3C-0FDF-D319-C6AB-6571FE943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69603-F9B6-8284-3E4B-0CFA6CC5E138}"/>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To prove this, I couldn't just trust corporate PR reports. I built a custom, automated tool using Python. I pulled raw mapping data directly from OpenStreetMap, and used a mathematical projection to convert global GPS coordinates into exact physical square meters. This gave me sub-metre accuracy that corporate reports couldn't hide from.</a:t>
            </a:r>
          </a:p>
        </p:txBody>
      </p:sp>
      <p:sp>
        <p:nvSpPr>
          <p:cNvPr id="4" name="Slide Number Placeholder 3">
            <a:extLst>
              <a:ext uri="{FF2B5EF4-FFF2-40B4-BE49-F238E27FC236}">
                <a16:creationId xmlns:a16="http://schemas.microsoft.com/office/drawing/2014/main" id="{BB725C35-F874-CB30-5C65-6968EDE42EC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84963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20C24-9957-9F47-8CA6-540FF40CB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F05C5-DD41-AB5D-1202-D2C89F443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B519B-C4C2-74E3-390A-D2CF657F5A3D}"/>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3614A80-E3BA-46F2-0C6C-872638C3790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70366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65A87-8F9E-6289-7283-A8032B5E6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771E7-6F50-5CC9-403A-220EA0B08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7A644-6362-4792-670A-F73FEA2EB995}"/>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This leads us to the core </a:t>
            </a:r>
            <a:r>
              <a:rPr lang="en-GB" sz="1200" b="1" kern="1200" dirty="0">
                <a:solidFill>
                  <a:schemeClr val="tx1"/>
                </a:solidFill>
                <a:effectLst/>
                <a:latin typeface="+mn-lt"/>
                <a:ea typeface="+mn-ea"/>
                <a:cs typeface="+mn-cs"/>
              </a:rPr>
              <a:t>PROBLEM</a:t>
            </a:r>
            <a:r>
              <a:rPr lang="en-GB" sz="1200" kern="1200" dirty="0">
                <a:solidFill>
                  <a:schemeClr val="tx1"/>
                </a:solidFill>
                <a:effectLst/>
                <a:latin typeface="+mn-lt"/>
                <a:ea typeface="+mn-ea"/>
                <a:cs typeface="+mn-cs"/>
              </a:rPr>
              <a:t>. The problem is that the "cloud" requires massive physical expansion on the ground.</a:t>
            </a:r>
          </a:p>
        </p:txBody>
      </p:sp>
      <p:sp>
        <p:nvSpPr>
          <p:cNvPr id="4" name="Slide Number Placeholder 3">
            <a:extLst>
              <a:ext uri="{FF2B5EF4-FFF2-40B4-BE49-F238E27FC236}">
                <a16:creationId xmlns:a16="http://schemas.microsoft.com/office/drawing/2014/main" id="{DF9C374E-2F17-7E78-6999-9C4155E33F1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028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My audit extracted staggering numbers. The logistical sprawl—meaning new parking lots and concrete—equates to over 13.2 hectares. That is the equivalent of paving over 18.5 professional football pitches.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8B44C-8220-A748-B48B-B3965EC7F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0BA3A-540B-5FD3-3132-6DA070755D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0197A4-6CB4-1699-3C04-AABE5E621B13}"/>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If you look at the map on the screen, the glowing red zones show asphalt expanding across the greenbelt.</a:t>
            </a:r>
            <a:r>
              <a:rPr lang="en-GB" dirty="0">
                <a:effectLst/>
              </a:rPr>
              <a:t> </a:t>
            </a:r>
            <a:endParaRPr lang="en-US" dirty="0"/>
          </a:p>
        </p:txBody>
      </p:sp>
      <p:sp>
        <p:nvSpPr>
          <p:cNvPr id="4" name="Slide Number Placeholder 3">
            <a:extLst>
              <a:ext uri="{FF2B5EF4-FFF2-40B4-BE49-F238E27FC236}">
                <a16:creationId xmlns:a16="http://schemas.microsoft.com/office/drawing/2014/main" id="{38F1EE7A-2CDE-F73B-FB9A-E4CCF6CD20E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08152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9FA4-A78B-3671-63FD-AACADB28C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E8E10-EEB0-6065-AC06-E96A02DCD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675D9-9675-0BBA-B349-CB80897397C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And the disruption goes deep underground, as we can see from this Thames Water engineering map required to support these digital stages, with also El Sub Stns.</a:t>
            </a:r>
          </a:p>
        </p:txBody>
      </p:sp>
      <p:sp>
        <p:nvSpPr>
          <p:cNvPr id="4" name="Slide Number Placeholder 3">
            <a:extLst>
              <a:ext uri="{FF2B5EF4-FFF2-40B4-BE49-F238E27FC236}">
                <a16:creationId xmlns:a16="http://schemas.microsoft.com/office/drawing/2014/main" id="{0B0A152D-F2CB-F04E-F38A-36EC17F8BEB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19352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EEC52-C40C-4063-B10E-0CD12E0E5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3D9EF-6432-BC52-8622-4700A902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B04D5-2570-24EB-BAFE-A42D2DEF5DFF}"/>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The </a:t>
            </a:r>
            <a:r>
              <a:rPr lang="en-GB" sz="1200" b="1" kern="1200" dirty="0">
                <a:solidFill>
                  <a:schemeClr val="tx1"/>
                </a:solidFill>
                <a:effectLst/>
                <a:latin typeface="+mn-lt"/>
                <a:ea typeface="+mn-ea"/>
                <a:cs typeface="+mn-cs"/>
              </a:rPr>
              <a:t>IMPLICATIONS</a:t>
            </a:r>
            <a:r>
              <a:rPr lang="en-GB" sz="1200" kern="1200" dirty="0">
                <a:solidFill>
                  <a:schemeClr val="tx1"/>
                </a:solidFill>
                <a:effectLst/>
                <a:latin typeface="+mn-lt"/>
                <a:ea typeface="+mn-ea"/>
                <a:cs typeface="+mn-cs"/>
              </a:rPr>
              <a:t> of this sprawl are severe across three dimensions: environmental, economic, and governance.</a:t>
            </a:r>
          </a:p>
        </p:txBody>
      </p:sp>
      <p:sp>
        <p:nvSpPr>
          <p:cNvPr id="4" name="Slide Number Placeholder 3">
            <a:extLst>
              <a:ext uri="{FF2B5EF4-FFF2-40B4-BE49-F238E27FC236}">
                <a16:creationId xmlns:a16="http://schemas.microsoft.com/office/drawing/2014/main" id="{9D3F87A6-C0D5-6A3A-DDC3-3EAFD37AF18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3456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Economically, these new LED stages are incredibly power-hungry. My data shows they demand 5.4 Gigawatt-hours of energy every single year. Environmentally, they require taking control of 39 hectares of natural flood zones.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91FFB-66EC-9E96-F39D-026B44544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BF605-7E52-6F75-119F-A949324A7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8A8D1-0A77-5285-2A37-5581404B1E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To make way for this concrete, biological life is erased. Official planning documents confirm the removal of 79 mature trees. </a:t>
            </a:r>
            <a:endParaRPr lang="en-US" dirty="0"/>
          </a:p>
        </p:txBody>
      </p:sp>
      <p:sp>
        <p:nvSpPr>
          <p:cNvPr id="4" name="Slide Number Placeholder 3">
            <a:extLst>
              <a:ext uri="{FF2B5EF4-FFF2-40B4-BE49-F238E27FC236}">
                <a16:creationId xmlns:a16="http://schemas.microsoft.com/office/drawing/2014/main" id="{2E0FCB4B-48C8-8E39-3A27-F435C21CB50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05107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541C-A020-A4EC-82CC-5A7E774DD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DBB2A3-F3BB-DE27-CC47-C54979959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11037-FDF8-1302-07FA-2711694EE8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tree protection plans show exactly where nature was bulldozed for digital screens.</a:t>
            </a:r>
            <a:r>
              <a:rPr lang="en-GB" dirty="0">
                <a:effectLst/>
              </a:rPr>
              <a:t> </a:t>
            </a:r>
            <a:endParaRPr lang="en-US" dirty="0"/>
          </a:p>
        </p:txBody>
      </p:sp>
      <p:sp>
        <p:nvSpPr>
          <p:cNvPr id="4" name="Slide Number Placeholder 3">
            <a:extLst>
              <a:ext uri="{FF2B5EF4-FFF2-40B4-BE49-F238E27FC236}">
                <a16:creationId xmlns:a16="http://schemas.microsoft.com/office/drawing/2014/main" id="{1C3BADA5-AE13-B6E2-61A0-EB0EA6B1DDD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322260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But the most shocking implication is the financial reality. This expansion generates an immense £392 Million in Annual Value for the industry. Yet, the ecological compensation fee paid to the local council was a mere £6,150. That is a fraction of a percent. The industry privatises the massive profits, while making the local community pay the environmental price.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3E0B-5677-F469-7A22-D8E292215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DF516-3547-C04F-B746-75E16BB13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37052-0751-DB00-C38A-EF0C599CA0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Looking at the </a:t>
            </a:r>
            <a:r>
              <a:rPr lang="en-GB" sz="1200" b="1" kern="1200" dirty="0">
                <a:solidFill>
                  <a:schemeClr val="tx1"/>
                </a:solidFill>
                <a:effectLst/>
                <a:latin typeface="+mn-lt"/>
                <a:ea typeface="+mn-ea"/>
                <a:cs typeface="+mn-cs"/>
              </a:rPr>
              <a:t>FEASIBILITY</a:t>
            </a:r>
            <a:r>
              <a:rPr lang="en-GB" sz="1200" kern="1200" dirty="0">
                <a:solidFill>
                  <a:schemeClr val="tx1"/>
                </a:solidFill>
                <a:effectLst/>
                <a:latin typeface="+mn-lt"/>
                <a:ea typeface="+mn-ea"/>
                <a:cs typeface="+mn-cs"/>
              </a:rPr>
              <a:t> of my method: because I used free, open-source data and standard Python scripts, this audit is incredibly practical. It can be adopted by any local council tomorrow to double-check corporate environmental claims without needing expensive software.</a:t>
            </a:r>
          </a:p>
          <a:p>
            <a:endParaRPr lang="en-US" dirty="0"/>
          </a:p>
        </p:txBody>
      </p:sp>
      <p:sp>
        <p:nvSpPr>
          <p:cNvPr id="4" name="Slide Number Placeholder 3">
            <a:extLst>
              <a:ext uri="{FF2B5EF4-FFF2-40B4-BE49-F238E27FC236}">
                <a16:creationId xmlns:a16="http://schemas.microsoft.com/office/drawing/2014/main" id="{538F20B8-17F4-C8D1-CBC6-C06910BFF5A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10737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0C14-1FAA-CC71-6326-ACEB0F29A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D4830-072C-23A6-B31E-4A12A01B6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7B796-75E1-5FB6-B745-2EAC7FBEA4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However, my initial map data had a limitation. Maps are static. They tell us where the concrete is, but they don't show us the living environment dying over time, don’t rely on real-time data, and can be PR-manipulated as well.</a:t>
            </a:r>
            <a:r>
              <a:rPr lang="en-US" sz="1200" kern="1200" dirty="0">
                <a:solidFill>
                  <a:schemeClr val="tx1"/>
                </a:solidFill>
                <a:effectLst/>
                <a:latin typeface="+mn-lt"/>
                <a:ea typeface="+mn-ea"/>
                <a:cs typeface="+mn-cs"/>
              </a:rPr>
              <a:t> With time and budget limited, I still have some thoughts on potential, future steps.</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DA3B9D2-0AC8-766B-E355-C6311AD531A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99730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FD8B6-D6B6-1117-654F-B373FCD8B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81E34-9087-9EA4-7647-83551DCCE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9A9A8-BF5D-201D-3D9F-287CE47EACF2}"/>
              </a:ext>
            </a:extLst>
          </p:cNvPr>
          <p:cNvSpPr>
            <a:spLocks noGrp="1"/>
          </p:cNvSpPr>
          <p:nvPr>
            <p:ph type="body" idx="1"/>
          </p:nvPr>
        </p:nvSpPr>
        <p:spPr/>
        <p:txBody>
          <a:bodyPr/>
          <a:lstStyle/>
          <a:p>
            <a:r>
              <a:rPr lang="en-GB" sz="1200" kern="1200" dirty="0" err="1">
                <a:solidFill>
                  <a:schemeClr val="tx1"/>
                </a:solidFill>
                <a:effectLst/>
                <a:latin typeface="+mn-lt"/>
                <a:ea typeface="+mn-ea"/>
                <a:cs typeface="+mn-cs"/>
              </a:rPr>
              <a:t>So.</a:t>
            </a:r>
            <a:r>
              <a:rPr lang="en-GB" sz="1200" kern="1200" dirty="0">
                <a:solidFill>
                  <a:schemeClr val="tx1"/>
                </a:solidFill>
                <a:effectLst/>
                <a:latin typeface="+mn-lt"/>
                <a:ea typeface="+mn-ea"/>
                <a:cs typeface="+mn-cs"/>
              </a:rPr>
              <a:t>.. why not just do it?</a:t>
            </a:r>
            <a:endParaRPr lang="en-US" dirty="0"/>
          </a:p>
        </p:txBody>
      </p:sp>
      <p:sp>
        <p:nvSpPr>
          <p:cNvPr id="4" name="Slide Number Placeholder 3">
            <a:extLst>
              <a:ext uri="{FF2B5EF4-FFF2-40B4-BE49-F238E27FC236}">
                <a16:creationId xmlns:a16="http://schemas.microsoft.com/office/drawing/2014/main" id="{F4D392BF-40FE-64F7-A147-CC43D774A0F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98474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E7BC-150B-59B0-1A41-D4CFFF1A3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364AB-BE78-FABA-B96A-110DE5F47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E5B05-2120-943F-86B0-0931FABE0F95}"/>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Welcome to Part Two: Earth Observation.</a:t>
            </a:r>
            <a:r>
              <a:rPr lang="en-GB" dirty="0">
                <a:effectLst/>
              </a:rPr>
              <a:t> </a:t>
            </a:r>
            <a:endParaRPr lang="en-US" dirty="0"/>
          </a:p>
        </p:txBody>
      </p:sp>
      <p:sp>
        <p:nvSpPr>
          <p:cNvPr id="4" name="Slide Number Placeholder 3">
            <a:extLst>
              <a:ext uri="{FF2B5EF4-FFF2-40B4-BE49-F238E27FC236}">
                <a16:creationId xmlns:a16="http://schemas.microsoft.com/office/drawing/2014/main" id="{7C0882B2-17EA-8AC4-FE1F-854237C5AFFB}"/>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375467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DBC2-B4EE-AC13-B99F-23682E5FE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F83DE-DD31-42DD-7D12-52AEAF70F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E02EF-365A-E360-CAB0-622156890C3B}"/>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To find the ultimate proof, I built a secondary pipeline using Google Earth Engine, pulling data from European and American satellites over an 8-year period.</a:t>
            </a:r>
          </a:p>
        </p:txBody>
      </p:sp>
      <p:sp>
        <p:nvSpPr>
          <p:cNvPr id="4" name="Slide Number Placeholder 3">
            <a:extLst>
              <a:ext uri="{FF2B5EF4-FFF2-40B4-BE49-F238E27FC236}">
                <a16:creationId xmlns:a16="http://schemas.microsoft.com/office/drawing/2014/main" id="{B8D954C9-4292-0AFB-0F76-46BE92AE6C3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52042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A06B0-840F-715D-122C-156B4F02A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891D1-513D-6DEF-9E11-D0249C5E0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C5C85-75D6-47F6-B7C7-982C469AF965}"/>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 wrote algorithms to filter out the clouds and track the actual health of the plants on the ground.</a:t>
            </a:r>
          </a:p>
        </p:txBody>
      </p:sp>
      <p:sp>
        <p:nvSpPr>
          <p:cNvPr id="4" name="Slide Number Placeholder 3">
            <a:extLst>
              <a:ext uri="{FF2B5EF4-FFF2-40B4-BE49-F238E27FC236}">
                <a16:creationId xmlns:a16="http://schemas.microsoft.com/office/drawing/2014/main" id="{9F8DE44D-7CD6-2214-AE94-ABC7FEB0F3EE}"/>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253430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3B1BA-A219-9C30-6909-3EFF69CBD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0BA35-C886-E944-E8EE-49BCF7BDA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39A83-8714-D9A8-43DD-B66BF56925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results are undeniable. The satellite imagery on the left shows the chlorophyll—the actual green life in the plants—completely collapsing in the expansion zone.</a:t>
            </a:r>
            <a:r>
              <a:rPr lang="en-GB" dirty="0">
                <a:effectLst/>
              </a:rPr>
              <a:t> </a:t>
            </a:r>
            <a:r>
              <a:rPr lang="en-GB" sz="1200" kern="1200" dirty="0">
                <a:solidFill>
                  <a:schemeClr val="tx1"/>
                </a:solidFill>
                <a:effectLst/>
                <a:latin typeface="+mn-lt"/>
                <a:ea typeface="+mn-ea"/>
                <a:cs typeface="+mn-cs"/>
              </a:rPr>
              <a:t>Furthermore, I looked at the thermal data. By replacing a living, cooling forest with heat-absorbing asphalt and server exhaust, the local temperature spiked by +5 degrees Celsius. This is a localized global warming effect. It is a permanent thermodynamic scar left by the "virtual" cloud.</a:t>
            </a:r>
          </a:p>
          <a:p>
            <a:endParaRPr lang="en-US" dirty="0"/>
          </a:p>
        </p:txBody>
      </p:sp>
      <p:sp>
        <p:nvSpPr>
          <p:cNvPr id="4" name="Slide Number Placeholder 3">
            <a:extLst>
              <a:ext uri="{FF2B5EF4-FFF2-40B4-BE49-F238E27FC236}">
                <a16:creationId xmlns:a16="http://schemas.microsoft.com/office/drawing/2014/main" id="{3267F333-19B7-BA3E-D26A-D844B65FDBEE}"/>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30210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150D-8F45-6E37-7ECD-49593C5CD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EF85C-B83A-D981-EFE7-6670B97F57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CB65A-F6F1-B55A-3EA4-B6C4F70FD22D}"/>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If you look at the red trendline on this chart, the healthy greenbelt baseline went away permanently. The plants just died.</a:t>
            </a:r>
          </a:p>
        </p:txBody>
      </p:sp>
      <p:sp>
        <p:nvSpPr>
          <p:cNvPr id="4" name="Slide Number Placeholder 3">
            <a:extLst>
              <a:ext uri="{FF2B5EF4-FFF2-40B4-BE49-F238E27FC236}">
                <a16:creationId xmlns:a16="http://schemas.microsoft.com/office/drawing/2014/main" id="{99E33BDD-A27A-2C71-E339-FD6B022C40C7}"/>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49060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C062-8D8A-C15F-56B1-12E8FA1FA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D7510-F12C-7FE8-5408-AA7BB156C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D76F1-A4D6-C15D-87AE-A1FABA2AFC16}"/>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To ensure total transparency, my entire code and logic is publicly documented. Anyone can verify these findings.</a:t>
            </a:r>
          </a:p>
        </p:txBody>
      </p:sp>
      <p:sp>
        <p:nvSpPr>
          <p:cNvPr id="4" name="Slide Number Placeholder 3">
            <a:extLst>
              <a:ext uri="{FF2B5EF4-FFF2-40B4-BE49-F238E27FC236}">
                <a16:creationId xmlns:a16="http://schemas.microsoft.com/office/drawing/2014/main" id="{3652FE0E-48BF-7900-8B19-59815E5ADF3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9664092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Finally, what are the practical </a:t>
            </a:r>
            <a:r>
              <a:rPr lang="en-GB" sz="1200" b="1" kern="1200" dirty="0">
                <a:solidFill>
                  <a:schemeClr val="tx1"/>
                </a:solidFill>
                <a:effectLst/>
                <a:latin typeface="+mn-lt"/>
                <a:ea typeface="+mn-ea"/>
                <a:cs typeface="+mn-cs"/>
              </a:rPr>
              <a:t>SOLUTIONS</a:t>
            </a:r>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First, we must make independent spatial audits like this mandatory for all new studio planning approvals, so corporations cannot hide their true footprint.</a:t>
            </a:r>
          </a:p>
          <a:p>
            <a:r>
              <a:rPr lang="en-GB" sz="1200" kern="1200" dirty="0" err="1">
                <a:solidFill>
                  <a:schemeClr val="tx1"/>
                </a:solidFill>
                <a:effectLst/>
                <a:latin typeface="+mn-lt"/>
                <a:ea typeface="+mn-ea"/>
                <a:cs typeface="+mn-cs"/>
              </a:rPr>
              <a:t>接下一张</a:t>
            </a: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BDA7-F719-8862-7360-38F21ADE4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F4192-5BD9-3FD8-5A3D-72483A71F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6FF5C-5A19-986B-7BB1-EE5D8B84AA8D}"/>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Second, we must track the actual lifecycle footprint of virtual production over time.</a:t>
            </a:r>
          </a:p>
          <a:p>
            <a:r>
              <a:rPr lang="en-GB" sz="1200" kern="1200" dirty="0">
                <a:solidFill>
                  <a:schemeClr val="tx1"/>
                </a:solidFill>
                <a:effectLst/>
                <a:latin typeface="+mn-lt"/>
                <a:ea typeface="+mn-ea"/>
                <a:cs typeface="+mn-cs"/>
              </a:rPr>
              <a:t>And third, we must tie UK Film Tax breaks directly to strict carbon and land-use caps. If you pave over nature, you lose your tax relief.</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In conclusion, the digital "cloud" is not floating in the air. It is built on asphalt, powered by massive electricity, and it burns violently hot.</a:t>
            </a:r>
          </a:p>
          <a:p>
            <a:r>
              <a:rPr lang="en-GB" sz="1200" kern="1200" dirty="0">
                <a:solidFill>
                  <a:schemeClr val="tx1"/>
                </a:solidFill>
                <a:effectLst/>
                <a:latin typeface="+mn-lt"/>
                <a:ea typeface="+mn-ea"/>
                <a:cs typeface="+mn-cs"/>
              </a:rPr>
              <a:t>My full codebase is available via this QR code. Thank you, and I would be happy to answer your questions.</a:t>
            </a:r>
          </a:p>
          <a:p>
            <a:endParaRPr lang="en-US" dirty="0"/>
          </a:p>
          <a:p>
            <a:r>
              <a:rPr lang="en-GB" sz="1200" b="1" kern="1200" dirty="0">
                <a:solidFill>
                  <a:schemeClr val="tx1"/>
                </a:solidFill>
                <a:effectLst/>
                <a:latin typeface="+mn-lt"/>
                <a:ea typeface="+mn-ea"/>
                <a:cs typeface="+mn-cs"/>
              </a:rPr>
              <a:t>Academic Term (PPT</a:t>
            </a:r>
            <a:r>
              <a:rPr lang="zh-CN" altLang="en-US" sz="1200" b="1" kern="1200" dirty="0">
                <a:solidFill>
                  <a:schemeClr val="tx1"/>
                </a:solidFill>
                <a:effectLst/>
                <a:latin typeface="+mn-lt"/>
                <a:ea typeface="+mn-ea"/>
                <a:cs typeface="+mn-cs"/>
              </a:rPr>
              <a:t>原词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Plain English Translation (</a:t>
            </a:r>
            <a:r>
              <a:rPr lang="zh-CN" altLang="en-US" sz="1200" b="1" kern="1200" dirty="0">
                <a:solidFill>
                  <a:schemeClr val="tx1"/>
                </a:solidFill>
                <a:effectLst/>
                <a:latin typeface="+mn-lt"/>
                <a:ea typeface="+mn-ea"/>
                <a:cs typeface="+mn-cs"/>
              </a:rPr>
              <a:t>人话翻译</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 to use it in Q&amp;A (</a:t>
            </a:r>
            <a:r>
              <a:rPr lang="zh-CN" altLang="en-US" sz="1200" b="1" kern="1200" dirty="0">
                <a:solidFill>
                  <a:schemeClr val="tx1"/>
                </a:solidFill>
                <a:effectLst/>
                <a:latin typeface="+mn-lt"/>
                <a:ea typeface="+mn-ea"/>
                <a:cs typeface="+mn-cs"/>
              </a:rPr>
              <a:t>实战回答话术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Immateriality (</a:t>
            </a:r>
            <a:r>
              <a:rPr lang="zh-CN" altLang="en-US" sz="1200" b="1" kern="1200" dirty="0">
                <a:solidFill>
                  <a:schemeClr val="tx1"/>
                </a:solidFill>
                <a:effectLst/>
                <a:latin typeface="+mn-lt"/>
                <a:ea typeface="+mn-ea"/>
                <a:cs typeface="+mn-cs"/>
              </a:rPr>
              <a:t>非物质性</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业界骗人的鬼话，说现在的电影在</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云端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做，不需要实体。</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"They call it 'immaterial' to sound eco-friendly, but my maps show the cloud is made of concrete and cables."</a:t>
            </a:r>
          </a:p>
          <a:p>
            <a:r>
              <a:rPr lang="en-GB" sz="1200" b="1" kern="1200" dirty="0">
                <a:solidFill>
                  <a:schemeClr val="tx1"/>
                </a:solidFill>
                <a:effectLst/>
                <a:latin typeface="+mn-lt"/>
                <a:ea typeface="+mn-ea"/>
                <a:cs typeface="+mn-cs"/>
              </a:rPr>
              <a:t>Digital Spatial Fix (</a:t>
            </a:r>
            <a:r>
              <a:rPr lang="zh-CN" altLang="en-US" sz="1200" b="1" kern="1200" dirty="0">
                <a:solidFill>
                  <a:schemeClr val="tx1"/>
                </a:solidFill>
                <a:effectLst/>
                <a:latin typeface="+mn-lt"/>
                <a:ea typeface="+mn-ea"/>
                <a:cs typeface="+mn-cs"/>
              </a:rPr>
              <a:t>数字空间修复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科技并没有消除污染，只是把天上的飞机尾气，变成了地上的服务器废热和沥青停车场。</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means capital doesn't solve environmental crises; it just moves them. They stopped flying, but paved over 13 hectares of greenbelt instead."</a:t>
            </a:r>
          </a:p>
          <a:p>
            <a:r>
              <a:rPr lang="en-GB" sz="1200" b="1" kern="1200" dirty="0">
                <a:solidFill>
                  <a:schemeClr val="tx1"/>
                </a:solidFill>
                <a:effectLst/>
                <a:latin typeface="+mn-lt"/>
                <a:ea typeface="+mn-ea"/>
                <a:cs typeface="+mn-cs"/>
              </a:rPr>
              <a:t>Accumulation by Dispossession (</a:t>
            </a:r>
            <a:r>
              <a:rPr lang="zh-CN" altLang="en-US" sz="1200" b="1" kern="1200" dirty="0">
                <a:solidFill>
                  <a:schemeClr val="tx1"/>
                </a:solidFill>
                <a:effectLst/>
                <a:latin typeface="+mn-lt"/>
                <a:ea typeface="+mn-ea"/>
                <a:cs typeface="+mn-cs"/>
              </a:rPr>
              <a:t>剥夺性积累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大公司赚走</a:t>
            </a:r>
            <a:r>
              <a:rPr lang="en-GB" sz="1200" kern="1200" dirty="0">
                <a:solidFill>
                  <a:schemeClr val="tx1"/>
                </a:solidFill>
                <a:effectLst/>
                <a:latin typeface="+mn-lt"/>
                <a:ea typeface="+mn-ea"/>
                <a:cs typeface="+mn-cs"/>
              </a:rPr>
              <a:t> 3.9 </a:t>
            </a:r>
            <a:r>
              <a:rPr lang="zh-CN" altLang="en-US" sz="1200" kern="1200" dirty="0">
                <a:solidFill>
                  <a:schemeClr val="tx1"/>
                </a:solidFill>
                <a:effectLst/>
                <a:latin typeface="+mn-lt"/>
                <a:ea typeface="+mn-ea"/>
                <a:cs typeface="+mn-cs"/>
              </a:rPr>
              <a:t>亿英镑利润，却只给当地留下</a:t>
            </a:r>
            <a:r>
              <a:rPr lang="en-GB" sz="1200" kern="1200" dirty="0">
                <a:solidFill>
                  <a:schemeClr val="tx1"/>
                </a:solidFill>
                <a:effectLst/>
                <a:latin typeface="+mn-lt"/>
                <a:ea typeface="+mn-ea"/>
                <a:cs typeface="+mn-cs"/>
              </a:rPr>
              <a:t> 6000 </a:t>
            </a:r>
            <a:r>
              <a:rPr lang="zh-CN" altLang="en-US" sz="1200" kern="1200" dirty="0">
                <a:solidFill>
                  <a:schemeClr val="tx1"/>
                </a:solidFill>
                <a:effectLst/>
                <a:latin typeface="+mn-lt"/>
                <a:ea typeface="+mn-ea"/>
                <a:cs typeface="+mn-cs"/>
              </a:rPr>
              <a:t>镑的环保补偿，等于抢劫了当地人的生态权。</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a wealth transfer. Corporations privatise the £392M profit, while local communities absorb the ecological loss for just £6k."</a:t>
            </a:r>
          </a:p>
          <a:p>
            <a:r>
              <a:rPr lang="en-GB" sz="1200" b="1" kern="1200" dirty="0">
                <a:solidFill>
                  <a:schemeClr val="tx1"/>
                </a:solidFill>
                <a:effectLst/>
                <a:latin typeface="+mn-lt"/>
                <a:ea typeface="+mn-ea"/>
                <a:cs typeface="+mn-cs"/>
              </a:rPr>
              <a:t>Jevons Paradox (</a:t>
            </a:r>
            <a:r>
              <a:rPr lang="zh-CN" altLang="en-US" sz="1200" b="1" kern="1200" dirty="0">
                <a:solidFill>
                  <a:schemeClr val="tx1"/>
                </a:solidFill>
                <a:effectLst/>
                <a:latin typeface="+mn-lt"/>
                <a:ea typeface="+mn-ea"/>
                <a:cs typeface="+mn-cs"/>
              </a:rPr>
              <a:t>杰文斯悖论</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技术越牛越省电，资本家就会建更多更大的影棚，最后用的电反而更多了。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"Just because LED screens are efficient doesn't mean we save energy. Because it's efficient, studios just build </a:t>
            </a:r>
            <a:r>
              <a:rPr lang="en-GB" sz="1200" i="1" kern="1200" dirty="0">
                <a:solidFill>
                  <a:schemeClr val="tx1"/>
                </a:solidFill>
                <a:effectLst/>
                <a:latin typeface="+mn-lt"/>
                <a:ea typeface="+mn-ea"/>
                <a:cs typeface="+mn-cs"/>
              </a:rPr>
              <a:t>more</a:t>
            </a:r>
            <a:r>
              <a:rPr lang="en-GB" sz="1200" kern="1200" dirty="0">
                <a:solidFill>
                  <a:schemeClr val="tx1"/>
                </a:solidFill>
                <a:effectLst/>
                <a:latin typeface="+mn-lt"/>
                <a:ea typeface="+mn-ea"/>
                <a:cs typeface="+mn-cs"/>
              </a:rPr>
              <a:t> of them, demanding 5.4 GWh of power."</a:t>
            </a:r>
          </a:p>
          <a:p>
            <a:r>
              <a:rPr lang="en-GB" sz="1200" b="1" kern="1200" dirty="0">
                <a:solidFill>
                  <a:schemeClr val="tx1"/>
                </a:solidFill>
                <a:effectLst/>
                <a:latin typeface="+mn-lt"/>
                <a:ea typeface="+mn-ea"/>
                <a:cs typeface="+mn-cs"/>
              </a:rPr>
              <a:t>Metabolic Rift (</a:t>
            </a:r>
            <a:r>
              <a:rPr lang="zh-CN" altLang="en-US" sz="1200" b="1" kern="1200" dirty="0">
                <a:solidFill>
                  <a:schemeClr val="tx1"/>
                </a:solidFill>
                <a:effectLst/>
                <a:latin typeface="+mn-lt"/>
                <a:ea typeface="+mn-ea"/>
                <a:cs typeface="+mn-cs"/>
              </a:rPr>
              <a:t>代谢断裂</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生态系统的循环被打断了。树被砍了换成水泥，大自然无法自我修复了。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simply means the natural biological cycle is broken. As my satellite data shows, the plants didn't adapt; they died permanently."</a:t>
            </a:r>
          </a:p>
          <a:p>
            <a:r>
              <a:rPr lang="en-GB" sz="1200" b="1" kern="1200" dirty="0">
                <a:solidFill>
                  <a:schemeClr val="tx1"/>
                </a:solidFill>
                <a:effectLst/>
                <a:latin typeface="+mn-lt"/>
                <a:ea typeface="+mn-ea"/>
                <a:cs typeface="+mn-cs"/>
              </a:rPr>
              <a:t>Epistemological limits (</a:t>
            </a:r>
            <a:r>
              <a:rPr lang="zh-CN" altLang="en-US" sz="1200" b="1" kern="1200" dirty="0">
                <a:solidFill>
                  <a:schemeClr val="tx1"/>
                </a:solidFill>
                <a:effectLst/>
                <a:latin typeface="+mn-lt"/>
                <a:ea typeface="+mn-ea"/>
                <a:cs typeface="+mn-cs"/>
              </a:rPr>
              <a:t>认识论局限</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官方环评报告的局限性：只算用电量，不算为了建大棚推平的森林。</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used satellite data because traditional maps have an epistemological limit—they show you where the building is, but not how hot it gets."</a:t>
            </a:r>
          </a:p>
          <a:p>
            <a:r>
              <a:rPr lang="en-GB" sz="1200" b="1" kern="1200" dirty="0">
                <a:solidFill>
                  <a:schemeClr val="tx1"/>
                </a:solidFill>
                <a:effectLst/>
                <a:latin typeface="+mn-lt"/>
                <a:ea typeface="+mn-ea"/>
                <a:cs typeface="+mn-cs"/>
              </a:rPr>
              <a:t>Thermodynamic Scar (</a:t>
            </a:r>
            <a:r>
              <a:rPr lang="zh-CN" altLang="en-US" sz="1200" b="1" kern="1200" dirty="0">
                <a:solidFill>
                  <a:schemeClr val="tx1"/>
                </a:solidFill>
                <a:effectLst/>
                <a:latin typeface="+mn-lt"/>
                <a:ea typeface="+mn-ea"/>
                <a:cs typeface="+mn-cs"/>
              </a:rPr>
              <a:t>热力学疤痕</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把树砍了换成柏油路和服务器，导致这块地方产生了类似</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局部温室效应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，比原来热了</a:t>
            </a:r>
            <a:r>
              <a:rPr lang="en-GB" sz="1200" kern="1200" dirty="0">
                <a:solidFill>
                  <a:schemeClr val="tx1"/>
                </a:solidFill>
                <a:effectLst/>
                <a:latin typeface="+mn-lt"/>
                <a:ea typeface="+mn-ea"/>
                <a:cs typeface="+mn-cs"/>
              </a:rPr>
              <a:t> 5 </a:t>
            </a:r>
            <a:r>
              <a:rPr lang="zh-CN" altLang="en-US" sz="1200" kern="1200" dirty="0">
                <a:solidFill>
                  <a:schemeClr val="tx1"/>
                </a:solidFill>
                <a:effectLst/>
                <a:latin typeface="+mn-lt"/>
                <a:ea typeface="+mn-ea"/>
                <a:cs typeface="+mn-cs"/>
              </a:rPr>
              <a:t>度。</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the physical heat increase. By removing cooling vegetation and adding servers, the local area is now permanently 5 degrees hotter."</a:t>
            </a:r>
          </a:p>
          <a:p>
            <a:r>
              <a:rPr lang="en-GB" sz="1200" b="1" kern="1200" dirty="0">
                <a:solidFill>
                  <a:schemeClr val="tx1"/>
                </a:solidFill>
                <a:effectLst/>
                <a:latin typeface="+mn-lt"/>
                <a:ea typeface="+mn-ea"/>
                <a:cs typeface="+mn-cs"/>
              </a:rPr>
              <a:t>Institutional Complicity (</a:t>
            </a:r>
            <a:r>
              <a:rPr lang="zh-CN" altLang="en-US" sz="1200" b="1" kern="1200" dirty="0">
                <a:solidFill>
                  <a:schemeClr val="tx1"/>
                </a:solidFill>
                <a:effectLst/>
                <a:latin typeface="+mn-lt"/>
                <a:ea typeface="+mn-ea"/>
                <a:cs typeface="+mn-cs"/>
              </a:rPr>
              <a:t>制度性合谋</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当地政府和企业穿一条裤子，用极低的罚款给破坏环境开绿灯。</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when the local council allows a 39-hectare expansion in exchange for a tiny monitoring fee, legitimising greenwashing."</a:t>
            </a:r>
          </a:p>
          <a:p>
            <a:endParaRPr lang="en-US" dirty="0"/>
          </a:p>
          <a:p>
            <a:r>
              <a:rPr lang="en-GB" sz="1200" b="1" kern="1200" dirty="0">
                <a:solidFill>
                  <a:schemeClr val="tx1"/>
                </a:solidFill>
                <a:effectLst/>
                <a:latin typeface="+mn-lt"/>
                <a:ea typeface="+mn-ea"/>
                <a:cs typeface="+mn-cs"/>
              </a:rPr>
              <a:t>Acronym (</a:t>
            </a:r>
            <a:r>
              <a:rPr lang="zh-CN" altLang="en-US" sz="1200" b="1" kern="1200" dirty="0">
                <a:solidFill>
                  <a:schemeClr val="tx1"/>
                </a:solidFill>
                <a:effectLst/>
                <a:latin typeface="+mn-lt"/>
                <a:ea typeface="+mn-ea"/>
                <a:cs typeface="+mn-cs"/>
              </a:rPr>
              <a:t>缩写</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Full Form (</a:t>
            </a:r>
            <a:r>
              <a:rPr lang="zh-CN" altLang="en-US" sz="1200" b="1" kern="1200" dirty="0">
                <a:solidFill>
                  <a:schemeClr val="tx1"/>
                </a:solidFill>
                <a:effectLst/>
                <a:latin typeface="+mn-lt"/>
                <a:ea typeface="+mn-ea"/>
                <a:cs typeface="+mn-cs"/>
              </a:rPr>
              <a:t>全称</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What it actually means in your project (</a:t>
            </a:r>
            <a:r>
              <a:rPr lang="zh-CN" altLang="en-US" sz="1200" b="1" kern="1200" dirty="0">
                <a:solidFill>
                  <a:schemeClr val="tx1"/>
                </a:solidFill>
                <a:effectLst/>
                <a:latin typeface="+mn-lt"/>
                <a:ea typeface="+mn-ea"/>
                <a:cs typeface="+mn-cs"/>
              </a:rPr>
              <a:t>它在你的项目里到底是什么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VP</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Virtual Production</a:t>
            </a:r>
          </a:p>
          <a:p>
            <a:r>
              <a:rPr lang="zh-CN" altLang="en-US" sz="1200" kern="1200" dirty="0">
                <a:solidFill>
                  <a:schemeClr val="tx1"/>
                </a:solidFill>
                <a:effectLst/>
                <a:latin typeface="+mn-lt"/>
                <a:ea typeface="+mn-ea"/>
                <a:cs typeface="+mn-cs"/>
              </a:rPr>
              <a:t>虚拟制作。整个研究的批判对象（用</a:t>
            </a:r>
            <a:r>
              <a:rPr lang="en-GB" sz="1200" kern="1200" dirty="0">
                <a:solidFill>
                  <a:schemeClr val="tx1"/>
                </a:solidFill>
                <a:effectLst/>
                <a:latin typeface="+mn-lt"/>
                <a:ea typeface="+mn-ea"/>
                <a:cs typeface="+mn-cs"/>
              </a:rPr>
              <a:t>LED</a:t>
            </a:r>
            <a:r>
              <a:rPr lang="zh-CN" altLang="en-US" sz="1200" kern="1200" dirty="0">
                <a:solidFill>
                  <a:schemeClr val="tx1"/>
                </a:solidFill>
                <a:effectLst/>
                <a:latin typeface="+mn-lt"/>
                <a:ea typeface="+mn-ea"/>
                <a:cs typeface="+mn-cs"/>
              </a:rPr>
              <a:t>大屏幕代替实景拍摄的技术）。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GVA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Gross Value Added</a:t>
            </a:r>
          </a:p>
          <a:p>
            <a:r>
              <a:rPr lang="zh-CN" altLang="en-US" sz="1200" kern="1200" dirty="0">
                <a:solidFill>
                  <a:schemeClr val="tx1"/>
                </a:solidFill>
                <a:effectLst/>
                <a:latin typeface="+mn-lt"/>
                <a:ea typeface="+mn-ea"/>
                <a:cs typeface="+mn-cs"/>
              </a:rPr>
              <a:t>增加值。用来衡量这个项目给当地赚了多少钱。你用来对比那少得可怜的</a:t>
            </a:r>
            <a:r>
              <a:rPr lang="en-GB" sz="1200" kern="1200" dirty="0">
                <a:solidFill>
                  <a:schemeClr val="tx1"/>
                </a:solidFill>
                <a:effectLst/>
                <a:latin typeface="+mn-lt"/>
                <a:ea typeface="+mn-ea"/>
                <a:cs typeface="+mn-cs"/>
              </a:rPr>
              <a:t> £6150 </a:t>
            </a:r>
            <a:r>
              <a:rPr lang="zh-CN" altLang="en-US" sz="1200" kern="1200" dirty="0">
                <a:solidFill>
                  <a:schemeClr val="tx1"/>
                </a:solidFill>
                <a:effectLst/>
                <a:latin typeface="+mn-lt"/>
                <a:ea typeface="+mn-ea"/>
                <a:cs typeface="+mn-cs"/>
              </a:rPr>
              <a:t>环境补偿金。</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S106</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Section 106 Agreement</a:t>
            </a:r>
          </a:p>
          <a:p>
            <a:r>
              <a:rPr lang="zh-CN" altLang="en-US" sz="1200" kern="1200" dirty="0">
                <a:solidFill>
                  <a:schemeClr val="tx1"/>
                </a:solidFill>
                <a:effectLst/>
                <a:latin typeface="+mn-lt"/>
                <a:ea typeface="+mn-ea"/>
                <a:cs typeface="+mn-cs"/>
              </a:rPr>
              <a:t>第</a:t>
            </a:r>
            <a:r>
              <a:rPr lang="en-GB" sz="1200" kern="1200" dirty="0">
                <a:solidFill>
                  <a:schemeClr val="tx1"/>
                </a:solidFill>
                <a:effectLst/>
                <a:latin typeface="+mn-lt"/>
                <a:ea typeface="+mn-ea"/>
                <a:cs typeface="+mn-cs"/>
              </a:rPr>
              <a:t>106</a:t>
            </a:r>
            <a:r>
              <a:rPr lang="zh-CN" altLang="en-US" sz="1200" kern="1200" dirty="0">
                <a:solidFill>
                  <a:schemeClr val="tx1"/>
                </a:solidFill>
                <a:effectLst/>
                <a:latin typeface="+mn-lt"/>
                <a:ea typeface="+mn-ea"/>
                <a:cs typeface="+mn-cs"/>
              </a:rPr>
              <a:t>条协议（英国规划法）。开发商给政府交的一点点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环境破坏保护费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EIA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Environmental Impact Assessment</a:t>
            </a:r>
          </a:p>
          <a:p>
            <a:r>
              <a:rPr lang="zh-CN" altLang="en-US" sz="1200" kern="1200" dirty="0">
                <a:solidFill>
                  <a:schemeClr val="tx1"/>
                </a:solidFill>
                <a:effectLst/>
                <a:latin typeface="+mn-lt"/>
                <a:ea typeface="+mn-ea"/>
                <a:cs typeface="+mn-cs"/>
              </a:rPr>
              <a:t>环境影响评估。官方的环评报告（你重点批判的对象，因为它们掩盖了大量的基建破坏）。</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OSM</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OpenStreetMap</a:t>
            </a:r>
          </a:p>
          <a:p>
            <a:r>
              <a:rPr lang="zh-CN" altLang="en-US" sz="1200" kern="1200" dirty="0">
                <a:solidFill>
                  <a:schemeClr val="tx1"/>
                </a:solidFill>
                <a:effectLst/>
                <a:latin typeface="+mn-lt"/>
                <a:ea typeface="+mn-ea"/>
                <a:cs typeface="+mn-cs"/>
              </a:rPr>
              <a:t>开源平台地图。你用来抓取地理坐标的底层街道数据（免费、开源、客观）。</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EPSG:27700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British National Grid (BNG)</a:t>
            </a:r>
          </a:p>
          <a:p>
            <a:r>
              <a:rPr lang="zh-CN" altLang="en-US" sz="1200" kern="1200" dirty="0">
                <a:solidFill>
                  <a:schemeClr val="tx1"/>
                </a:solidFill>
                <a:effectLst/>
                <a:latin typeface="+mn-lt"/>
                <a:ea typeface="+mn-ea"/>
                <a:cs typeface="+mn-cs"/>
              </a:rPr>
              <a:t>英国国家电网坐标系。</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告诉老师：地球是圆的，普通的经纬度算不出面积。我用</a:t>
            </a:r>
            <a:r>
              <a:rPr lang="en-GB" sz="1200" kern="1200" dirty="0">
                <a:solidFill>
                  <a:schemeClr val="tx1"/>
                </a:solidFill>
                <a:effectLst/>
                <a:latin typeface="+mn-lt"/>
                <a:ea typeface="+mn-ea"/>
                <a:cs typeface="+mn-cs"/>
              </a:rPr>
              <a:t>Python</a:t>
            </a:r>
            <a:r>
              <a:rPr lang="zh-CN" altLang="en-US" sz="1200" kern="1200" dirty="0">
                <a:solidFill>
                  <a:schemeClr val="tx1"/>
                </a:solidFill>
                <a:effectLst/>
                <a:latin typeface="+mn-lt"/>
                <a:ea typeface="+mn-ea"/>
                <a:cs typeface="+mn-cs"/>
              </a:rPr>
              <a:t>强制把坐标转换成了这个英国标准格式，所以我算出的</a:t>
            </a:r>
            <a:r>
              <a:rPr lang="en-GB" sz="1200" kern="1200" dirty="0">
                <a:solidFill>
                  <a:schemeClr val="tx1"/>
                </a:solidFill>
                <a:effectLst/>
                <a:latin typeface="+mn-lt"/>
                <a:ea typeface="+mn-ea"/>
                <a:cs typeface="+mn-cs"/>
              </a:rPr>
              <a:t> 13.2 </a:t>
            </a:r>
            <a:r>
              <a:rPr lang="zh-CN" altLang="en-US" sz="1200" kern="1200" dirty="0">
                <a:solidFill>
                  <a:schemeClr val="tx1"/>
                </a:solidFill>
                <a:effectLst/>
                <a:latin typeface="+mn-lt"/>
                <a:ea typeface="+mn-ea"/>
                <a:cs typeface="+mn-cs"/>
              </a:rPr>
              <a:t>公顷是绝对精确的物理面积。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Google Earth Engine</a:t>
            </a:r>
          </a:p>
          <a:p>
            <a:r>
              <a:rPr lang="zh-CN" altLang="en-US" sz="1200" kern="1200" dirty="0">
                <a:solidFill>
                  <a:schemeClr val="tx1"/>
                </a:solidFill>
                <a:effectLst/>
                <a:latin typeface="+mn-lt"/>
                <a:ea typeface="+mn-ea"/>
                <a:cs typeface="+mn-cs"/>
              </a:rPr>
              <a:t>谷歌地球引擎。你用来调取卫星数据的云平台。证明你没用花钱的商业软件。</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NDVI</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Normalized Difference Vegetation Index</a:t>
            </a:r>
          </a:p>
          <a:p>
            <a:r>
              <a:rPr lang="zh-CN" altLang="en-US" sz="1200" kern="1200" dirty="0">
                <a:solidFill>
                  <a:schemeClr val="tx1"/>
                </a:solidFill>
                <a:effectLst/>
                <a:latin typeface="+mn-lt"/>
                <a:ea typeface="+mn-ea"/>
                <a:cs typeface="+mn-cs"/>
              </a:rPr>
              <a:t>归一化植被指数。通过测量植物反射的近红外光来判断植物死活的指标。你在图表里展示的那根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暴跌的红线</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LST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Land Surface Temperature</a:t>
            </a:r>
          </a:p>
          <a:p>
            <a:r>
              <a:rPr lang="zh-CN" altLang="en-US" sz="1200" kern="1200" dirty="0">
                <a:solidFill>
                  <a:schemeClr val="tx1"/>
                </a:solidFill>
                <a:effectLst/>
                <a:latin typeface="+mn-lt"/>
                <a:ea typeface="+mn-ea"/>
                <a:cs typeface="+mn-cs"/>
              </a:rPr>
              <a:t>地表温度。你用来证明</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物理升温了</a:t>
            </a:r>
            <a:r>
              <a:rPr lang="en-GB"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度</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的最终指标。</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TIRS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Thermal Infrared Sensor</a:t>
            </a:r>
          </a:p>
          <a:p>
            <a:r>
              <a:rPr lang="zh-CN" altLang="en-US" sz="1200" kern="1200" dirty="0">
                <a:solidFill>
                  <a:schemeClr val="tx1"/>
                </a:solidFill>
                <a:effectLst/>
                <a:latin typeface="+mn-lt"/>
                <a:ea typeface="+mn-ea"/>
                <a:cs typeface="+mn-cs"/>
              </a:rPr>
              <a:t>热红外传感器。</a:t>
            </a:r>
            <a:r>
              <a:rPr lang="en-GB" sz="1200" kern="1200" dirty="0">
                <a:solidFill>
                  <a:schemeClr val="tx1"/>
                </a:solidFill>
                <a:effectLst/>
                <a:latin typeface="+mn-lt"/>
                <a:ea typeface="+mn-ea"/>
                <a:cs typeface="+mn-cs"/>
              </a:rPr>
              <a:t>Landsat 8</a:t>
            </a:r>
            <a:r>
              <a:rPr lang="zh-CN" altLang="en-US" sz="1200" kern="1200" dirty="0">
                <a:solidFill>
                  <a:schemeClr val="tx1"/>
                </a:solidFill>
                <a:effectLst/>
                <a:latin typeface="+mn-lt"/>
                <a:ea typeface="+mn-ea"/>
                <a:cs typeface="+mn-cs"/>
              </a:rPr>
              <a:t>卫星上用来测温的镜头。</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QA60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GEE Cloud-Masking Band</a:t>
            </a:r>
          </a:p>
          <a:p>
            <a:r>
              <a:rPr lang="zh-CN" altLang="en-US" sz="1200" kern="1200" dirty="0">
                <a:solidFill>
                  <a:schemeClr val="tx1"/>
                </a:solidFill>
                <a:effectLst/>
                <a:latin typeface="+mn-lt"/>
                <a:ea typeface="+mn-ea"/>
                <a:cs typeface="+mn-cs"/>
              </a:rPr>
              <a:t>卫星去云掩膜。</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如果老师问</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英国经常下雨，卫星图准吗？</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你回答：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我写了算法调用</a:t>
            </a:r>
            <a:r>
              <a:rPr lang="en-GB" sz="1200" kern="1200" dirty="0">
                <a:solidFill>
                  <a:schemeClr val="tx1"/>
                </a:solidFill>
                <a:effectLst/>
                <a:latin typeface="+mn-lt"/>
                <a:ea typeface="+mn-ea"/>
                <a:cs typeface="+mn-cs"/>
              </a:rPr>
              <a:t> QA60 </a:t>
            </a:r>
            <a:r>
              <a:rPr lang="zh-CN" altLang="en-US" sz="1200" kern="1200" dirty="0">
                <a:solidFill>
                  <a:schemeClr val="tx1"/>
                </a:solidFill>
                <a:effectLst/>
                <a:latin typeface="+mn-lt"/>
                <a:ea typeface="+mn-ea"/>
                <a:cs typeface="+mn-cs"/>
              </a:rPr>
              <a:t>位运算，把所有带云层的错误数据全部过滤掉了，所以趋势线是极其准确的。</a:t>
            </a:r>
            <a:r>
              <a:rPr lang="en-GB" sz="1200" kern="1200" dirty="0">
                <a:solidFill>
                  <a:schemeClr val="tx1"/>
                </a:solidFill>
                <a:effectLst/>
                <a:latin typeface="+mn-lt"/>
                <a:ea typeface="+mn-ea"/>
                <a:cs typeface="+mn-cs"/>
              </a:rPr>
              <a:t>”</a:t>
            </a:r>
          </a:p>
          <a:p>
            <a:endParaRPr lang="en-US" dirty="0"/>
          </a:p>
          <a:p>
            <a:endParaRPr lang="en-US" dirty="0"/>
          </a:p>
          <a:p>
            <a:r>
              <a:rPr lang="zh-CN" altLang="en-US" sz="1200" i="1" kern="1200" dirty="0">
                <a:solidFill>
                  <a:schemeClr val="tx1"/>
                </a:solidFill>
                <a:effectLst/>
                <a:latin typeface="+mn-lt"/>
                <a:ea typeface="+mn-ea"/>
                <a:cs typeface="+mn-cs"/>
              </a:rPr>
              <a:t>这是一份按英国研究型</a:t>
            </a:r>
            <a:r>
              <a:rPr lang="en-GB" sz="1200" i="1" kern="1200" dirty="0">
                <a:solidFill>
                  <a:schemeClr val="tx1"/>
                </a:solidFill>
                <a:effectLst/>
                <a:latin typeface="+mn-lt"/>
                <a:ea typeface="+mn-ea"/>
                <a:cs typeface="+mn-cs"/>
              </a:rPr>
              <a:t> Presentation </a:t>
            </a:r>
            <a:r>
              <a:rPr lang="zh-CN" altLang="en-US" sz="1200" i="1" kern="1200" dirty="0">
                <a:solidFill>
                  <a:schemeClr val="tx1"/>
                </a:solidFill>
                <a:effectLst/>
                <a:latin typeface="+mn-lt"/>
                <a:ea typeface="+mn-ea"/>
                <a:cs typeface="+mn-cs"/>
              </a:rPr>
              <a:t>常见提问逻辑整理的系统化</a:t>
            </a:r>
            <a:r>
              <a:rPr lang="en-GB" sz="1200" i="1" kern="1200" dirty="0">
                <a:solidFill>
                  <a:schemeClr val="tx1"/>
                </a:solidFill>
                <a:effectLst/>
                <a:latin typeface="+mn-lt"/>
                <a:ea typeface="+mn-ea"/>
                <a:cs typeface="+mn-cs"/>
              </a:rPr>
              <a:t> Q&amp;A </a:t>
            </a:r>
            <a:r>
              <a:rPr lang="zh-CN" altLang="en-US" sz="1200" i="1" kern="1200" dirty="0">
                <a:solidFill>
                  <a:schemeClr val="tx1"/>
                </a:solidFill>
                <a:effectLst/>
                <a:latin typeface="+mn-lt"/>
                <a:ea typeface="+mn-ea"/>
                <a:cs typeface="+mn-cs"/>
              </a:rPr>
              <a:t>清单，覆盖了绝大多数可能的问题，并附有提取的核心</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关键词</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供临场抓取。</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一、研究问题与研究动机</a:t>
            </a:r>
            <a:r>
              <a:rPr lang="en-GB" sz="1200" b="1" kern="1200" dirty="0">
                <a:solidFill>
                  <a:schemeClr val="tx1"/>
                </a:solidFill>
                <a:effectLst/>
                <a:latin typeface="+mn-lt"/>
                <a:ea typeface="+mn-ea"/>
                <a:cs typeface="+mn-cs"/>
              </a:rPr>
              <a:t> (Research Questions &amp; Motivations)</a:t>
            </a:r>
          </a:p>
          <a:p>
            <a:r>
              <a:rPr lang="en-GB" sz="1200" b="1" kern="1200" dirty="0">
                <a:solidFill>
                  <a:schemeClr val="tx1"/>
                </a:solidFill>
                <a:effectLst/>
                <a:latin typeface="+mn-lt"/>
                <a:ea typeface="+mn-ea"/>
                <a:cs typeface="+mn-cs"/>
              </a:rPr>
              <a:t>1. Why did you choose virtual production as the focus of your research?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为什么选择研究虚拟制作？</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Virtual production is widely promoted as a decarbonisation strategy within the film industry, particularly for reducing travel-related emissions. However, these narratives often overlook the infrastructure required to support such technologies. This project therefore examines the spatial and infrastructural dimensions behind the idea of “immaterial” digital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虚拟制作被广泛宣传为一种低碳解决方案（减少航空排放）。但这种叙述忽略了其背后的基础设施需求。我想从空间和基础设施角度，重新审视这种</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数字去物质化</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的叙事。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Virtual production, decarbonisation narrative, infrastructure.</a:t>
            </a:r>
          </a:p>
          <a:p>
            <a:r>
              <a:rPr lang="en-GB" sz="1200" b="1" kern="1200" dirty="0">
                <a:solidFill>
                  <a:schemeClr val="tx1"/>
                </a:solidFill>
                <a:effectLst/>
                <a:latin typeface="+mn-lt"/>
                <a:ea typeface="+mn-ea"/>
                <a:cs typeface="+mn-cs"/>
              </a:rPr>
              <a:t>2. Why did you select Shepperton Studios as your case study?</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a:t>
            </a:r>
            <a:r>
              <a:rPr lang="en-GB" sz="1200" u="none" strike="noStrike" kern="1200" dirty="0">
                <a:solidFill>
                  <a:schemeClr val="tx1"/>
                </a:solidFill>
                <a:effectLst/>
                <a:latin typeface="+mn-lt"/>
                <a:ea typeface="+mn-ea"/>
                <a:cs typeface="+mn-cs"/>
              </a:rPr>
              <a:t> Shepperton Studios </a:t>
            </a:r>
            <a:r>
              <a:rPr lang="zh-CN" altLang="en-US" sz="1200" u="none" strike="noStrike" kern="1200" dirty="0">
                <a:solidFill>
                  <a:schemeClr val="tx1"/>
                </a:solidFill>
                <a:effectLst/>
                <a:latin typeface="+mn-lt"/>
                <a:ea typeface="+mn-ea"/>
                <a:cs typeface="+mn-cs"/>
              </a:rPr>
              <a:t>这个案例？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Shepperton represents one of the largest recent studio expansions in the UK and hosts many large-scale platform productions. This makes it a relevant and archetypal case for examining the infrastructure supporting virtual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它是英国近年来规模最大的影视基地扩建项目之一，也是大型流媒体的重镇。它是研究</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基础设施的完美代表。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Case study, studio expansion, platform productions.</a:t>
            </a:r>
          </a:p>
          <a:p>
            <a:r>
              <a:rPr lang="zh-CN" altLang="en-US" sz="1200" b="1" kern="1200" dirty="0">
                <a:solidFill>
                  <a:schemeClr val="tx1"/>
                </a:solidFill>
                <a:effectLst/>
                <a:latin typeface="+mn-lt"/>
                <a:ea typeface="+mn-ea"/>
                <a:cs typeface="+mn-cs"/>
              </a:rPr>
              <a:t>二、理论框架</a:t>
            </a:r>
            <a:r>
              <a:rPr lang="en-GB" sz="1200" b="1" kern="1200" dirty="0">
                <a:solidFill>
                  <a:schemeClr val="tx1"/>
                </a:solidFill>
                <a:effectLst/>
                <a:latin typeface="+mn-lt"/>
                <a:ea typeface="+mn-ea"/>
                <a:cs typeface="+mn-cs"/>
              </a:rPr>
              <a:t> (Theoretical Framework)</a:t>
            </a:r>
          </a:p>
          <a:p>
            <a:r>
              <a:rPr lang="en-GB" sz="1200" b="1" kern="1200" dirty="0">
                <a:solidFill>
                  <a:schemeClr val="tx1"/>
                </a:solidFill>
                <a:effectLst/>
                <a:latin typeface="+mn-lt"/>
                <a:ea typeface="+mn-ea"/>
                <a:cs typeface="+mn-cs"/>
              </a:rPr>
              <a:t>3. Why did you use a Marxist political economy approach?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为什么采用马克思主义政治经济学？</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This framework highlights that technological systems are embedded within material infrastructures and processes of capital accumulation. It helps explain why digital technologies often lead to new forms of spatial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该理论强调技术系统始终嵌入在物质基建与资本积累中。它能完美解释为什么</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数字技术</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的发展往往伴随着</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物理空间</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的扩张。</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Political economy, capital accumulation, material infrastructure.</a:t>
            </a:r>
          </a:p>
          <a:p>
            <a:r>
              <a:rPr lang="en-GB" sz="1200" b="1" kern="1200" dirty="0">
                <a:solidFill>
                  <a:schemeClr val="tx1"/>
                </a:solidFill>
                <a:effectLst/>
                <a:latin typeface="+mn-lt"/>
                <a:ea typeface="+mn-ea"/>
                <a:cs typeface="+mn-cs"/>
              </a:rPr>
              <a:t>4. What do you mean by the "Digital Spatial Fix"?</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什么是数字空间修复？</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digital spatial fix describes how capital resolves technological or economic constraints through spatial expansion, often in the form of new infrastructures such as data centres, studios, or energy networks.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资本通过新的空间基础设施（数据中心、影棚）来解决其经济或技术矛盾的过程。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Spatial fix, infrastructure expansion, capital.</a:t>
            </a:r>
          </a:p>
          <a:p>
            <a:r>
              <a:rPr lang="zh-CN" altLang="en-US" sz="1200" b="1" kern="1200" dirty="0">
                <a:solidFill>
                  <a:schemeClr val="tx1"/>
                </a:solidFill>
                <a:effectLst/>
                <a:latin typeface="+mn-lt"/>
                <a:ea typeface="+mn-ea"/>
                <a:cs typeface="+mn-cs"/>
              </a:rPr>
              <a:t>三、方法论</a:t>
            </a:r>
            <a:r>
              <a:rPr lang="en-GB" sz="1200" b="1" kern="1200" dirty="0">
                <a:solidFill>
                  <a:schemeClr val="tx1"/>
                </a:solidFill>
                <a:effectLst/>
                <a:latin typeface="+mn-lt"/>
                <a:ea typeface="+mn-ea"/>
                <a:cs typeface="+mn-cs"/>
              </a:rPr>
              <a:t> (Methodology)</a:t>
            </a:r>
          </a:p>
          <a:p>
            <a:r>
              <a:rPr lang="en-GB" sz="1200" b="1" kern="1200" dirty="0">
                <a:solidFill>
                  <a:schemeClr val="tx1"/>
                </a:solidFill>
                <a:effectLst/>
                <a:latin typeface="+mn-lt"/>
                <a:ea typeface="+mn-ea"/>
                <a:cs typeface="+mn-cs"/>
              </a:rPr>
              <a:t>5. What do you mean by a "Forensic Spatial Audit"?</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什么是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法医空间审计</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It refers to reconstructing infrastructure systems using spatial evidence. GIS data and mapping indicators allow us to rigorously analyse the material footprint of industrial systems, acting like an independent investigation.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通过</a:t>
            </a:r>
            <a:r>
              <a:rPr lang="en-GB" sz="1200" kern="1200" dirty="0">
                <a:solidFill>
                  <a:schemeClr val="tx1"/>
                </a:solidFill>
                <a:effectLst/>
                <a:latin typeface="+mn-lt"/>
                <a:ea typeface="+mn-ea"/>
                <a:cs typeface="+mn-cs"/>
              </a:rPr>
              <a:t> GIS </a:t>
            </a:r>
            <a:r>
              <a:rPr lang="zh-CN" altLang="en-US" sz="1200" kern="1200" dirty="0">
                <a:solidFill>
                  <a:schemeClr val="tx1"/>
                </a:solidFill>
                <a:effectLst/>
                <a:latin typeface="+mn-lt"/>
                <a:ea typeface="+mn-ea"/>
                <a:cs typeface="+mn-cs"/>
              </a:rPr>
              <a:t>数据、地图和空间指标，像法医找证据一样，重建并推断某一产业背后的真实基础设施结构。</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Spatial evidence, GIS, independent investigation.</a:t>
            </a:r>
          </a:p>
          <a:p>
            <a:r>
              <a:rPr lang="en-GB" sz="1200" b="1" kern="1200" dirty="0">
                <a:solidFill>
                  <a:schemeClr val="tx1"/>
                </a:solidFill>
                <a:effectLst/>
                <a:latin typeface="+mn-lt"/>
                <a:ea typeface="+mn-ea"/>
                <a:cs typeface="+mn-cs"/>
              </a:rPr>
              <a:t>6. Why did you use OpenStreetMap (OSM) data?</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为什么使用</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数据？</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OpenStreetMap provides accessible, uncensored, and regularly updated spatial data. Although it is crowdsourced, studies show its accuracy is typically above 85%, making it highly reliable for this scale of auditing.</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提供了公开、未被企业公关过滤的空间数据。虽然是众包，但学术证明其准确率通常在</a:t>
            </a:r>
            <a:r>
              <a:rPr lang="en-GB" sz="1200" kern="1200" dirty="0">
                <a:solidFill>
                  <a:schemeClr val="tx1"/>
                </a:solidFill>
                <a:effectLst/>
                <a:latin typeface="+mn-lt"/>
                <a:ea typeface="+mn-ea"/>
                <a:cs typeface="+mn-cs"/>
              </a:rPr>
              <a:t> 85% </a:t>
            </a:r>
            <a:r>
              <a:rPr lang="zh-CN" altLang="en-US" sz="1200" kern="1200" dirty="0">
                <a:solidFill>
                  <a:schemeClr val="tx1"/>
                </a:solidFill>
                <a:effectLst/>
                <a:latin typeface="+mn-lt"/>
                <a:ea typeface="+mn-ea"/>
                <a:cs typeface="+mn-cs"/>
              </a:rPr>
              <a:t>以上。</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Open data, crowdsourced mapping, high accuracy.</a:t>
            </a:r>
          </a:p>
          <a:p>
            <a:r>
              <a:rPr lang="en-GB" sz="1200" b="1" kern="1200" dirty="0">
                <a:solidFill>
                  <a:schemeClr val="tx1"/>
                </a:solidFill>
                <a:effectLst/>
                <a:latin typeface="+mn-lt"/>
                <a:ea typeface="+mn-ea"/>
                <a:cs typeface="+mn-cs"/>
              </a:rPr>
              <a:t>7. Can your methodology be replicated elsewhere?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你的方法能否在其他地方应用？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Yes, absolutely. Since the methodology relies on open spatial datasets and global satellite imagery (like Earth Engine), it can be seamlessly applied to other media infrastructure sites around the world.</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完全可以。因为全部依赖开源空间数据和卫星图，可以直接套用到全球任何一个影视基地。</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Replicability, methodology, open data.</a:t>
            </a:r>
          </a:p>
          <a:p>
            <a:r>
              <a:rPr lang="zh-CN" altLang="en-US" sz="1200" b="1" kern="1200" dirty="0">
                <a:solidFill>
                  <a:schemeClr val="tx1"/>
                </a:solidFill>
                <a:effectLst/>
                <a:latin typeface="+mn-lt"/>
                <a:ea typeface="+mn-ea"/>
                <a:cs typeface="+mn-cs"/>
              </a:rPr>
              <a:t>四、数据与证据</a:t>
            </a:r>
            <a:r>
              <a:rPr lang="en-GB" sz="1200" b="1" kern="1200" dirty="0">
                <a:solidFill>
                  <a:schemeClr val="tx1"/>
                </a:solidFill>
                <a:effectLst/>
                <a:latin typeface="+mn-lt"/>
                <a:ea typeface="+mn-ea"/>
                <a:cs typeface="+mn-cs"/>
              </a:rPr>
              <a:t> (Data &amp; Evidence)</a:t>
            </a:r>
          </a:p>
          <a:p>
            <a:r>
              <a:rPr lang="en-GB" sz="1200" b="1" kern="1200" dirty="0">
                <a:solidFill>
                  <a:schemeClr val="tx1"/>
                </a:solidFill>
                <a:effectLst/>
                <a:latin typeface="+mn-lt"/>
                <a:ea typeface="+mn-ea"/>
                <a:cs typeface="+mn-cs"/>
              </a:rPr>
              <a:t>8. How can you attribute this massive expansion </a:t>
            </a:r>
            <a:r>
              <a:rPr lang="en-GB" sz="1200" b="1" i="1" kern="1200" dirty="0">
                <a:solidFill>
                  <a:schemeClr val="tx1"/>
                </a:solidFill>
                <a:effectLst/>
                <a:latin typeface="+mn-lt"/>
                <a:ea typeface="+mn-ea"/>
                <a:cs typeface="+mn-cs"/>
              </a:rPr>
              <a:t>specifically</a:t>
            </a:r>
            <a:r>
              <a:rPr lang="en-GB" sz="1200" b="1" kern="1200" dirty="0">
                <a:solidFill>
                  <a:schemeClr val="tx1"/>
                </a:solidFill>
                <a:effectLst/>
                <a:latin typeface="+mn-lt"/>
                <a:ea typeface="+mn-ea"/>
                <a:cs typeface="+mn-cs"/>
              </a:rPr>
              <a:t> to virtual production?</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这些基础设施的扩建是否一定（</a:t>
            </a:r>
            <a:r>
              <a:rPr lang="en-GB" sz="1200" u="none" strike="noStrike" kern="1200" dirty="0">
                <a:solidFill>
                  <a:schemeClr val="tx1"/>
                </a:solidFill>
                <a:effectLst/>
                <a:latin typeface="+mn-lt"/>
                <a:ea typeface="+mn-ea"/>
                <a:cs typeface="+mn-cs"/>
              </a:rPr>
              <a:t>100%</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造成的？</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study does not claim that all expansion is caused </a:t>
            </a:r>
            <a:r>
              <a:rPr lang="en-GB" sz="1200" i="1" u="none" strike="noStrike" kern="1200" dirty="0">
                <a:solidFill>
                  <a:schemeClr val="tx1"/>
                </a:solidFill>
                <a:effectLst/>
                <a:latin typeface="+mn-lt"/>
                <a:ea typeface="+mn-ea"/>
                <a:cs typeface="+mn-cs"/>
              </a:rPr>
              <a:t>exclusively</a:t>
            </a:r>
            <a:r>
              <a:rPr lang="en-GB" sz="1200" u="none" strike="noStrike" kern="1200" dirty="0">
                <a:solidFill>
                  <a:schemeClr val="tx1"/>
                </a:solidFill>
                <a:effectLst/>
                <a:latin typeface="+mn-lt"/>
                <a:ea typeface="+mn-ea"/>
                <a:cs typeface="+mn-cs"/>
              </a:rPr>
              <a:t> by VP. Instead, it suggests that intensive digital production requires massive infrastructure capacity. The discourse of VP is used to legally justify and create structural connections for this adoption and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我并不是说</a:t>
            </a:r>
            <a:r>
              <a:rPr lang="en-GB" sz="1200" u="none" strike="noStrike" kern="1200" dirty="0">
                <a:solidFill>
                  <a:schemeClr val="tx1"/>
                </a:solidFill>
                <a:effectLst/>
                <a:latin typeface="+mn-lt"/>
                <a:ea typeface="+mn-ea"/>
                <a:cs typeface="+mn-cs"/>
              </a:rPr>
              <a:t> 100% </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引起的。而是指出高强度数字制作</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需要</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庞大的基建容量，</a:t>
            </a:r>
            <a:r>
              <a:rPr lang="en-GB" sz="1200" u="none" strike="noStrike" kern="1200" dirty="0">
                <a:solidFill>
                  <a:schemeClr val="tx1"/>
                </a:solidFill>
                <a:effectLst/>
                <a:latin typeface="+mn-lt"/>
                <a:ea typeface="+mn-ea"/>
                <a:cs typeface="+mn-cs"/>
              </a:rPr>
              <a:t>VP </a:t>
            </a:r>
            <a:r>
              <a:rPr lang="zh-CN" altLang="en-US" sz="1200" u="none" strike="noStrike" kern="1200" dirty="0">
                <a:solidFill>
                  <a:schemeClr val="tx1"/>
                </a:solidFill>
                <a:effectLst/>
                <a:latin typeface="+mn-lt"/>
                <a:ea typeface="+mn-ea"/>
                <a:cs typeface="+mn-cs"/>
              </a:rPr>
              <a:t>的推广与基建扩建之间存在深刻的</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结构性关联</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Attribution, structural relationship, capacity.</a:t>
            </a:r>
          </a:p>
          <a:p>
            <a:r>
              <a:rPr lang="en-GB" sz="1200" b="1" kern="1200" dirty="0">
                <a:solidFill>
                  <a:schemeClr val="tx1"/>
                </a:solidFill>
                <a:effectLst/>
                <a:latin typeface="+mn-lt"/>
                <a:ea typeface="+mn-ea"/>
                <a:cs typeface="+mn-cs"/>
              </a:rPr>
              <a:t>9. Why did you use NDVI?</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为什么使用</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归一化植被指数</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NDVI is a widely used, rigorous remote sensing indicator that measures vegetation health and biomass. It is perfectly suited for analysing ecological death caused by land-use transformation.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是遥感中最常用的植被指数，能最直观地衡量植被健康和生物量变化。</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NDVI, vegetation index, remote sensing.</a:t>
            </a:r>
          </a:p>
          <a:p>
            <a:r>
              <a:rPr lang="zh-CN" altLang="en-US" sz="1200" b="1" kern="1200" dirty="0">
                <a:solidFill>
                  <a:schemeClr val="tx1"/>
                </a:solidFill>
                <a:effectLst/>
                <a:latin typeface="+mn-lt"/>
                <a:ea typeface="+mn-ea"/>
                <a:cs typeface="+mn-cs"/>
              </a:rPr>
              <a:t>五、结果解释</a:t>
            </a:r>
            <a:r>
              <a:rPr lang="en-GB" sz="1200" b="1" kern="1200" dirty="0">
                <a:solidFill>
                  <a:schemeClr val="tx1"/>
                </a:solidFill>
                <a:effectLst/>
                <a:latin typeface="+mn-lt"/>
                <a:ea typeface="+mn-ea"/>
                <a:cs typeface="+mn-cs"/>
              </a:rPr>
              <a:t> (Interpreting Results)</a:t>
            </a:r>
          </a:p>
          <a:p>
            <a:r>
              <a:rPr lang="en-GB" sz="1200" b="1" kern="1200" dirty="0">
                <a:solidFill>
                  <a:schemeClr val="tx1"/>
                </a:solidFill>
                <a:effectLst/>
                <a:latin typeface="+mn-lt"/>
                <a:ea typeface="+mn-ea"/>
                <a:cs typeface="+mn-cs"/>
              </a:rPr>
              <a:t>10. Could the temperature increase simply be due to general climate change or urbanisation?</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温度上升是否只是因为全球变暖？</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While global climate trends affect temperatures broadly, my analysis uses a localised spatial comparison. The +5°C spike is highly specific to the transformed sprawl zone, indicating it is directly associated with the local land-cover transformation and server exhaust.</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气候变化是全局的，但我关注的是特定区域内突兀的</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局部变化</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。这绝对与当地沥青覆盖和热岛效应直接相关。</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Localised change, land cover, urban heat island.</a:t>
            </a:r>
          </a:p>
          <a:p>
            <a:r>
              <a:rPr lang="zh-CN" altLang="en-US" sz="1200" b="1" kern="1200" dirty="0">
                <a:solidFill>
                  <a:schemeClr val="tx1"/>
                </a:solidFill>
                <a:effectLst/>
                <a:latin typeface="+mn-lt"/>
                <a:ea typeface="+mn-ea"/>
                <a:cs typeface="+mn-cs"/>
              </a:rPr>
              <a:t>六、批评与限制</a:t>
            </a:r>
            <a:r>
              <a:rPr lang="en-GB" sz="1200" b="1" kern="1200" dirty="0">
                <a:solidFill>
                  <a:schemeClr val="tx1"/>
                </a:solidFill>
                <a:effectLst/>
                <a:latin typeface="+mn-lt"/>
                <a:ea typeface="+mn-ea"/>
                <a:cs typeface="+mn-cs"/>
              </a:rPr>
              <a:t> (Critiques &amp; Limitations)</a:t>
            </a:r>
          </a:p>
          <a:p>
            <a:r>
              <a:rPr lang="en-GB" sz="1200" b="1" kern="1200" dirty="0">
                <a:solidFill>
                  <a:schemeClr val="tx1"/>
                </a:solidFill>
                <a:effectLst/>
                <a:latin typeface="+mn-lt"/>
                <a:ea typeface="+mn-ea"/>
                <a:cs typeface="+mn-cs"/>
              </a:rPr>
              <a:t>11. What are the limitations of your study?</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你的研究有哪些局限？</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The main limitations include: 1) reliance on crowdsourced spatial data (OSM), 2) satellite analysis shows correlation but cannot definitively prove isolated direct causation, and 3) the study currently focuses on a single case study (Shepperton).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1. OSM </a:t>
            </a:r>
            <a:r>
              <a:rPr lang="zh-CN" altLang="en-US" sz="1200" kern="1200" dirty="0">
                <a:solidFill>
                  <a:schemeClr val="tx1"/>
                </a:solidFill>
                <a:effectLst/>
                <a:latin typeface="+mn-lt"/>
                <a:ea typeface="+mn-ea"/>
                <a:cs typeface="+mn-cs"/>
              </a:rPr>
              <a:t>是众包数据；</a:t>
            </a:r>
            <a:r>
              <a:rPr lang="en-GB" sz="1200" kern="1200" dirty="0">
                <a:solidFill>
                  <a:schemeClr val="tx1"/>
                </a:solidFill>
                <a:effectLst/>
                <a:latin typeface="+mn-lt"/>
                <a:ea typeface="+mn-ea"/>
                <a:cs typeface="+mn-cs"/>
              </a:rPr>
              <a:t>2. </a:t>
            </a:r>
            <a:r>
              <a:rPr lang="zh-CN" altLang="en-US" sz="1200" kern="1200" dirty="0">
                <a:solidFill>
                  <a:schemeClr val="tx1"/>
                </a:solidFill>
                <a:effectLst/>
                <a:latin typeface="+mn-lt"/>
                <a:ea typeface="+mn-ea"/>
                <a:cs typeface="+mn-cs"/>
              </a:rPr>
              <a:t>卫星数据无法完美证明单一因果关系；</a:t>
            </a:r>
            <a:r>
              <a:rPr lang="en-GB" sz="1200" kern="1200" dirty="0">
                <a:solidFill>
                  <a:schemeClr val="tx1"/>
                </a:solidFill>
                <a:effectLst/>
                <a:latin typeface="+mn-lt"/>
                <a:ea typeface="+mn-ea"/>
                <a:cs typeface="+mn-cs"/>
              </a:rPr>
              <a:t>3. </a:t>
            </a:r>
            <a:r>
              <a:rPr lang="zh-CN" altLang="en-US" sz="1200" kern="1200" dirty="0">
                <a:solidFill>
                  <a:schemeClr val="tx1"/>
                </a:solidFill>
                <a:effectLst/>
                <a:latin typeface="+mn-lt"/>
                <a:ea typeface="+mn-ea"/>
                <a:cs typeface="+mn-cs"/>
              </a:rPr>
              <a:t>目前只分析了单一案例。</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Limitations, data reliability, causation, single case.</a:t>
            </a:r>
          </a:p>
          <a:p>
            <a:r>
              <a:rPr lang="zh-CN" altLang="en-US" sz="1200" b="1" kern="1200" dirty="0">
                <a:solidFill>
                  <a:schemeClr val="tx1"/>
                </a:solidFill>
                <a:effectLst/>
                <a:latin typeface="+mn-lt"/>
                <a:ea typeface="+mn-ea"/>
                <a:cs typeface="+mn-cs"/>
              </a:rPr>
              <a:t>七、扩展问题</a:t>
            </a:r>
            <a:r>
              <a:rPr lang="en-GB" sz="1200" b="1" kern="1200" dirty="0">
                <a:solidFill>
                  <a:schemeClr val="tx1"/>
                </a:solidFill>
                <a:effectLst/>
                <a:latin typeface="+mn-lt"/>
                <a:ea typeface="+mn-ea"/>
                <a:cs typeface="+mn-cs"/>
              </a:rPr>
              <a:t> (Future Directions)</a:t>
            </a:r>
          </a:p>
          <a:p>
            <a:r>
              <a:rPr lang="en-GB" sz="1200" b="1" kern="1200" dirty="0">
                <a:solidFill>
                  <a:schemeClr val="tx1"/>
                </a:solidFill>
                <a:effectLst/>
                <a:latin typeface="+mn-lt"/>
                <a:ea typeface="+mn-ea"/>
                <a:cs typeface="+mn-cs"/>
              </a:rPr>
              <a:t>12. What could future research explore?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你的研究未来有什么方向？</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Future work could integrate live energy consumption data, real-time traffic flows, and long-term environmental monitoring across multiple production hubs.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结合真实能源消耗数据、交通流量数据，并在多个影棚进行更长期的监测。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Future research, energy data, long-term monitoring.</a:t>
            </a: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八、高危问题应急指南</a:t>
            </a:r>
            <a:r>
              <a:rPr lang="en-GB" sz="1200" b="1" kern="1200" dirty="0">
                <a:solidFill>
                  <a:schemeClr val="tx1"/>
                </a:solidFill>
                <a:effectLst/>
                <a:latin typeface="+mn-lt"/>
                <a:ea typeface="+mn-ea"/>
                <a:cs typeface="+mn-cs"/>
              </a:rPr>
              <a:t> (Survival Guide for Tough Questions)</a:t>
            </a:r>
          </a:p>
          <a:p>
            <a:r>
              <a:rPr lang="en-GB" sz="1200" b="1" kern="1200" dirty="0">
                <a:solidFill>
                  <a:schemeClr val="tx1"/>
                </a:solidFill>
                <a:effectLst/>
                <a:latin typeface="+mn-lt"/>
                <a:ea typeface="+mn-ea"/>
                <a:cs typeface="+mn-cs"/>
              </a:rPr>
              <a:t>1. The "Anti-Tech" Trap (</a:t>
            </a:r>
            <a:r>
              <a:rPr lang="zh-CN" altLang="en-US" sz="1200" b="1" kern="1200" dirty="0">
                <a:solidFill>
                  <a:schemeClr val="tx1"/>
                </a:solidFill>
                <a:effectLst/>
                <a:latin typeface="+mn-lt"/>
                <a:ea typeface="+mn-ea"/>
                <a:cs typeface="+mn-cs"/>
              </a:rPr>
              <a:t>如果你遇到技术乐观派老师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Are you fundamentally against Virtual Production technology? Is your study just anti-tech?</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"No, not at all. My research focuses on the </a:t>
            </a:r>
            <a:r>
              <a:rPr lang="en-GB" sz="1200" i="1" u="none" strike="noStrike" kern="1200" dirty="0">
                <a:solidFill>
                  <a:schemeClr val="tx1"/>
                </a:solidFill>
                <a:effectLst/>
                <a:latin typeface="+mn-lt"/>
                <a:ea typeface="+mn-ea"/>
                <a:cs typeface="+mn-cs"/>
              </a:rPr>
              <a:t>infrastructural impacts</a:t>
            </a:r>
            <a:r>
              <a:rPr lang="en-GB" sz="1200" u="none" strike="noStrike" kern="1200" dirty="0">
                <a:solidFill>
                  <a:schemeClr val="tx1"/>
                </a:solidFill>
                <a:effectLst/>
                <a:latin typeface="+mn-lt"/>
                <a:ea typeface="+mn-ea"/>
                <a:cs typeface="+mn-cs"/>
              </a:rPr>
              <a:t> and the governance framework of the technology, not denying the technological innovation itself. Virtual production has massive potential, but it needs transparent ecological accounting."</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我不反技术。我关注的是它的基建影响和监管漏洞，技术很好，但需要透明的生态核算。</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2. The Disciplinary Question (</a:t>
            </a:r>
            <a:r>
              <a:rPr lang="zh-CN" altLang="en-US" sz="1200" b="1" kern="1200" dirty="0">
                <a:solidFill>
                  <a:schemeClr val="tx1"/>
                </a:solidFill>
                <a:effectLst/>
                <a:latin typeface="+mn-lt"/>
                <a:ea typeface="+mn-ea"/>
                <a:cs typeface="+mn-cs"/>
              </a:rPr>
              <a:t>关于你的专业定位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Which discipline does your research actually belong to? Is this Geography or Media Studies?</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"This research sits intentionally at the intersection of media studies, political economy, and spatial data analysis. It uses geographical tools to answer media infrastructure questions."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交叉学科。用地理学的工具（卫星），回答媒体基建的问题。</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3. 🌟 The Ultimate Fallback Sentence (</a:t>
            </a:r>
            <a:r>
              <a:rPr lang="zh-CN" altLang="en-US" sz="1200" b="1" kern="1200" dirty="0">
                <a:solidFill>
                  <a:schemeClr val="tx1"/>
                </a:solidFill>
                <a:effectLst/>
                <a:latin typeface="+mn-lt"/>
                <a:ea typeface="+mn-ea"/>
                <a:cs typeface="+mn-cs"/>
              </a:rPr>
              <a:t>最强万能救场句</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如果老师问了一个极其偏门、你完全不懂的数据或理论，保持微笑，直视对方眼睛，并用极其自信的语气说出这句：</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"That is a very insightful question. While my current study focuses primarily on the spatial and infrastructural dimensions, it would certainly be a highly valuable variable to explore in future, expanded research."</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中文</a:t>
            </a:r>
            <a:r>
              <a:rPr lang="en-GB" sz="1200" i="1" kern="1200" dirty="0">
                <a:solidFill>
                  <a:schemeClr val="tx1"/>
                </a:solidFill>
                <a:effectLst/>
                <a:latin typeface="+mn-lt"/>
                <a:ea typeface="+mn-ea"/>
                <a:cs typeface="+mn-cs"/>
              </a:rPr>
              <a:t>: </a:t>
            </a:r>
            <a:r>
              <a:rPr lang="zh-CN" altLang="en-US" sz="1200" i="1" kern="1200" dirty="0">
                <a:solidFill>
                  <a:schemeClr val="tx1"/>
                </a:solidFill>
                <a:effectLst/>
                <a:latin typeface="+mn-lt"/>
                <a:ea typeface="+mn-ea"/>
                <a:cs typeface="+mn-cs"/>
              </a:rPr>
              <a:t>这是一个非常有洞见的问题。虽然我目前的研究主要集中在空间和基建层面，但这绝对是未来扩大研究时非常值得探索的一个变量。</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给你的临场现实建议：</a:t>
            </a:r>
            <a:endParaRPr lang="en-GB"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在英国的高校答辩中，老师其实最看重三件事（你的</a:t>
            </a:r>
            <a:r>
              <a:rPr lang="en-GB" sz="1200" kern="1200" dirty="0">
                <a:solidFill>
                  <a:schemeClr val="tx1"/>
                </a:solidFill>
                <a:effectLst/>
                <a:latin typeface="+mn-lt"/>
                <a:ea typeface="+mn-ea"/>
                <a:cs typeface="+mn-cs"/>
              </a:rPr>
              <a:t> Q&amp;A </a:t>
            </a:r>
            <a:r>
              <a:rPr lang="zh-CN" altLang="en-US" sz="1200" kern="1200" dirty="0">
                <a:solidFill>
                  <a:schemeClr val="tx1"/>
                </a:solidFill>
                <a:effectLst/>
                <a:latin typeface="+mn-lt"/>
                <a:ea typeface="+mn-ea"/>
                <a:cs typeface="+mn-cs"/>
              </a:rPr>
              <a:t>只要守住这三条底线，绝对拿高分）：</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你是否理解自己的方法（</a:t>
            </a:r>
            <a:r>
              <a:rPr lang="en-GB" sz="1200" b="1" kern="1200" dirty="0">
                <a:solidFill>
                  <a:schemeClr val="tx1"/>
                </a:solidFill>
                <a:effectLst/>
                <a:latin typeface="+mn-lt"/>
                <a:ea typeface="+mn-ea"/>
                <a:cs typeface="+mn-cs"/>
              </a:rPr>
              <a:t>Methodological Literacy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承认用了什么，没用什么。</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你是否知道研究局限（</a:t>
            </a:r>
            <a:r>
              <a:rPr lang="en-GB" sz="1200" b="1" kern="1200" dirty="0">
                <a:solidFill>
                  <a:schemeClr val="tx1"/>
                </a:solidFill>
                <a:effectLst/>
                <a:latin typeface="+mn-lt"/>
                <a:ea typeface="+mn-ea"/>
                <a:cs typeface="+mn-cs"/>
              </a:rPr>
              <a:t>Self-Awareness</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敢于承认局限性，不要硬撑。</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你是否不过度夸大结论（</a:t>
            </a:r>
            <a:r>
              <a:rPr lang="en-GB" sz="1200" b="1" kern="1200" dirty="0">
                <a:solidFill>
                  <a:schemeClr val="tx1"/>
                </a:solidFill>
                <a:effectLst/>
                <a:latin typeface="+mn-lt"/>
                <a:ea typeface="+mn-ea"/>
                <a:cs typeface="+mn-cs"/>
              </a:rPr>
              <a:t>Epistemic Modesty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不要说</a:t>
            </a:r>
            <a:r>
              <a:rPr lang="en-GB" sz="1200" kern="1200" dirty="0">
                <a:solidFill>
                  <a:schemeClr val="tx1"/>
                </a:solidFill>
                <a:effectLst/>
                <a:latin typeface="+mn-lt"/>
                <a:ea typeface="+mn-ea"/>
                <a:cs typeface="+mn-cs"/>
              </a:rPr>
              <a:t>“VP</a:t>
            </a:r>
            <a:r>
              <a:rPr lang="zh-CN" altLang="en-US" sz="1200" kern="1200" dirty="0">
                <a:solidFill>
                  <a:schemeClr val="tx1"/>
                </a:solidFill>
                <a:effectLst/>
                <a:latin typeface="+mn-lt"/>
                <a:ea typeface="+mn-ea"/>
                <a:cs typeface="+mn-cs"/>
              </a:rPr>
              <a:t>毁灭了地球</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，而是说</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数据表明</a:t>
            </a:r>
            <a:r>
              <a:rPr lang="en-GB" sz="1200" kern="1200" dirty="0">
                <a:solidFill>
                  <a:schemeClr val="tx1"/>
                </a:solidFill>
                <a:effectLst/>
                <a:latin typeface="+mn-lt"/>
                <a:ea typeface="+mn-ea"/>
                <a:cs typeface="+mn-cs"/>
              </a:rPr>
              <a:t> VP </a:t>
            </a:r>
            <a:r>
              <a:rPr lang="zh-CN" altLang="en-US" sz="1200" kern="1200" dirty="0">
                <a:solidFill>
                  <a:schemeClr val="tx1"/>
                </a:solidFill>
                <a:effectLst/>
                <a:latin typeface="+mn-lt"/>
                <a:ea typeface="+mn-ea"/>
                <a:cs typeface="+mn-cs"/>
              </a:rPr>
              <a:t>转移并加剧了局部的空间压力</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dirty="0"/>
          </a:p>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2B14C72-4080-AE91-C031-38592FCDA24B}"/>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281647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2155A-5EBD-7DFE-E58B-2D0A6556E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98536-4D47-3DBE-B3DD-9E9C88B4E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81585-4AFB-F0C3-EBA4-0A17B9C0D8FE}"/>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p:txBody>
      </p:sp>
      <p:sp>
        <p:nvSpPr>
          <p:cNvPr id="4" name="Slide Number Placeholder 3">
            <a:extLst>
              <a:ext uri="{FF2B5EF4-FFF2-40B4-BE49-F238E27FC236}">
                <a16:creationId xmlns:a16="http://schemas.microsoft.com/office/drawing/2014/main" id="{3A891181-6334-F0DB-BE26-1FC5C385898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777759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158C8-57DC-42E5-B911-F98243DEE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BFA0FA-EA34-9BAB-4BBE-AB3B547BA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66768-586C-7ABC-8225-DB2712A84089}"/>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p:txBody>
      </p:sp>
      <p:sp>
        <p:nvSpPr>
          <p:cNvPr id="4" name="Slide Number Placeholder 3">
            <a:extLst>
              <a:ext uri="{FF2B5EF4-FFF2-40B4-BE49-F238E27FC236}">
                <a16:creationId xmlns:a16="http://schemas.microsoft.com/office/drawing/2014/main" id="{2D6A7380-B69B-2EC9-D777-58B193C04D83}"/>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555210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CCDF2-BD0D-EE4B-B4DC-05BEE3777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151FB-3029-0B22-41FA-7611B3900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112B4-1D61-5CAB-6A07-D436B3CA10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a:p>
            <a:endParaRPr lang="en-US" dirty="0"/>
          </a:p>
        </p:txBody>
      </p:sp>
      <p:sp>
        <p:nvSpPr>
          <p:cNvPr id="4" name="Slide Number Placeholder 3">
            <a:extLst>
              <a:ext uri="{FF2B5EF4-FFF2-40B4-BE49-F238E27FC236}">
                <a16:creationId xmlns:a16="http://schemas.microsoft.com/office/drawing/2014/main" id="{8F5F6AAC-7D70-F97F-707B-A2C69C901FA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665925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0B868-A63D-8CC8-D73C-5FCFA29351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7276C-76A8-E894-B3CF-51B0FCD13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2083A-6238-CD1E-B97B-62561CC5A4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a:p>
            <a:endParaRPr lang="en-US" dirty="0"/>
          </a:p>
        </p:txBody>
      </p:sp>
      <p:sp>
        <p:nvSpPr>
          <p:cNvPr id="4" name="Slide Number Placeholder 3">
            <a:extLst>
              <a:ext uri="{FF2B5EF4-FFF2-40B4-BE49-F238E27FC236}">
                <a16:creationId xmlns:a16="http://schemas.microsoft.com/office/drawing/2014/main" id="{08F20929-4412-5B36-33B9-A147BCC49933}"/>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5602272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72F20-D870-0425-3934-81D126F10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92896-7F9D-A431-2A5B-961475A0D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C1AE1-3D79-1E98-B2B9-7D5F13CE7989}"/>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In conclusion, the digital "cloud" is not floating in the air. It is built on asphalt, powered by massive electricity, and it burns violently hot.</a:t>
            </a:r>
          </a:p>
          <a:p>
            <a:r>
              <a:rPr lang="en-GB" sz="1200" kern="1200" dirty="0">
                <a:solidFill>
                  <a:schemeClr val="tx1"/>
                </a:solidFill>
                <a:effectLst/>
                <a:latin typeface="+mn-lt"/>
                <a:ea typeface="+mn-ea"/>
                <a:cs typeface="+mn-cs"/>
              </a:rPr>
              <a:t>My full codebase is available via this QR code. </a:t>
            </a:r>
            <a:endParaRPr lang="en-US" dirty="0"/>
          </a:p>
          <a:p>
            <a:r>
              <a:rPr lang="en-GB" sz="1200" b="1" kern="1200" dirty="0">
                <a:solidFill>
                  <a:schemeClr val="tx1"/>
                </a:solidFill>
                <a:effectLst/>
                <a:latin typeface="+mn-lt"/>
                <a:ea typeface="+mn-ea"/>
                <a:cs typeface="+mn-cs"/>
              </a:rPr>
              <a:t>Academic Term (PPT</a:t>
            </a:r>
            <a:r>
              <a:rPr lang="zh-CN" altLang="en-US" sz="1200" b="1" kern="1200" dirty="0">
                <a:solidFill>
                  <a:schemeClr val="tx1"/>
                </a:solidFill>
                <a:effectLst/>
                <a:latin typeface="+mn-lt"/>
                <a:ea typeface="+mn-ea"/>
                <a:cs typeface="+mn-cs"/>
              </a:rPr>
              <a:t>原词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Plain English Translation (</a:t>
            </a:r>
            <a:r>
              <a:rPr lang="zh-CN" altLang="en-US" sz="1200" b="1" kern="1200" dirty="0">
                <a:solidFill>
                  <a:schemeClr val="tx1"/>
                </a:solidFill>
                <a:effectLst/>
                <a:latin typeface="+mn-lt"/>
                <a:ea typeface="+mn-ea"/>
                <a:cs typeface="+mn-cs"/>
              </a:rPr>
              <a:t>人话翻译</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 to use it in Q&amp;A (</a:t>
            </a:r>
            <a:r>
              <a:rPr lang="zh-CN" altLang="en-US" sz="1200" b="1" kern="1200" dirty="0">
                <a:solidFill>
                  <a:schemeClr val="tx1"/>
                </a:solidFill>
                <a:effectLst/>
                <a:latin typeface="+mn-lt"/>
                <a:ea typeface="+mn-ea"/>
                <a:cs typeface="+mn-cs"/>
              </a:rPr>
              <a:t>实战回答话术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Immateriality (</a:t>
            </a:r>
            <a:r>
              <a:rPr lang="zh-CN" altLang="en-US" sz="1200" b="1" kern="1200" dirty="0">
                <a:solidFill>
                  <a:schemeClr val="tx1"/>
                </a:solidFill>
                <a:effectLst/>
                <a:latin typeface="+mn-lt"/>
                <a:ea typeface="+mn-ea"/>
                <a:cs typeface="+mn-cs"/>
              </a:rPr>
              <a:t>非物质性</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业界骗人的鬼话，说现在的电影在</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云端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做，不需要实体。</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"They call it 'immaterial' to sound eco-friendly, but my maps show the cloud is made of concrete and cables."</a:t>
            </a:r>
          </a:p>
          <a:p>
            <a:r>
              <a:rPr lang="en-GB" sz="1200" b="1" kern="1200" dirty="0">
                <a:solidFill>
                  <a:schemeClr val="tx1"/>
                </a:solidFill>
                <a:effectLst/>
                <a:latin typeface="+mn-lt"/>
                <a:ea typeface="+mn-ea"/>
                <a:cs typeface="+mn-cs"/>
              </a:rPr>
              <a:t>Digital Spatial Fix (</a:t>
            </a:r>
            <a:r>
              <a:rPr lang="zh-CN" altLang="en-US" sz="1200" b="1" kern="1200" dirty="0">
                <a:solidFill>
                  <a:schemeClr val="tx1"/>
                </a:solidFill>
                <a:effectLst/>
                <a:latin typeface="+mn-lt"/>
                <a:ea typeface="+mn-ea"/>
                <a:cs typeface="+mn-cs"/>
              </a:rPr>
              <a:t>数字空间修复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科技并没有消除污染，只是把天上的飞机尾气，变成了地上的服务器废热和沥青停车场。</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means capital doesn't solve environmental crises; it just moves them. They stopped flying, but paved over 13 hectares of greenbelt instead."</a:t>
            </a:r>
          </a:p>
          <a:p>
            <a:r>
              <a:rPr lang="en-GB" sz="1200" b="1" kern="1200" dirty="0">
                <a:solidFill>
                  <a:schemeClr val="tx1"/>
                </a:solidFill>
                <a:effectLst/>
                <a:latin typeface="+mn-lt"/>
                <a:ea typeface="+mn-ea"/>
                <a:cs typeface="+mn-cs"/>
              </a:rPr>
              <a:t>Accumulation by Dispossession (</a:t>
            </a:r>
            <a:r>
              <a:rPr lang="zh-CN" altLang="en-US" sz="1200" b="1" kern="1200" dirty="0">
                <a:solidFill>
                  <a:schemeClr val="tx1"/>
                </a:solidFill>
                <a:effectLst/>
                <a:latin typeface="+mn-lt"/>
                <a:ea typeface="+mn-ea"/>
                <a:cs typeface="+mn-cs"/>
              </a:rPr>
              <a:t>剥夺性积累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大公司赚走</a:t>
            </a:r>
            <a:r>
              <a:rPr lang="en-GB" sz="1200" kern="1200" dirty="0">
                <a:solidFill>
                  <a:schemeClr val="tx1"/>
                </a:solidFill>
                <a:effectLst/>
                <a:latin typeface="+mn-lt"/>
                <a:ea typeface="+mn-ea"/>
                <a:cs typeface="+mn-cs"/>
              </a:rPr>
              <a:t> 3.9 </a:t>
            </a:r>
            <a:r>
              <a:rPr lang="zh-CN" altLang="en-US" sz="1200" kern="1200" dirty="0">
                <a:solidFill>
                  <a:schemeClr val="tx1"/>
                </a:solidFill>
                <a:effectLst/>
                <a:latin typeface="+mn-lt"/>
                <a:ea typeface="+mn-ea"/>
                <a:cs typeface="+mn-cs"/>
              </a:rPr>
              <a:t>亿英镑利润，却只给当地留下</a:t>
            </a:r>
            <a:r>
              <a:rPr lang="en-GB" sz="1200" kern="1200" dirty="0">
                <a:solidFill>
                  <a:schemeClr val="tx1"/>
                </a:solidFill>
                <a:effectLst/>
                <a:latin typeface="+mn-lt"/>
                <a:ea typeface="+mn-ea"/>
                <a:cs typeface="+mn-cs"/>
              </a:rPr>
              <a:t> 6000 </a:t>
            </a:r>
            <a:r>
              <a:rPr lang="zh-CN" altLang="en-US" sz="1200" kern="1200" dirty="0">
                <a:solidFill>
                  <a:schemeClr val="tx1"/>
                </a:solidFill>
                <a:effectLst/>
                <a:latin typeface="+mn-lt"/>
                <a:ea typeface="+mn-ea"/>
                <a:cs typeface="+mn-cs"/>
              </a:rPr>
              <a:t>镑的环保补偿，等于抢劫了当地人的生态权。</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a wealth transfer. Corporations privatise the £392M profit, while local communities absorb the ecological loss for just £6k."</a:t>
            </a:r>
          </a:p>
          <a:p>
            <a:r>
              <a:rPr lang="en-GB" sz="1200" b="1" kern="1200" dirty="0">
                <a:solidFill>
                  <a:schemeClr val="tx1"/>
                </a:solidFill>
                <a:effectLst/>
                <a:latin typeface="+mn-lt"/>
                <a:ea typeface="+mn-ea"/>
                <a:cs typeface="+mn-cs"/>
              </a:rPr>
              <a:t>Jevons Paradox (</a:t>
            </a:r>
            <a:r>
              <a:rPr lang="zh-CN" altLang="en-US" sz="1200" b="1" kern="1200" dirty="0">
                <a:solidFill>
                  <a:schemeClr val="tx1"/>
                </a:solidFill>
                <a:effectLst/>
                <a:latin typeface="+mn-lt"/>
                <a:ea typeface="+mn-ea"/>
                <a:cs typeface="+mn-cs"/>
              </a:rPr>
              <a:t>杰文斯悖论</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技术越牛越省电，资本家就会建更多更大的影棚，最后用的电反而更多了。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"Just because LED screens are efficient doesn't mean we save energy. Because it's efficient, studios just build </a:t>
            </a:r>
            <a:r>
              <a:rPr lang="en-GB" sz="1200" i="1" kern="1200" dirty="0">
                <a:solidFill>
                  <a:schemeClr val="tx1"/>
                </a:solidFill>
                <a:effectLst/>
                <a:latin typeface="+mn-lt"/>
                <a:ea typeface="+mn-ea"/>
                <a:cs typeface="+mn-cs"/>
              </a:rPr>
              <a:t>more</a:t>
            </a:r>
            <a:r>
              <a:rPr lang="en-GB" sz="1200" kern="1200" dirty="0">
                <a:solidFill>
                  <a:schemeClr val="tx1"/>
                </a:solidFill>
                <a:effectLst/>
                <a:latin typeface="+mn-lt"/>
                <a:ea typeface="+mn-ea"/>
                <a:cs typeface="+mn-cs"/>
              </a:rPr>
              <a:t> of them, demanding 5.4 GWh of power."</a:t>
            </a:r>
          </a:p>
          <a:p>
            <a:r>
              <a:rPr lang="en-GB" sz="1200" b="1" kern="1200" dirty="0">
                <a:solidFill>
                  <a:schemeClr val="tx1"/>
                </a:solidFill>
                <a:effectLst/>
                <a:latin typeface="+mn-lt"/>
                <a:ea typeface="+mn-ea"/>
                <a:cs typeface="+mn-cs"/>
              </a:rPr>
              <a:t>Metabolic Rift (</a:t>
            </a:r>
            <a:r>
              <a:rPr lang="zh-CN" altLang="en-US" sz="1200" b="1" kern="1200" dirty="0">
                <a:solidFill>
                  <a:schemeClr val="tx1"/>
                </a:solidFill>
                <a:effectLst/>
                <a:latin typeface="+mn-lt"/>
                <a:ea typeface="+mn-ea"/>
                <a:cs typeface="+mn-cs"/>
              </a:rPr>
              <a:t>代谢断裂</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生态系统的循环被打断了。树被砍了换成水泥，大自然无法自我修复了。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simply means the natural biological cycle is broken. As my satellite data shows, the plants didn't adapt; they died permanently."</a:t>
            </a:r>
          </a:p>
          <a:p>
            <a:r>
              <a:rPr lang="en-GB" sz="1200" b="1" kern="1200" dirty="0">
                <a:solidFill>
                  <a:schemeClr val="tx1"/>
                </a:solidFill>
                <a:effectLst/>
                <a:latin typeface="+mn-lt"/>
                <a:ea typeface="+mn-ea"/>
                <a:cs typeface="+mn-cs"/>
              </a:rPr>
              <a:t>Epistemological limits (</a:t>
            </a:r>
            <a:r>
              <a:rPr lang="zh-CN" altLang="en-US" sz="1200" b="1" kern="1200" dirty="0">
                <a:solidFill>
                  <a:schemeClr val="tx1"/>
                </a:solidFill>
                <a:effectLst/>
                <a:latin typeface="+mn-lt"/>
                <a:ea typeface="+mn-ea"/>
                <a:cs typeface="+mn-cs"/>
              </a:rPr>
              <a:t>认识论局限</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官方环评报告的局限性：只算用电量，不算为了建大棚推平的森林。</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used satellite data because traditional maps have an epistemological limit—they show you where the building is, but not how hot it gets."</a:t>
            </a:r>
          </a:p>
          <a:p>
            <a:r>
              <a:rPr lang="en-GB" sz="1200" b="1" kern="1200" dirty="0">
                <a:solidFill>
                  <a:schemeClr val="tx1"/>
                </a:solidFill>
                <a:effectLst/>
                <a:latin typeface="+mn-lt"/>
                <a:ea typeface="+mn-ea"/>
                <a:cs typeface="+mn-cs"/>
              </a:rPr>
              <a:t>Thermodynamic Scar (</a:t>
            </a:r>
            <a:r>
              <a:rPr lang="zh-CN" altLang="en-US" sz="1200" b="1" kern="1200" dirty="0">
                <a:solidFill>
                  <a:schemeClr val="tx1"/>
                </a:solidFill>
                <a:effectLst/>
                <a:latin typeface="+mn-lt"/>
                <a:ea typeface="+mn-ea"/>
                <a:cs typeface="+mn-cs"/>
              </a:rPr>
              <a:t>热力学疤痕</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把树砍了换成柏油路和服务器，导致这块地方产生了类似</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局部温室效应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，比原来热了</a:t>
            </a:r>
            <a:r>
              <a:rPr lang="en-GB" sz="1200" kern="1200" dirty="0">
                <a:solidFill>
                  <a:schemeClr val="tx1"/>
                </a:solidFill>
                <a:effectLst/>
                <a:latin typeface="+mn-lt"/>
                <a:ea typeface="+mn-ea"/>
                <a:cs typeface="+mn-cs"/>
              </a:rPr>
              <a:t> 5 </a:t>
            </a:r>
            <a:r>
              <a:rPr lang="zh-CN" altLang="en-US" sz="1200" kern="1200" dirty="0">
                <a:solidFill>
                  <a:schemeClr val="tx1"/>
                </a:solidFill>
                <a:effectLst/>
                <a:latin typeface="+mn-lt"/>
                <a:ea typeface="+mn-ea"/>
                <a:cs typeface="+mn-cs"/>
              </a:rPr>
              <a:t>度。</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the physical heat increase. By removing cooling vegetation and adding servers, the local area is now permanently 5 degrees hotter."</a:t>
            </a:r>
          </a:p>
          <a:p>
            <a:r>
              <a:rPr lang="en-GB" sz="1200" b="1" kern="1200" dirty="0">
                <a:solidFill>
                  <a:schemeClr val="tx1"/>
                </a:solidFill>
                <a:effectLst/>
                <a:latin typeface="+mn-lt"/>
                <a:ea typeface="+mn-ea"/>
                <a:cs typeface="+mn-cs"/>
              </a:rPr>
              <a:t>Institutional Complicity (</a:t>
            </a:r>
            <a:r>
              <a:rPr lang="zh-CN" altLang="en-US" sz="1200" b="1" kern="1200" dirty="0">
                <a:solidFill>
                  <a:schemeClr val="tx1"/>
                </a:solidFill>
                <a:effectLst/>
                <a:latin typeface="+mn-lt"/>
                <a:ea typeface="+mn-ea"/>
                <a:cs typeface="+mn-cs"/>
              </a:rPr>
              <a:t>制度性合谋</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当地政府和企业穿一条裤子，用极低的罚款给破坏环境开绿灯。</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when the local council allows a 39-hectare expansion in exchange for a tiny monitoring fee, legitimising greenwashing."</a:t>
            </a:r>
          </a:p>
          <a:p>
            <a:endParaRPr lang="en-US" dirty="0"/>
          </a:p>
          <a:p>
            <a:r>
              <a:rPr lang="en-GB" sz="1200" b="1" kern="1200" dirty="0">
                <a:solidFill>
                  <a:schemeClr val="tx1"/>
                </a:solidFill>
                <a:effectLst/>
                <a:latin typeface="+mn-lt"/>
                <a:ea typeface="+mn-ea"/>
                <a:cs typeface="+mn-cs"/>
              </a:rPr>
              <a:t>Acronym (</a:t>
            </a:r>
            <a:r>
              <a:rPr lang="zh-CN" altLang="en-US" sz="1200" b="1" kern="1200" dirty="0">
                <a:solidFill>
                  <a:schemeClr val="tx1"/>
                </a:solidFill>
                <a:effectLst/>
                <a:latin typeface="+mn-lt"/>
                <a:ea typeface="+mn-ea"/>
                <a:cs typeface="+mn-cs"/>
              </a:rPr>
              <a:t>缩写</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Full Form (</a:t>
            </a:r>
            <a:r>
              <a:rPr lang="zh-CN" altLang="en-US" sz="1200" b="1" kern="1200" dirty="0">
                <a:solidFill>
                  <a:schemeClr val="tx1"/>
                </a:solidFill>
                <a:effectLst/>
                <a:latin typeface="+mn-lt"/>
                <a:ea typeface="+mn-ea"/>
                <a:cs typeface="+mn-cs"/>
              </a:rPr>
              <a:t>全称</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What it actually means in your project (</a:t>
            </a:r>
            <a:r>
              <a:rPr lang="zh-CN" altLang="en-US" sz="1200" b="1" kern="1200" dirty="0">
                <a:solidFill>
                  <a:schemeClr val="tx1"/>
                </a:solidFill>
                <a:effectLst/>
                <a:latin typeface="+mn-lt"/>
                <a:ea typeface="+mn-ea"/>
                <a:cs typeface="+mn-cs"/>
              </a:rPr>
              <a:t>它在你的项目里到底是什么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VP</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Virtual Production</a:t>
            </a:r>
          </a:p>
          <a:p>
            <a:r>
              <a:rPr lang="zh-CN" altLang="en-US" sz="1200" kern="1200" dirty="0">
                <a:solidFill>
                  <a:schemeClr val="tx1"/>
                </a:solidFill>
                <a:effectLst/>
                <a:latin typeface="+mn-lt"/>
                <a:ea typeface="+mn-ea"/>
                <a:cs typeface="+mn-cs"/>
              </a:rPr>
              <a:t>虚拟制作。整个研究的批判对象（用</a:t>
            </a:r>
            <a:r>
              <a:rPr lang="en-GB" sz="1200" kern="1200" dirty="0">
                <a:solidFill>
                  <a:schemeClr val="tx1"/>
                </a:solidFill>
                <a:effectLst/>
                <a:latin typeface="+mn-lt"/>
                <a:ea typeface="+mn-ea"/>
                <a:cs typeface="+mn-cs"/>
              </a:rPr>
              <a:t>LED</a:t>
            </a:r>
            <a:r>
              <a:rPr lang="zh-CN" altLang="en-US" sz="1200" kern="1200" dirty="0">
                <a:solidFill>
                  <a:schemeClr val="tx1"/>
                </a:solidFill>
                <a:effectLst/>
                <a:latin typeface="+mn-lt"/>
                <a:ea typeface="+mn-ea"/>
                <a:cs typeface="+mn-cs"/>
              </a:rPr>
              <a:t>大屏幕代替实景拍摄的技术）。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GVA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Gross Value Added</a:t>
            </a:r>
          </a:p>
          <a:p>
            <a:r>
              <a:rPr lang="zh-CN" altLang="en-US" sz="1200" kern="1200" dirty="0">
                <a:solidFill>
                  <a:schemeClr val="tx1"/>
                </a:solidFill>
                <a:effectLst/>
                <a:latin typeface="+mn-lt"/>
                <a:ea typeface="+mn-ea"/>
                <a:cs typeface="+mn-cs"/>
              </a:rPr>
              <a:t>增加值。用来衡量这个项目给当地赚了多少钱。你用来对比那少得可怜的</a:t>
            </a:r>
            <a:r>
              <a:rPr lang="en-GB" sz="1200" kern="1200" dirty="0">
                <a:solidFill>
                  <a:schemeClr val="tx1"/>
                </a:solidFill>
                <a:effectLst/>
                <a:latin typeface="+mn-lt"/>
                <a:ea typeface="+mn-ea"/>
                <a:cs typeface="+mn-cs"/>
              </a:rPr>
              <a:t> £6150 </a:t>
            </a:r>
            <a:r>
              <a:rPr lang="zh-CN" altLang="en-US" sz="1200" kern="1200" dirty="0">
                <a:solidFill>
                  <a:schemeClr val="tx1"/>
                </a:solidFill>
                <a:effectLst/>
                <a:latin typeface="+mn-lt"/>
                <a:ea typeface="+mn-ea"/>
                <a:cs typeface="+mn-cs"/>
              </a:rPr>
              <a:t>环境补偿金。</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S106</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Section 106 Agreement</a:t>
            </a:r>
          </a:p>
          <a:p>
            <a:r>
              <a:rPr lang="zh-CN" altLang="en-US" sz="1200" kern="1200" dirty="0">
                <a:solidFill>
                  <a:schemeClr val="tx1"/>
                </a:solidFill>
                <a:effectLst/>
                <a:latin typeface="+mn-lt"/>
                <a:ea typeface="+mn-ea"/>
                <a:cs typeface="+mn-cs"/>
              </a:rPr>
              <a:t>第</a:t>
            </a:r>
            <a:r>
              <a:rPr lang="en-GB" sz="1200" kern="1200" dirty="0">
                <a:solidFill>
                  <a:schemeClr val="tx1"/>
                </a:solidFill>
                <a:effectLst/>
                <a:latin typeface="+mn-lt"/>
                <a:ea typeface="+mn-ea"/>
                <a:cs typeface="+mn-cs"/>
              </a:rPr>
              <a:t>106</a:t>
            </a:r>
            <a:r>
              <a:rPr lang="zh-CN" altLang="en-US" sz="1200" kern="1200" dirty="0">
                <a:solidFill>
                  <a:schemeClr val="tx1"/>
                </a:solidFill>
                <a:effectLst/>
                <a:latin typeface="+mn-lt"/>
                <a:ea typeface="+mn-ea"/>
                <a:cs typeface="+mn-cs"/>
              </a:rPr>
              <a:t>条协议（英国规划法）。开发商给政府交的一点点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环境破坏保护费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EIA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Environmental Impact Assessment</a:t>
            </a:r>
          </a:p>
          <a:p>
            <a:r>
              <a:rPr lang="zh-CN" altLang="en-US" sz="1200" kern="1200" dirty="0">
                <a:solidFill>
                  <a:schemeClr val="tx1"/>
                </a:solidFill>
                <a:effectLst/>
                <a:latin typeface="+mn-lt"/>
                <a:ea typeface="+mn-ea"/>
                <a:cs typeface="+mn-cs"/>
              </a:rPr>
              <a:t>环境影响评估。官方的环评报告（你重点批判的对象，因为它们掩盖了大量的基建破坏）。</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OSM</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OpenStreetMap</a:t>
            </a:r>
          </a:p>
          <a:p>
            <a:r>
              <a:rPr lang="zh-CN" altLang="en-US" sz="1200" kern="1200" dirty="0">
                <a:solidFill>
                  <a:schemeClr val="tx1"/>
                </a:solidFill>
                <a:effectLst/>
                <a:latin typeface="+mn-lt"/>
                <a:ea typeface="+mn-ea"/>
                <a:cs typeface="+mn-cs"/>
              </a:rPr>
              <a:t>开源平台地图。你用来抓取地理坐标的底层街道数据（免费、开源、客观）。</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EPSG:27700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British National Grid (BNG)</a:t>
            </a:r>
          </a:p>
          <a:p>
            <a:r>
              <a:rPr lang="zh-CN" altLang="en-US" sz="1200" kern="1200" dirty="0">
                <a:solidFill>
                  <a:schemeClr val="tx1"/>
                </a:solidFill>
                <a:effectLst/>
                <a:latin typeface="+mn-lt"/>
                <a:ea typeface="+mn-ea"/>
                <a:cs typeface="+mn-cs"/>
              </a:rPr>
              <a:t>英国国家电网坐标系。</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告诉老师：地球是圆的，普通的经纬度算不出面积。我用</a:t>
            </a:r>
            <a:r>
              <a:rPr lang="en-GB" sz="1200" kern="1200" dirty="0">
                <a:solidFill>
                  <a:schemeClr val="tx1"/>
                </a:solidFill>
                <a:effectLst/>
                <a:latin typeface="+mn-lt"/>
                <a:ea typeface="+mn-ea"/>
                <a:cs typeface="+mn-cs"/>
              </a:rPr>
              <a:t>Python</a:t>
            </a:r>
            <a:r>
              <a:rPr lang="zh-CN" altLang="en-US" sz="1200" kern="1200" dirty="0">
                <a:solidFill>
                  <a:schemeClr val="tx1"/>
                </a:solidFill>
                <a:effectLst/>
                <a:latin typeface="+mn-lt"/>
                <a:ea typeface="+mn-ea"/>
                <a:cs typeface="+mn-cs"/>
              </a:rPr>
              <a:t>强制把坐标转换成了这个英国标准格式，所以我算出的</a:t>
            </a:r>
            <a:r>
              <a:rPr lang="en-GB" sz="1200" kern="1200" dirty="0">
                <a:solidFill>
                  <a:schemeClr val="tx1"/>
                </a:solidFill>
                <a:effectLst/>
                <a:latin typeface="+mn-lt"/>
                <a:ea typeface="+mn-ea"/>
                <a:cs typeface="+mn-cs"/>
              </a:rPr>
              <a:t> 13.2 </a:t>
            </a:r>
            <a:r>
              <a:rPr lang="zh-CN" altLang="en-US" sz="1200" kern="1200" dirty="0">
                <a:solidFill>
                  <a:schemeClr val="tx1"/>
                </a:solidFill>
                <a:effectLst/>
                <a:latin typeface="+mn-lt"/>
                <a:ea typeface="+mn-ea"/>
                <a:cs typeface="+mn-cs"/>
              </a:rPr>
              <a:t>公顷是绝对精确的物理面积。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Google Earth Engine</a:t>
            </a:r>
          </a:p>
          <a:p>
            <a:r>
              <a:rPr lang="zh-CN" altLang="en-US" sz="1200" kern="1200" dirty="0">
                <a:solidFill>
                  <a:schemeClr val="tx1"/>
                </a:solidFill>
                <a:effectLst/>
                <a:latin typeface="+mn-lt"/>
                <a:ea typeface="+mn-ea"/>
                <a:cs typeface="+mn-cs"/>
              </a:rPr>
              <a:t>谷歌地球引擎。你用来调取卫星数据的云平台。证明你没用花钱的商业软件。</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NDVI</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Normalized Difference Vegetation Index</a:t>
            </a:r>
          </a:p>
          <a:p>
            <a:r>
              <a:rPr lang="zh-CN" altLang="en-US" sz="1200" kern="1200" dirty="0">
                <a:solidFill>
                  <a:schemeClr val="tx1"/>
                </a:solidFill>
                <a:effectLst/>
                <a:latin typeface="+mn-lt"/>
                <a:ea typeface="+mn-ea"/>
                <a:cs typeface="+mn-cs"/>
              </a:rPr>
              <a:t>归一化植被指数。通过测量植物反射的近红外光来判断植物死活的指标。你在图表里展示的那根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暴跌的红线</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LST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Land Surface Temperature</a:t>
            </a:r>
          </a:p>
          <a:p>
            <a:r>
              <a:rPr lang="zh-CN" altLang="en-US" sz="1200" kern="1200" dirty="0">
                <a:solidFill>
                  <a:schemeClr val="tx1"/>
                </a:solidFill>
                <a:effectLst/>
                <a:latin typeface="+mn-lt"/>
                <a:ea typeface="+mn-ea"/>
                <a:cs typeface="+mn-cs"/>
              </a:rPr>
              <a:t>地表温度。你用来证明</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物理升温了</a:t>
            </a:r>
            <a:r>
              <a:rPr lang="en-GB"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度</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的最终指标。</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TIRS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Thermal Infrared Sensor</a:t>
            </a:r>
          </a:p>
          <a:p>
            <a:r>
              <a:rPr lang="zh-CN" altLang="en-US" sz="1200" kern="1200" dirty="0">
                <a:solidFill>
                  <a:schemeClr val="tx1"/>
                </a:solidFill>
                <a:effectLst/>
                <a:latin typeface="+mn-lt"/>
                <a:ea typeface="+mn-ea"/>
                <a:cs typeface="+mn-cs"/>
              </a:rPr>
              <a:t>热红外传感器。</a:t>
            </a:r>
            <a:r>
              <a:rPr lang="en-GB" sz="1200" kern="1200" dirty="0">
                <a:solidFill>
                  <a:schemeClr val="tx1"/>
                </a:solidFill>
                <a:effectLst/>
                <a:latin typeface="+mn-lt"/>
                <a:ea typeface="+mn-ea"/>
                <a:cs typeface="+mn-cs"/>
              </a:rPr>
              <a:t>Landsat 8</a:t>
            </a:r>
            <a:r>
              <a:rPr lang="zh-CN" altLang="en-US" sz="1200" kern="1200" dirty="0">
                <a:solidFill>
                  <a:schemeClr val="tx1"/>
                </a:solidFill>
                <a:effectLst/>
                <a:latin typeface="+mn-lt"/>
                <a:ea typeface="+mn-ea"/>
                <a:cs typeface="+mn-cs"/>
              </a:rPr>
              <a:t>卫星上用来测温的镜头。</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QA60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GEE Cloud-Masking Band</a:t>
            </a:r>
          </a:p>
          <a:p>
            <a:r>
              <a:rPr lang="zh-CN" altLang="en-US" sz="1200" kern="1200" dirty="0">
                <a:solidFill>
                  <a:schemeClr val="tx1"/>
                </a:solidFill>
                <a:effectLst/>
                <a:latin typeface="+mn-lt"/>
                <a:ea typeface="+mn-ea"/>
                <a:cs typeface="+mn-cs"/>
              </a:rPr>
              <a:t>卫星去云掩膜。</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如果老师问</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英国经常下雨，卫星图准吗？</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你回答：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我写了算法调用</a:t>
            </a:r>
            <a:r>
              <a:rPr lang="en-GB" sz="1200" kern="1200" dirty="0">
                <a:solidFill>
                  <a:schemeClr val="tx1"/>
                </a:solidFill>
                <a:effectLst/>
                <a:latin typeface="+mn-lt"/>
                <a:ea typeface="+mn-ea"/>
                <a:cs typeface="+mn-cs"/>
              </a:rPr>
              <a:t> QA60 </a:t>
            </a:r>
            <a:r>
              <a:rPr lang="zh-CN" altLang="en-US" sz="1200" kern="1200" dirty="0">
                <a:solidFill>
                  <a:schemeClr val="tx1"/>
                </a:solidFill>
                <a:effectLst/>
                <a:latin typeface="+mn-lt"/>
                <a:ea typeface="+mn-ea"/>
                <a:cs typeface="+mn-cs"/>
              </a:rPr>
              <a:t>位运算，把所有带云层的错误数据全部过滤掉了，所以趋势线是极其准确的。</a:t>
            </a:r>
            <a:r>
              <a:rPr lang="en-GB" sz="1200" kern="1200" dirty="0">
                <a:solidFill>
                  <a:schemeClr val="tx1"/>
                </a:solidFill>
                <a:effectLst/>
                <a:latin typeface="+mn-lt"/>
                <a:ea typeface="+mn-ea"/>
                <a:cs typeface="+mn-cs"/>
              </a:rPr>
              <a:t>”</a:t>
            </a:r>
          </a:p>
          <a:p>
            <a:endParaRPr lang="en-US" dirty="0"/>
          </a:p>
          <a:p>
            <a:endParaRPr lang="en-US" dirty="0"/>
          </a:p>
          <a:p>
            <a:r>
              <a:rPr lang="zh-CN" altLang="en-US" sz="1200" i="1" kern="1200" dirty="0">
                <a:solidFill>
                  <a:schemeClr val="tx1"/>
                </a:solidFill>
                <a:effectLst/>
                <a:latin typeface="+mn-lt"/>
                <a:ea typeface="+mn-ea"/>
                <a:cs typeface="+mn-cs"/>
              </a:rPr>
              <a:t>这是一份按英国研究型</a:t>
            </a:r>
            <a:r>
              <a:rPr lang="en-GB" sz="1200" i="1" kern="1200" dirty="0">
                <a:solidFill>
                  <a:schemeClr val="tx1"/>
                </a:solidFill>
                <a:effectLst/>
                <a:latin typeface="+mn-lt"/>
                <a:ea typeface="+mn-ea"/>
                <a:cs typeface="+mn-cs"/>
              </a:rPr>
              <a:t> Presentation </a:t>
            </a:r>
            <a:r>
              <a:rPr lang="zh-CN" altLang="en-US" sz="1200" i="1" kern="1200" dirty="0">
                <a:solidFill>
                  <a:schemeClr val="tx1"/>
                </a:solidFill>
                <a:effectLst/>
                <a:latin typeface="+mn-lt"/>
                <a:ea typeface="+mn-ea"/>
                <a:cs typeface="+mn-cs"/>
              </a:rPr>
              <a:t>常见提问逻辑整理的系统化</a:t>
            </a:r>
            <a:r>
              <a:rPr lang="en-GB" sz="1200" i="1" kern="1200" dirty="0">
                <a:solidFill>
                  <a:schemeClr val="tx1"/>
                </a:solidFill>
                <a:effectLst/>
                <a:latin typeface="+mn-lt"/>
                <a:ea typeface="+mn-ea"/>
                <a:cs typeface="+mn-cs"/>
              </a:rPr>
              <a:t> Q&amp;A </a:t>
            </a:r>
            <a:r>
              <a:rPr lang="zh-CN" altLang="en-US" sz="1200" i="1" kern="1200" dirty="0">
                <a:solidFill>
                  <a:schemeClr val="tx1"/>
                </a:solidFill>
                <a:effectLst/>
                <a:latin typeface="+mn-lt"/>
                <a:ea typeface="+mn-ea"/>
                <a:cs typeface="+mn-cs"/>
              </a:rPr>
              <a:t>清单，覆盖了绝大多数可能的问题，并附有提取的核心</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关键词</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供临场抓取。</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一、研究问题与研究动机</a:t>
            </a:r>
            <a:r>
              <a:rPr lang="en-GB" sz="1200" b="1" kern="1200" dirty="0">
                <a:solidFill>
                  <a:schemeClr val="tx1"/>
                </a:solidFill>
                <a:effectLst/>
                <a:latin typeface="+mn-lt"/>
                <a:ea typeface="+mn-ea"/>
                <a:cs typeface="+mn-cs"/>
              </a:rPr>
              <a:t> (Research Questions &amp; Motivations)</a:t>
            </a:r>
          </a:p>
          <a:p>
            <a:r>
              <a:rPr lang="en-GB" sz="1200" b="1" kern="1200" dirty="0">
                <a:solidFill>
                  <a:schemeClr val="tx1"/>
                </a:solidFill>
                <a:effectLst/>
                <a:latin typeface="+mn-lt"/>
                <a:ea typeface="+mn-ea"/>
                <a:cs typeface="+mn-cs"/>
              </a:rPr>
              <a:t>1. Why did you choose virtual production as the focus of your research?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为什么选择研究虚拟制作？</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Virtual production is widely promoted as a decarbonisation strategy within the film industry, particularly for reducing travel-related emissions. However, these narratives often overlook the infrastructure required to support such technologies. This project therefore examines the spatial and infrastructural dimensions behind the idea of “immaterial” digital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虚拟制作被广泛宣传为一种低碳解决方案（减少航空排放）。但这种叙述忽略了其背后的基础设施需求。我想从空间和基础设施角度，重新审视这种</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数字去物质化</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的叙事。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Virtual production, decarbonisation narrative, infrastructure.</a:t>
            </a:r>
          </a:p>
          <a:p>
            <a:r>
              <a:rPr lang="en-GB" sz="1200" b="1" kern="1200" dirty="0">
                <a:solidFill>
                  <a:schemeClr val="tx1"/>
                </a:solidFill>
                <a:effectLst/>
                <a:latin typeface="+mn-lt"/>
                <a:ea typeface="+mn-ea"/>
                <a:cs typeface="+mn-cs"/>
              </a:rPr>
              <a:t>2. Why did you select Shepperton Studios as your case study?</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a:t>
            </a:r>
            <a:r>
              <a:rPr lang="en-GB" sz="1200" u="none" strike="noStrike" kern="1200" dirty="0">
                <a:solidFill>
                  <a:schemeClr val="tx1"/>
                </a:solidFill>
                <a:effectLst/>
                <a:latin typeface="+mn-lt"/>
                <a:ea typeface="+mn-ea"/>
                <a:cs typeface="+mn-cs"/>
              </a:rPr>
              <a:t> Shepperton Studios </a:t>
            </a:r>
            <a:r>
              <a:rPr lang="zh-CN" altLang="en-US" sz="1200" u="none" strike="noStrike" kern="1200" dirty="0">
                <a:solidFill>
                  <a:schemeClr val="tx1"/>
                </a:solidFill>
                <a:effectLst/>
                <a:latin typeface="+mn-lt"/>
                <a:ea typeface="+mn-ea"/>
                <a:cs typeface="+mn-cs"/>
              </a:rPr>
              <a:t>这个案例？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Shepperton represents one of the largest recent studio expansions in the UK and hosts many large-scale platform productions. This makes it a relevant and archetypal case for examining the infrastructure supporting virtual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它是英国近年来规模最大的影视基地扩建项目之一，也是大型流媒体的重镇。它是研究</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基础设施的完美代表。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Case study, studio expansion, platform productions.</a:t>
            </a:r>
          </a:p>
          <a:p>
            <a:r>
              <a:rPr lang="zh-CN" altLang="en-US" sz="1200" b="1" kern="1200" dirty="0">
                <a:solidFill>
                  <a:schemeClr val="tx1"/>
                </a:solidFill>
                <a:effectLst/>
                <a:latin typeface="+mn-lt"/>
                <a:ea typeface="+mn-ea"/>
                <a:cs typeface="+mn-cs"/>
              </a:rPr>
              <a:t>二、理论框架</a:t>
            </a:r>
            <a:r>
              <a:rPr lang="en-GB" sz="1200" b="1" kern="1200" dirty="0">
                <a:solidFill>
                  <a:schemeClr val="tx1"/>
                </a:solidFill>
                <a:effectLst/>
                <a:latin typeface="+mn-lt"/>
                <a:ea typeface="+mn-ea"/>
                <a:cs typeface="+mn-cs"/>
              </a:rPr>
              <a:t> (Theoretical Framework)</a:t>
            </a:r>
          </a:p>
          <a:p>
            <a:r>
              <a:rPr lang="en-GB" sz="1200" b="1" kern="1200" dirty="0">
                <a:solidFill>
                  <a:schemeClr val="tx1"/>
                </a:solidFill>
                <a:effectLst/>
                <a:latin typeface="+mn-lt"/>
                <a:ea typeface="+mn-ea"/>
                <a:cs typeface="+mn-cs"/>
              </a:rPr>
              <a:t>3. Why did you use a Marxist political economy approach?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为什么采用马克思主义政治经济学？</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This framework highlights that technological systems are embedded within material infrastructures and processes of capital accumulation. It helps explain why digital technologies often lead to new forms of spatial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该理论强调技术系统始终嵌入在物质基建与资本积累中。它能完美解释为什么</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数字技术</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的发展往往伴随着</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物理空间</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的扩张。</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Political economy, capital accumulation, material infrastructure.</a:t>
            </a:r>
          </a:p>
          <a:p>
            <a:r>
              <a:rPr lang="en-GB" sz="1200" b="1" kern="1200" dirty="0">
                <a:solidFill>
                  <a:schemeClr val="tx1"/>
                </a:solidFill>
                <a:effectLst/>
                <a:latin typeface="+mn-lt"/>
                <a:ea typeface="+mn-ea"/>
                <a:cs typeface="+mn-cs"/>
              </a:rPr>
              <a:t>4. What do you mean by the "Digital Spatial Fix"?</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什么是数字空间修复？</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digital spatial fix describes how capital resolves technological or economic constraints through spatial expansion, often in the form of new infrastructures such as data centres, studios, or energy networks.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资本通过新的空间基础设施（数据中心、影棚）来解决其经济或技术矛盾的过程。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Spatial fix, infrastructure expansion, capital.</a:t>
            </a:r>
          </a:p>
          <a:p>
            <a:r>
              <a:rPr lang="zh-CN" altLang="en-US" sz="1200" b="1" kern="1200" dirty="0">
                <a:solidFill>
                  <a:schemeClr val="tx1"/>
                </a:solidFill>
                <a:effectLst/>
                <a:latin typeface="+mn-lt"/>
                <a:ea typeface="+mn-ea"/>
                <a:cs typeface="+mn-cs"/>
              </a:rPr>
              <a:t>三、方法论</a:t>
            </a:r>
            <a:r>
              <a:rPr lang="en-GB" sz="1200" b="1" kern="1200" dirty="0">
                <a:solidFill>
                  <a:schemeClr val="tx1"/>
                </a:solidFill>
                <a:effectLst/>
                <a:latin typeface="+mn-lt"/>
                <a:ea typeface="+mn-ea"/>
                <a:cs typeface="+mn-cs"/>
              </a:rPr>
              <a:t> (Methodology)</a:t>
            </a:r>
          </a:p>
          <a:p>
            <a:r>
              <a:rPr lang="en-GB" sz="1200" b="1" kern="1200" dirty="0">
                <a:solidFill>
                  <a:schemeClr val="tx1"/>
                </a:solidFill>
                <a:effectLst/>
                <a:latin typeface="+mn-lt"/>
                <a:ea typeface="+mn-ea"/>
                <a:cs typeface="+mn-cs"/>
              </a:rPr>
              <a:t>5. What do you mean by a "Forensic Spatial Audit"?</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什么是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法医空间审计</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It refers to reconstructing infrastructure systems using spatial evidence. GIS data and mapping indicators allow us to rigorously analyse the material footprint of industrial systems, acting like an independent investigation.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通过</a:t>
            </a:r>
            <a:r>
              <a:rPr lang="en-GB" sz="1200" kern="1200" dirty="0">
                <a:solidFill>
                  <a:schemeClr val="tx1"/>
                </a:solidFill>
                <a:effectLst/>
                <a:latin typeface="+mn-lt"/>
                <a:ea typeface="+mn-ea"/>
                <a:cs typeface="+mn-cs"/>
              </a:rPr>
              <a:t> GIS </a:t>
            </a:r>
            <a:r>
              <a:rPr lang="zh-CN" altLang="en-US" sz="1200" kern="1200" dirty="0">
                <a:solidFill>
                  <a:schemeClr val="tx1"/>
                </a:solidFill>
                <a:effectLst/>
                <a:latin typeface="+mn-lt"/>
                <a:ea typeface="+mn-ea"/>
                <a:cs typeface="+mn-cs"/>
              </a:rPr>
              <a:t>数据、地图和空间指标，像法医找证据一样，重建并推断某一产业背后的真实基础设施结构。</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Spatial evidence, GIS, independent investigation.</a:t>
            </a:r>
          </a:p>
          <a:p>
            <a:r>
              <a:rPr lang="en-GB" sz="1200" b="1" kern="1200" dirty="0">
                <a:solidFill>
                  <a:schemeClr val="tx1"/>
                </a:solidFill>
                <a:effectLst/>
                <a:latin typeface="+mn-lt"/>
                <a:ea typeface="+mn-ea"/>
                <a:cs typeface="+mn-cs"/>
              </a:rPr>
              <a:t>6. Why did you use OpenStreetMap (OSM) data?</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为什么使用</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数据？</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OpenStreetMap provides accessible, uncensored, and regularly updated spatial data. Although it is crowdsourced, studies show its accuracy is typically above 85%, making it highly reliable for this scale of auditing.</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提供了公开、未被企业公关过滤的空间数据。虽然是众包，但学术证明其准确率通常在</a:t>
            </a:r>
            <a:r>
              <a:rPr lang="en-GB" sz="1200" kern="1200" dirty="0">
                <a:solidFill>
                  <a:schemeClr val="tx1"/>
                </a:solidFill>
                <a:effectLst/>
                <a:latin typeface="+mn-lt"/>
                <a:ea typeface="+mn-ea"/>
                <a:cs typeface="+mn-cs"/>
              </a:rPr>
              <a:t> 85% </a:t>
            </a:r>
            <a:r>
              <a:rPr lang="zh-CN" altLang="en-US" sz="1200" kern="1200" dirty="0">
                <a:solidFill>
                  <a:schemeClr val="tx1"/>
                </a:solidFill>
                <a:effectLst/>
                <a:latin typeface="+mn-lt"/>
                <a:ea typeface="+mn-ea"/>
                <a:cs typeface="+mn-cs"/>
              </a:rPr>
              <a:t>以上。</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Open data, crowdsourced mapping, high accuracy.</a:t>
            </a:r>
          </a:p>
          <a:p>
            <a:r>
              <a:rPr lang="en-GB" sz="1200" b="1" kern="1200" dirty="0">
                <a:solidFill>
                  <a:schemeClr val="tx1"/>
                </a:solidFill>
                <a:effectLst/>
                <a:latin typeface="+mn-lt"/>
                <a:ea typeface="+mn-ea"/>
                <a:cs typeface="+mn-cs"/>
              </a:rPr>
              <a:t>7. Can your methodology be replicated elsewhere?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你的方法能否在其他地方应用？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Yes, absolutely. Since the methodology relies on open spatial datasets and global satellite imagery (like Earth Engine), it can be seamlessly applied to other media infrastructure sites around the world.</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完全可以。因为全部依赖开源空间数据和卫星图，可以直接套用到全球任何一个影视基地。</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Replicability, methodology, open data.</a:t>
            </a:r>
          </a:p>
          <a:p>
            <a:r>
              <a:rPr lang="zh-CN" altLang="en-US" sz="1200" b="1" kern="1200" dirty="0">
                <a:solidFill>
                  <a:schemeClr val="tx1"/>
                </a:solidFill>
                <a:effectLst/>
                <a:latin typeface="+mn-lt"/>
                <a:ea typeface="+mn-ea"/>
                <a:cs typeface="+mn-cs"/>
              </a:rPr>
              <a:t>四、数据与证据</a:t>
            </a:r>
            <a:r>
              <a:rPr lang="en-GB" sz="1200" b="1" kern="1200" dirty="0">
                <a:solidFill>
                  <a:schemeClr val="tx1"/>
                </a:solidFill>
                <a:effectLst/>
                <a:latin typeface="+mn-lt"/>
                <a:ea typeface="+mn-ea"/>
                <a:cs typeface="+mn-cs"/>
              </a:rPr>
              <a:t> (Data &amp; Evidence)</a:t>
            </a:r>
          </a:p>
          <a:p>
            <a:r>
              <a:rPr lang="en-GB" sz="1200" b="1" kern="1200" dirty="0">
                <a:solidFill>
                  <a:schemeClr val="tx1"/>
                </a:solidFill>
                <a:effectLst/>
                <a:latin typeface="+mn-lt"/>
                <a:ea typeface="+mn-ea"/>
                <a:cs typeface="+mn-cs"/>
              </a:rPr>
              <a:t>8. How can you attribute this massive expansion </a:t>
            </a:r>
            <a:r>
              <a:rPr lang="en-GB" sz="1200" b="1" i="1" kern="1200" dirty="0">
                <a:solidFill>
                  <a:schemeClr val="tx1"/>
                </a:solidFill>
                <a:effectLst/>
                <a:latin typeface="+mn-lt"/>
                <a:ea typeface="+mn-ea"/>
                <a:cs typeface="+mn-cs"/>
              </a:rPr>
              <a:t>specifically</a:t>
            </a:r>
            <a:r>
              <a:rPr lang="en-GB" sz="1200" b="1" kern="1200" dirty="0">
                <a:solidFill>
                  <a:schemeClr val="tx1"/>
                </a:solidFill>
                <a:effectLst/>
                <a:latin typeface="+mn-lt"/>
                <a:ea typeface="+mn-ea"/>
                <a:cs typeface="+mn-cs"/>
              </a:rPr>
              <a:t> to virtual production?</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这些基础设施的扩建是否一定（</a:t>
            </a:r>
            <a:r>
              <a:rPr lang="en-GB" sz="1200" u="none" strike="noStrike" kern="1200" dirty="0">
                <a:solidFill>
                  <a:schemeClr val="tx1"/>
                </a:solidFill>
                <a:effectLst/>
                <a:latin typeface="+mn-lt"/>
                <a:ea typeface="+mn-ea"/>
                <a:cs typeface="+mn-cs"/>
              </a:rPr>
              <a:t>100%</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造成的？</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study does not claim that all expansion is caused </a:t>
            </a:r>
            <a:r>
              <a:rPr lang="en-GB" sz="1200" i="1" u="none" strike="noStrike" kern="1200" dirty="0">
                <a:solidFill>
                  <a:schemeClr val="tx1"/>
                </a:solidFill>
                <a:effectLst/>
                <a:latin typeface="+mn-lt"/>
                <a:ea typeface="+mn-ea"/>
                <a:cs typeface="+mn-cs"/>
              </a:rPr>
              <a:t>exclusively</a:t>
            </a:r>
            <a:r>
              <a:rPr lang="en-GB" sz="1200" u="none" strike="noStrike" kern="1200" dirty="0">
                <a:solidFill>
                  <a:schemeClr val="tx1"/>
                </a:solidFill>
                <a:effectLst/>
                <a:latin typeface="+mn-lt"/>
                <a:ea typeface="+mn-ea"/>
                <a:cs typeface="+mn-cs"/>
              </a:rPr>
              <a:t> by VP. Instead, it suggests that intensive digital production requires massive infrastructure capacity. The discourse of VP is used to legally justify and create structural connections for this adoption and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我并不是说</a:t>
            </a:r>
            <a:r>
              <a:rPr lang="en-GB" sz="1200" u="none" strike="noStrike" kern="1200" dirty="0">
                <a:solidFill>
                  <a:schemeClr val="tx1"/>
                </a:solidFill>
                <a:effectLst/>
                <a:latin typeface="+mn-lt"/>
                <a:ea typeface="+mn-ea"/>
                <a:cs typeface="+mn-cs"/>
              </a:rPr>
              <a:t> 100% </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引起的。而是指出高强度数字制作</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需要</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庞大的基建容量，</a:t>
            </a:r>
            <a:r>
              <a:rPr lang="en-GB" sz="1200" u="none" strike="noStrike" kern="1200" dirty="0">
                <a:solidFill>
                  <a:schemeClr val="tx1"/>
                </a:solidFill>
                <a:effectLst/>
                <a:latin typeface="+mn-lt"/>
                <a:ea typeface="+mn-ea"/>
                <a:cs typeface="+mn-cs"/>
              </a:rPr>
              <a:t>VP </a:t>
            </a:r>
            <a:r>
              <a:rPr lang="zh-CN" altLang="en-US" sz="1200" u="none" strike="noStrike" kern="1200" dirty="0">
                <a:solidFill>
                  <a:schemeClr val="tx1"/>
                </a:solidFill>
                <a:effectLst/>
                <a:latin typeface="+mn-lt"/>
                <a:ea typeface="+mn-ea"/>
                <a:cs typeface="+mn-cs"/>
              </a:rPr>
              <a:t>的推广与基建扩建之间存在深刻的</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结构性关联</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Attribution, structural relationship, capacity.</a:t>
            </a:r>
          </a:p>
          <a:p>
            <a:r>
              <a:rPr lang="en-GB" sz="1200" b="1" kern="1200" dirty="0">
                <a:solidFill>
                  <a:schemeClr val="tx1"/>
                </a:solidFill>
                <a:effectLst/>
                <a:latin typeface="+mn-lt"/>
                <a:ea typeface="+mn-ea"/>
                <a:cs typeface="+mn-cs"/>
              </a:rPr>
              <a:t>9. Why did you use NDVI?</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为什么使用</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归一化植被指数</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NDVI is a widely used, rigorous remote sensing indicator that measures vegetation health and biomass. It is perfectly suited for analysing ecological death caused by land-use transformation.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是遥感中最常用的植被指数，能最直观地衡量植被健康和生物量变化。</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NDVI, vegetation index, remote sensing.</a:t>
            </a:r>
          </a:p>
          <a:p>
            <a:r>
              <a:rPr lang="zh-CN" altLang="en-US" sz="1200" b="1" kern="1200" dirty="0">
                <a:solidFill>
                  <a:schemeClr val="tx1"/>
                </a:solidFill>
                <a:effectLst/>
                <a:latin typeface="+mn-lt"/>
                <a:ea typeface="+mn-ea"/>
                <a:cs typeface="+mn-cs"/>
              </a:rPr>
              <a:t>五、结果解释</a:t>
            </a:r>
            <a:r>
              <a:rPr lang="en-GB" sz="1200" b="1" kern="1200" dirty="0">
                <a:solidFill>
                  <a:schemeClr val="tx1"/>
                </a:solidFill>
                <a:effectLst/>
                <a:latin typeface="+mn-lt"/>
                <a:ea typeface="+mn-ea"/>
                <a:cs typeface="+mn-cs"/>
              </a:rPr>
              <a:t> (Interpreting Results)</a:t>
            </a:r>
          </a:p>
          <a:p>
            <a:r>
              <a:rPr lang="en-GB" sz="1200" b="1" kern="1200" dirty="0">
                <a:solidFill>
                  <a:schemeClr val="tx1"/>
                </a:solidFill>
                <a:effectLst/>
                <a:latin typeface="+mn-lt"/>
                <a:ea typeface="+mn-ea"/>
                <a:cs typeface="+mn-cs"/>
              </a:rPr>
              <a:t>10. Could the temperature increase simply be due to general climate change or urbanisation?</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温度上升是否只是因为全球变暖？</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While global climate trends affect temperatures broadly, my analysis uses a localised spatial comparison. The +5°C spike is highly specific to the transformed sprawl zone, indicating it is directly associated with the local land-cover transformation and server exhaust.</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气候变化是全局的，但我关注的是特定区域内突兀的</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局部变化</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。这绝对与当地沥青覆盖和热岛效应直接相关。</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Localised change, land cover, urban heat island.</a:t>
            </a:r>
          </a:p>
          <a:p>
            <a:r>
              <a:rPr lang="zh-CN" altLang="en-US" sz="1200" b="1" kern="1200" dirty="0">
                <a:solidFill>
                  <a:schemeClr val="tx1"/>
                </a:solidFill>
                <a:effectLst/>
                <a:latin typeface="+mn-lt"/>
                <a:ea typeface="+mn-ea"/>
                <a:cs typeface="+mn-cs"/>
              </a:rPr>
              <a:t>六、批评与限制</a:t>
            </a:r>
            <a:r>
              <a:rPr lang="en-GB" sz="1200" b="1" kern="1200" dirty="0">
                <a:solidFill>
                  <a:schemeClr val="tx1"/>
                </a:solidFill>
                <a:effectLst/>
                <a:latin typeface="+mn-lt"/>
                <a:ea typeface="+mn-ea"/>
                <a:cs typeface="+mn-cs"/>
              </a:rPr>
              <a:t> (Critiques &amp; Limitations)</a:t>
            </a:r>
          </a:p>
          <a:p>
            <a:r>
              <a:rPr lang="en-GB" sz="1200" b="1" kern="1200" dirty="0">
                <a:solidFill>
                  <a:schemeClr val="tx1"/>
                </a:solidFill>
                <a:effectLst/>
                <a:latin typeface="+mn-lt"/>
                <a:ea typeface="+mn-ea"/>
                <a:cs typeface="+mn-cs"/>
              </a:rPr>
              <a:t>11. What are the limitations of your study?</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你的研究有哪些局限？</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The main limitations include: 1) reliance on crowdsourced spatial data (OSM), 2) satellite analysis shows correlation but cannot definitively prove isolated direct causation, and 3) the study currently focuses on a single case study (Shepperton).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1. OSM </a:t>
            </a:r>
            <a:r>
              <a:rPr lang="zh-CN" altLang="en-US" sz="1200" kern="1200" dirty="0">
                <a:solidFill>
                  <a:schemeClr val="tx1"/>
                </a:solidFill>
                <a:effectLst/>
                <a:latin typeface="+mn-lt"/>
                <a:ea typeface="+mn-ea"/>
                <a:cs typeface="+mn-cs"/>
              </a:rPr>
              <a:t>是众包数据；</a:t>
            </a:r>
            <a:r>
              <a:rPr lang="en-GB" sz="1200" kern="1200" dirty="0">
                <a:solidFill>
                  <a:schemeClr val="tx1"/>
                </a:solidFill>
                <a:effectLst/>
                <a:latin typeface="+mn-lt"/>
                <a:ea typeface="+mn-ea"/>
                <a:cs typeface="+mn-cs"/>
              </a:rPr>
              <a:t>2. </a:t>
            </a:r>
            <a:r>
              <a:rPr lang="zh-CN" altLang="en-US" sz="1200" kern="1200" dirty="0">
                <a:solidFill>
                  <a:schemeClr val="tx1"/>
                </a:solidFill>
                <a:effectLst/>
                <a:latin typeface="+mn-lt"/>
                <a:ea typeface="+mn-ea"/>
                <a:cs typeface="+mn-cs"/>
              </a:rPr>
              <a:t>卫星数据无法完美证明单一因果关系；</a:t>
            </a:r>
            <a:r>
              <a:rPr lang="en-GB" sz="1200" kern="1200" dirty="0">
                <a:solidFill>
                  <a:schemeClr val="tx1"/>
                </a:solidFill>
                <a:effectLst/>
                <a:latin typeface="+mn-lt"/>
                <a:ea typeface="+mn-ea"/>
                <a:cs typeface="+mn-cs"/>
              </a:rPr>
              <a:t>3. </a:t>
            </a:r>
            <a:r>
              <a:rPr lang="zh-CN" altLang="en-US" sz="1200" kern="1200" dirty="0">
                <a:solidFill>
                  <a:schemeClr val="tx1"/>
                </a:solidFill>
                <a:effectLst/>
                <a:latin typeface="+mn-lt"/>
                <a:ea typeface="+mn-ea"/>
                <a:cs typeface="+mn-cs"/>
              </a:rPr>
              <a:t>目前只分析了单一案例。</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Limitations, data reliability, causation, single case.</a:t>
            </a:r>
          </a:p>
          <a:p>
            <a:r>
              <a:rPr lang="zh-CN" altLang="en-US" sz="1200" b="1" kern="1200" dirty="0">
                <a:solidFill>
                  <a:schemeClr val="tx1"/>
                </a:solidFill>
                <a:effectLst/>
                <a:latin typeface="+mn-lt"/>
                <a:ea typeface="+mn-ea"/>
                <a:cs typeface="+mn-cs"/>
              </a:rPr>
              <a:t>七、扩展问题</a:t>
            </a:r>
            <a:r>
              <a:rPr lang="en-GB" sz="1200" b="1" kern="1200" dirty="0">
                <a:solidFill>
                  <a:schemeClr val="tx1"/>
                </a:solidFill>
                <a:effectLst/>
                <a:latin typeface="+mn-lt"/>
                <a:ea typeface="+mn-ea"/>
                <a:cs typeface="+mn-cs"/>
              </a:rPr>
              <a:t> (Future Directions)</a:t>
            </a:r>
          </a:p>
          <a:p>
            <a:r>
              <a:rPr lang="en-GB" sz="1200" b="1" kern="1200" dirty="0">
                <a:solidFill>
                  <a:schemeClr val="tx1"/>
                </a:solidFill>
                <a:effectLst/>
                <a:latin typeface="+mn-lt"/>
                <a:ea typeface="+mn-ea"/>
                <a:cs typeface="+mn-cs"/>
              </a:rPr>
              <a:t>12. What could future research explore?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你的研究未来有什么方向？</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Future work could integrate live energy consumption data, real-time traffic flows, and long-term environmental monitoring across multiple production hubs.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结合真实能源消耗数据、交通流量数据，并在多个影棚进行更长期的监测。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Future research, energy data, long-term monitoring.</a:t>
            </a: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八、高危问题应急指南</a:t>
            </a:r>
            <a:r>
              <a:rPr lang="en-GB" sz="1200" b="1" kern="1200" dirty="0">
                <a:solidFill>
                  <a:schemeClr val="tx1"/>
                </a:solidFill>
                <a:effectLst/>
                <a:latin typeface="+mn-lt"/>
                <a:ea typeface="+mn-ea"/>
                <a:cs typeface="+mn-cs"/>
              </a:rPr>
              <a:t> (Survival Guide for Tough Questions)</a:t>
            </a:r>
          </a:p>
          <a:p>
            <a:r>
              <a:rPr lang="en-GB" sz="1200" b="1" kern="1200" dirty="0">
                <a:solidFill>
                  <a:schemeClr val="tx1"/>
                </a:solidFill>
                <a:effectLst/>
                <a:latin typeface="+mn-lt"/>
                <a:ea typeface="+mn-ea"/>
                <a:cs typeface="+mn-cs"/>
              </a:rPr>
              <a:t>1. The "Anti-Tech" Trap (</a:t>
            </a:r>
            <a:r>
              <a:rPr lang="zh-CN" altLang="en-US" sz="1200" b="1" kern="1200" dirty="0">
                <a:solidFill>
                  <a:schemeClr val="tx1"/>
                </a:solidFill>
                <a:effectLst/>
                <a:latin typeface="+mn-lt"/>
                <a:ea typeface="+mn-ea"/>
                <a:cs typeface="+mn-cs"/>
              </a:rPr>
              <a:t>如果你遇到技术乐观派老师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Are you fundamentally against Virtual Production technology? Is your study just anti-tech?</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"No, not at all. My research focuses on the </a:t>
            </a:r>
            <a:r>
              <a:rPr lang="en-GB" sz="1200" i="1" u="none" strike="noStrike" kern="1200" dirty="0">
                <a:solidFill>
                  <a:schemeClr val="tx1"/>
                </a:solidFill>
                <a:effectLst/>
                <a:latin typeface="+mn-lt"/>
                <a:ea typeface="+mn-ea"/>
                <a:cs typeface="+mn-cs"/>
              </a:rPr>
              <a:t>infrastructural impacts</a:t>
            </a:r>
            <a:r>
              <a:rPr lang="en-GB" sz="1200" u="none" strike="noStrike" kern="1200" dirty="0">
                <a:solidFill>
                  <a:schemeClr val="tx1"/>
                </a:solidFill>
                <a:effectLst/>
                <a:latin typeface="+mn-lt"/>
                <a:ea typeface="+mn-ea"/>
                <a:cs typeface="+mn-cs"/>
              </a:rPr>
              <a:t> and the governance framework of the technology, not denying the technological innovation itself. Virtual production has massive potential, but it needs transparent ecological accounting."</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我不反技术。我关注的是它的基建影响和监管漏洞，技术很好，但需要透明的生态核算。</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2. The Disciplinary Question (</a:t>
            </a:r>
            <a:r>
              <a:rPr lang="zh-CN" altLang="en-US" sz="1200" b="1" kern="1200" dirty="0">
                <a:solidFill>
                  <a:schemeClr val="tx1"/>
                </a:solidFill>
                <a:effectLst/>
                <a:latin typeface="+mn-lt"/>
                <a:ea typeface="+mn-ea"/>
                <a:cs typeface="+mn-cs"/>
              </a:rPr>
              <a:t>关于你的专业定位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Which discipline does your research actually belong to? Is this Geography or Media Studies?</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"This research sits intentionally at the intersection of media studies, political economy, and spatial data analysis. It uses geographical tools to answer media infrastructure questions."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交叉学科。用地理学的工具（卫星），回答媒体基建的问题。</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3. 🌟 The Ultimate Fallback Sentence (</a:t>
            </a:r>
            <a:r>
              <a:rPr lang="zh-CN" altLang="en-US" sz="1200" b="1" kern="1200" dirty="0">
                <a:solidFill>
                  <a:schemeClr val="tx1"/>
                </a:solidFill>
                <a:effectLst/>
                <a:latin typeface="+mn-lt"/>
                <a:ea typeface="+mn-ea"/>
                <a:cs typeface="+mn-cs"/>
              </a:rPr>
              <a:t>最强万能救场句</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如果老师问了一个极其偏门、你完全不懂的数据或理论，保持微笑，直视对方眼睛，并用极其自信的语气说出这句：</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"That is a very insightful question. While my current study focuses primarily on the spatial and infrastructural dimensions, it would certainly be a highly valuable variable to explore in future, expanded research."</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中文</a:t>
            </a:r>
            <a:r>
              <a:rPr lang="en-GB" sz="1200" i="1" kern="1200" dirty="0">
                <a:solidFill>
                  <a:schemeClr val="tx1"/>
                </a:solidFill>
                <a:effectLst/>
                <a:latin typeface="+mn-lt"/>
                <a:ea typeface="+mn-ea"/>
                <a:cs typeface="+mn-cs"/>
              </a:rPr>
              <a:t>: </a:t>
            </a:r>
            <a:r>
              <a:rPr lang="zh-CN" altLang="en-US" sz="1200" i="1" kern="1200" dirty="0">
                <a:solidFill>
                  <a:schemeClr val="tx1"/>
                </a:solidFill>
                <a:effectLst/>
                <a:latin typeface="+mn-lt"/>
                <a:ea typeface="+mn-ea"/>
                <a:cs typeface="+mn-cs"/>
              </a:rPr>
              <a:t>这是一个非常有洞见的问题。虽然我目前的研究主要集中在空间和基建层面，但这绝对是未来扩大研究时非常值得探索的一个变量。</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给你的临场现实建议：</a:t>
            </a:r>
            <a:endParaRPr lang="en-GB"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在英国的高校答辩中，老师其实最看重三件事（你的</a:t>
            </a:r>
            <a:r>
              <a:rPr lang="en-GB" sz="1200" kern="1200" dirty="0">
                <a:solidFill>
                  <a:schemeClr val="tx1"/>
                </a:solidFill>
                <a:effectLst/>
                <a:latin typeface="+mn-lt"/>
                <a:ea typeface="+mn-ea"/>
                <a:cs typeface="+mn-cs"/>
              </a:rPr>
              <a:t> Q&amp;A </a:t>
            </a:r>
            <a:r>
              <a:rPr lang="zh-CN" altLang="en-US" sz="1200" kern="1200" dirty="0">
                <a:solidFill>
                  <a:schemeClr val="tx1"/>
                </a:solidFill>
                <a:effectLst/>
                <a:latin typeface="+mn-lt"/>
                <a:ea typeface="+mn-ea"/>
                <a:cs typeface="+mn-cs"/>
              </a:rPr>
              <a:t>只要守住这三条底线，绝对拿高分）：</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你是否理解自己的方法（</a:t>
            </a:r>
            <a:r>
              <a:rPr lang="en-GB" sz="1200" b="1" kern="1200" dirty="0">
                <a:solidFill>
                  <a:schemeClr val="tx1"/>
                </a:solidFill>
                <a:effectLst/>
                <a:latin typeface="+mn-lt"/>
                <a:ea typeface="+mn-ea"/>
                <a:cs typeface="+mn-cs"/>
              </a:rPr>
              <a:t>Methodological Literacy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承认用了什么，没用什么。</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你是否知道研究局限（</a:t>
            </a:r>
            <a:r>
              <a:rPr lang="en-GB" sz="1200" b="1" kern="1200" dirty="0">
                <a:solidFill>
                  <a:schemeClr val="tx1"/>
                </a:solidFill>
                <a:effectLst/>
                <a:latin typeface="+mn-lt"/>
                <a:ea typeface="+mn-ea"/>
                <a:cs typeface="+mn-cs"/>
              </a:rPr>
              <a:t>Self-Awareness</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敢于承认局限性，不要硬撑。</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你是否不过度夸大结论（</a:t>
            </a:r>
            <a:r>
              <a:rPr lang="en-GB" sz="1200" b="1" kern="1200" dirty="0">
                <a:solidFill>
                  <a:schemeClr val="tx1"/>
                </a:solidFill>
                <a:effectLst/>
                <a:latin typeface="+mn-lt"/>
                <a:ea typeface="+mn-ea"/>
                <a:cs typeface="+mn-cs"/>
              </a:rPr>
              <a:t>Epistemic Modesty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不要说</a:t>
            </a:r>
            <a:r>
              <a:rPr lang="en-GB" sz="1200" kern="1200" dirty="0">
                <a:solidFill>
                  <a:schemeClr val="tx1"/>
                </a:solidFill>
                <a:effectLst/>
                <a:latin typeface="+mn-lt"/>
                <a:ea typeface="+mn-ea"/>
                <a:cs typeface="+mn-cs"/>
              </a:rPr>
              <a:t>“VP</a:t>
            </a:r>
            <a:r>
              <a:rPr lang="zh-CN" altLang="en-US" sz="1200" kern="1200" dirty="0">
                <a:solidFill>
                  <a:schemeClr val="tx1"/>
                </a:solidFill>
                <a:effectLst/>
                <a:latin typeface="+mn-lt"/>
                <a:ea typeface="+mn-ea"/>
                <a:cs typeface="+mn-cs"/>
              </a:rPr>
              <a:t>毁灭了地球</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，而是说</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数据表明</a:t>
            </a:r>
            <a:r>
              <a:rPr lang="en-GB" sz="1200" kern="1200" dirty="0">
                <a:solidFill>
                  <a:schemeClr val="tx1"/>
                </a:solidFill>
                <a:effectLst/>
                <a:latin typeface="+mn-lt"/>
                <a:ea typeface="+mn-ea"/>
                <a:cs typeface="+mn-cs"/>
              </a:rPr>
              <a:t> VP </a:t>
            </a:r>
            <a:r>
              <a:rPr lang="zh-CN" altLang="en-US" sz="1200" kern="1200" dirty="0">
                <a:solidFill>
                  <a:schemeClr val="tx1"/>
                </a:solidFill>
                <a:effectLst/>
                <a:latin typeface="+mn-lt"/>
                <a:ea typeface="+mn-ea"/>
                <a:cs typeface="+mn-cs"/>
              </a:rPr>
              <a:t>转移并加剧了局部的空间压力</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2E17BACA-674F-E0B5-F3E5-F8405928C6B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2160342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FAAB6-82D6-0D3D-E97B-5BCFBD4ED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4E802-1A99-D002-B55F-A9D33EB2F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E8FB3-4BCE-6452-4538-DB538538CE3E}"/>
              </a:ext>
            </a:extLst>
          </p:cNvPr>
          <p:cNvSpPr>
            <a:spLocks noGrp="1"/>
          </p:cNvSpPr>
          <p:nvPr>
            <p:ph type="body" idx="1"/>
          </p:nvPr>
        </p:nvSpPr>
        <p:spPr/>
        <p:txBody>
          <a:bodyPr/>
          <a:lstStyle/>
          <a:p>
            <a:r>
              <a:rPr lang="en-GB" dirty="0"/>
              <a:t>Finally, to </a:t>
            </a:r>
            <a:r>
              <a:rPr lang="en-GB" b="1" dirty="0"/>
              <a:t>EVALUATE</a:t>
            </a:r>
            <a:r>
              <a:rPr lang="en-GB" dirty="0"/>
              <a:t> my own research, I must acknowledge three powerful counter-arguments: </a:t>
            </a:r>
            <a:r>
              <a:rPr lang="en-GB" b="1" dirty="0"/>
              <a:t>I deeply respect the 10-minute time limit, so I will not answer these now. But I have prepared extensive data on all three, and I actively challenge the panel to ask me about them in the Q&amp;A. Thank you.</a:t>
            </a:r>
          </a:p>
          <a:p>
            <a:endParaRPr lang="en-GB" sz="1200" b="1" kern="1200" dirty="0">
              <a:solidFill>
                <a:schemeClr val="tx1"/>
              </a:solidFill>
              <a:effectLst/>
              <a:latin typeface="+mn-lt"/>
              <a:ea typeface="+mn-ea"/>
              <a:cs typeface="+mn-cs"/>
            </a:endParaRPr>
          </a:p>
          <a:p>
            <a:endParaRPr lang="en-GB" sz="1200" b="1"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Academic Term (PPT</a:t>
            </a:r>
            <a:r>
              <a:rPr lang="zh-CN" altLang="en-US" sz="1200" b="1" kern="1200" dirty="0">
                <a:solidFill>
                  <a:schemeClr val="tx1"/>
                </a:solidFill>
                <a:effectLst/>
                <a:latin typeface="+mn-lt"/>
                <a:ea typeface="+mn-ea"/>
                <a:cs typeface="+mn-cs"/>
              </a:rPr>
              <a:t>原词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Plain English Translation (</a:t>
            </a:r>
            <a:r>
              <a:rPr lang="zh-CN" altLang="en-US" sz="1200" b="1" kern="1200" dirty="0">
                <a:solidFill>
                  <a:schemeClr val="tx1"/>
                </a:solidFill>
                <a:effectLst/>
                <a:latin typeface="+mn-lt"/>
                <a:ea typeface="+mn-ea"/>
                <a:cs typeface="+mn-cs"/>
              </a:rPr>
              <a:t>人话翻译</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 to use it in Q&amp;A (</a:t>
            </a:r>
            <a:r>
              <a:rPr lang="zh-CN" altLang="en-US" sz="1200" b="1" kern="1200" dirty="0">
                <a:solidFill>
                  <a:schemeClr val="tx1"/>
                </a:solidFill>
                <a:effectLst/>
                <a:latin typeface="+mn-lt"/>
                <a:ea typeface="+mn-ea"/>
                <a:cs typeface="+mn-cs"/>
              </a:rPr>
              <a:t>实战回答话术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Immateriality (</a:t>
            </a:r>
            <a:r>
              <a:rPr lang="zh-CN" altLang="en-US" sz="1200" b="1" kern="1200" dirty="0">
                <a:solidFill>
                  <a:schemeClr val="tx1"/>
                </a:solidFill>
                <a:effectLst/>
                <a:latin typeface="+mn-lt"/>
                <a:ea typeface="+mn-ea"/>
                <a:cs typeface="+mn-cs"/>
              </a:rPr>
              <a:t>非物质性</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业界骗人的鬼话，说现在的电影在</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云端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做，不需要实体。</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"They call it 'immaterial' to sound eco-friendly, but my maps show the cloud is made of concrete and cables."</a:t>
            </a:r>
          </a:p>
          <a:p>
            <a:r>
              <a:rPr lang="en-GB" sz="1200" b="1" kern="1200" dirty="0">
                <a:solidFill>
                  <a:schemeClr val="tx1"/>
                </a:solidFill>
                <a:effectLst/>
                <a:latin typeface="+mn-lt"/>
                <a:ea typeface="+mn-ea"/>
                <a:cs typeface="+mn-cs"/>
              </a:rPr>
              <a:t>Digital Spatial Fix (</a:t>
            </a:r>
            <a:r>
              <a:rPr lang="zh-CN" altLang="en-US" sz="1200" b="1" kern="1200" dirty="0">
                <a:solidFill>
                  <a:schemeClr val="tx1"/>
                </a:solidFill>
                <a:effectLst/>
                <a:latin typeface="+mn-lt"/>
                <a:ea typeface="+mn-ea"/>
                <a:cs typeface="+mn-cs"/>
              </a:rPr>
              <a:t>数字空间修复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科技并没有消除污染，只是把天上的飞机尾气，变成了地上的服务器废热和沥青停车场。</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means capital doesn't solve environmental crises; it just moves them. They stopped flying, but paved over 13 hectares of greenbelt instead."</a:t>
            </a:r>
          </a:p>
          <a:p>
            <a:r>
              <a:rPr lang="en-GB" sz="1200" b="1" kern="1200" dirty="0">
                <a:solidFill>
                  <a:schemeClr val="tx1"/>
                </a:solidFill>
                <a:effectLst/>
                <a:latin typeface="+mn-lt"/>
                <a:ea typeface="+mn-ea"/>
                <a:cs typeface="+mn-cs"/>
              </a:rPr>
              <a:t>Accumulation by Dispossession (</a:t>
            </a:r>
            <a:r>
              <a:rPr lang="zh-CN" altLang="en-US" sz="1200" b="1" kern="1200" dirty="0">
                <a:solidFill>
                  <a:schemeClr val="tx1"/>
                </a:solidFill>
                <a:effectLst/>
                <a:latin typeface="+mn-lt"/>
                <a:ea typeface="+mn-ea"/>
                <a:cs typeface="+mn-cs"/>
              </a:rPr>
              <a:t>剥夺性积累</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大公司赚走</a:t>
            </a:r>
            <a:r>
              <a:rPr lang="en-GB" sz="1200" kern="1200" dirty="0">
                <a:solidFill>
                  <a:schemeClr val="tx1"/>
                </a:solidFill>
                <a:effectLst/>
                <a:latin typeface="+mn-lt"/>
                <a:ea typeface="+mn-ea"/>
                <a:cs typeface="+mn-cs"/>
              </a:rPr>
              <a:t> 3.9 </a:t>
            </a:r>
            <a:r>
              <a:rPr lang="zh-CN" altLang="en-US" sz="1200" kern="1200" dirty="0">
                <a:solidFill>
                  <a:schemeClr val="tx1"/>
                </a:solidFill>
                <a:effectLst/>
                <a:latin typeface="+mn-lt"/>
                <a:ea typeface="+mn-ea"/>
                <a:cs typeface="+mn-cs"/>
              </a:rPr>
              <a:t>亿英镑利润，却只给当地留下</a:t>
            </a:r>
            <a:r>
              <a:rPr lang="en-GB" sz="1200" kern="1200" dirty="0">
                <a:solidFill>
                  <a:schemeClr val="tx1"/>
                </a:solidFill>
                <a:effectLst/>
                <a:latin typeface="+mn-lt"/>
                <a:ea typeface="+mn-ea"/>
                <a:cs typeface="+mn-cs"/>
              </a:rPr>
              <a:t> 6000 </a:t>
            </a:r>
            <a:r>
              <a:rPr lang="zh-CN" altLang="en-US" sz="1200" kern="1200" dirty="0">
                <a:solidFill>
                  <a:schemeClr val="tx1"/>
                </a:solidFill>
                <a:effectLst/>
                <a:latin typeface="+mn-lt"/>
                <a:ea typeface="+mn-ea"/>
                <a:cs typeface="+mn-cs"/>
              </a:rPr>
              <a:t>镑的环保补偿，等于抢劫了当地人的生态权。</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a wealth transfer. Corporations privatise the £392M profit, while local communities absorb the ecological loss for just £6k."</a:t>
            </a:r>
          </a:p>
          <a:p>
            <a:r>
              <a:rPr lang="en-GB" sz="1200" b="1" kern="1200" dirty="0">
                <a:solidFill>
                  <a:schemeClr val="tx1"/>
                </a:solidFill>
                <a:effectLst/>
                <a:latin typeface="+mn-lt"/>
                <a:ea typeface="+mn-ea"/>
                <a:cs typeface="+mn-cs"/>
              </a:rPr>
              <a:t>Jevons Paradox (</a:t>
            </a:r>
            <a:r>
              <a:rPr lang="zh-CN" altLang="en-US" sz="1200" b="1" kern="1200" dirty="0">
                <a:solidFill>
                  <a:schemeClr val="tx1"/>
                </a:solidFill>
                <a:effectLst/>
                <a:latin typeface="+mn-lt"/>
                <a:ea typeface="+mn-ea"/>
                <a:cs typeface="+mn-cs"/>
              </a:rPr>
              <a:t>杰文斯悖论</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技术越牛越省电，资本家就会建更多更大的影棚，最后用的电反而更多了。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"Just because LED screens are efficient doesn't mean we save energy. Because it's efficient, studios just build </a:t>
            </a:r>
            <a:r>
              <a:rPr lang="en-GB" sz="1200" i="1" kern="1200" dirty="0">
                <a:solidFill>
                  <a:schemeClr val="tx1"/>
                </a:solidFill>
                <a:effectLst/>
                <a:latin typeface="+mn-lt"/>
                <a:ea typeface="+mn-ea"/>
                <a:cs typeface="+mn-cs"/>
              </a:rPr>
              <a:t>more</a:t>
            </a:r>
            <a:r>
              <a:rPr lang="en-GB" sz="1200" kern="1200" dirty="0">
                <a:solidFill>
                  <a:schemeClr val="tx1"/>
                </a:solidFill>
                <a:effectLst/>
                <a:latin typeface="+mn-lt"/>
                <a:ea typeface="+mn-ea"/>
                <a:cs typeface="+mn-cs"/>
              </a:rPr>
              <a:t> of them, demanding 5.4 GWh of power."</a:t>
            </a:r>
          </a:p>
          <a:p>
            <a:r>
              <a:rPr lang="en-GB" sz="1200" b="1" kern="1200" dirty="0">
                <a:solidFill>
                  <a:schemeClr val="tx1"/>
                </a:solidFill>
                <a:effectLst/>
                <a:latin typeface="+mn-lt"/>
                <a:ea typeface="+mn-ea"/>
                <a:cs typeface="+mn-cs"/>
              </a:rPr>
              <a:t>Metabolic Rift (</a:t>
            </a:r>
            <a:r>
              <a:rPr lang="zh-CN" altLang="en-US" sz="1200" b="1" kern="1200" dirty="0">
                <a:solidFill>
                  <a:schemeClr val="tx1"/>
                </a:solidFill>
                <a:effectLst/>
                <a:latin typeface="+mn-lt"/>
                <a:ea typeface="+mn-ea"/>
                <a:cs typeface="+mn-cs"/>
              </a:rPr>
              <a:t>代谢断裂</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生态系统的循环被打断了。树被砍了换成水泥，大自然无法自我修复了。</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 simply means the natural biological cycle is broken. As my satellite data shows, the plants didn't adapt; they died permanently."</a:t>
            </a:r>
          </a:p>
          <a:p>
            <a:r>
              <a:rPr lang="en-GB" sz="1200" b="1" kern="1200" dirty="0">
                <a:solidFill>
                  <a:schemeClr val="tx1"/>
                </a:solidFill>
                <a:effectLst/>
                <a:latin typeface="+mn-lt"/>
                <a:ea typeface="+mn-ea"/>
                <a:cs typeface="+mn-cs"/>
              </a:rPr>
              <a:t>Epistemological limits (</a:t>
            </a:r>
            <a:r>
              <a:rPr lang="zh-CN" altLang="en-US" sz="1200" b="1" kern="1200" dirty="0">
                <a:solidFill>
                  <a:schemeClr val="tx1"/>
                </a:solidFill>
                <a:effectLst/>
                <a:latin typeface="+mn-lt"/>
                <a:ea typeface="+mn-ea"/>
                <a:cs typeface="+mn-cs"/>
              </a:rPr>
              <a:t>认识论局限</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官方环评报告的局限性：只算用电量，不算为了建大棚推平的森林。</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 used satellite data because traditional maps have an epistemological limit—they show you where the building is, but not how hot it gets."</a:t>
            </a:r>
          </a:p>
          <a:p>
            <a:r>
              <a:rPr lang="en-GB" sz="1200" b="1" kern="1200" dirty="0">
                <a:solidFill>
                  <a:schemeClr val="tx1"/>
                </a:solidFill>
                <a:effectLst/>
                <a:latin typeface="+mn-lt"/>
                <a:ea typeface="+mn-ea"/>
                <a:cs typeface="+mn-cs"/>
              </a:rPr>
              <a:t>Thermodynamic Scar (</a:t>
            </a:r>
            <a:r>
              <a:rPr lang="zh-CN" altLang="en-US" sz="1200" b="1" kern="1200" dirty="0">
                <a:solidFill>
                  <a:schemeClr val="tx1"/>
                </a:solidFill>
                <a:effectLst/>
                <a:latin typeface="+mn-lt"/>
                <a:ea typeface="+mn-ea"/>
                <a:cs typeface="+mn-cs"/>
              </a:rPr>
              <a:t>热力学疤痕</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把树砍了换成柏油路和服务器，导致这块地方产生了类似</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局部温室效应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，比原来热了</a:t>
            </a:r>
            <a:r>
              <a:rPr lang="en-GB" sz="1200" kern="1200" dirty="0">
                <a:solidFill>
                  <a:schemeClr val="tx1"/>
                </a:solidFill>
                <a:effectLst/>
                <a:latin typeface="+mn-lt"/>
                <a:ea typeface="+mn-ea"/>
                <a:cs typeface="+mn-cs"/>
              </a:rPr>
              <a:t> 5 </a:t>
            </a:r>
            <a:r>
              <a:rPr lang="zh-CN" altLang="en-US" sz="1200" kern="1200" dirty="0">
                <a:solidFill>
                  <a:schemeClr val="tx1"/>
                </a:solidFill>
                <a:effectLst/>
                <a:latin typeface="+mn-lt"/>
                <a:ea typeface="+mn-ea"/>
                <a:cs typeface="+mn-cs"/>
              </a:rPr>
              <a:t>度。</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the physical heat increase. By removing cooling vegetation and adding servers, the local area is now permanently 5 degrees hotter."</a:t>
            </a:r>
          </a:p>
          <a:p>
            <a:r>
              <a:rPr lang="en-GB" sz="1200" b="1" kern="1200" dirty="0">
                <a:solidFill>
                  <a:schemeClr val="tx1"/>
                </a:solidFill>
                <a:effectLst/>
                <a:latin typeface="+mn-lt"/>
                <a:ea typeface="+mn-ea"/>
                <a:cs typeface="+mn-cs"/>
              </a:rPr>
              <a:t>Institutional Complicity (</a:t>
            </a:r>
            <a:r>
              <a:rPr lang="zh-CN" altLang="en-US" sz="1200" b="1" kern="1200" dirty="0">
                <a:solidFill>
                  <a:schemeClr val="tx1"/>
                </a:solidFill>
                <a:effectLst/>
                <a:latin typeface="+mn-lt"/>
                <a:ea typeface="+mn-ea"/>
                <a:cs typeface="+mn-cs"/>
              </a:rPr>
              <a:t>制度性合谋</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当地政府和企业穿一条裤子，用极低的罚款给破坏环境开绿灯。</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"It's when the local council allows a 39-hectare expansion in exchange for a tiny monitoring fee, legitimising greenwashing."</a:t>
            </a:r>
          </a:p>
          <a:p>
            <a:endParaRPr lang="en-US" dirty="0"/>
          </a:p>
          <a:p>
            <a:r>
              <a:rPr lang="en-GB" sz="1200" b="1" kern="1200" dirty="0">
                <a:solidFill>
                  <a:schemeClr val="tx1"/>
                </a:solidFill>
                <a:effectLst/>
                <a:latin typeface="+mn-lt"/>
                <a:ea typeface="+mn-ea"/>
                <a:cs typeface="+mn-cs"/>
              </a:rPr>
              <a:t>Acronym (</a:t>
            </a:r>
            <a:r>
              <a:rPr lang="zh-CN" altLang="en-US" sz="1200" b="1" kern="1200" dirty="0">
                <a:solidFill>
                  <a:schemeClr val="tx1"/>
                </a:solidFill>
                <a:effectLst/>
                <a:latin typeface="+mn-lt"/>
                <a:ea typeface="+mn-ea"/>
                <a:cs typeface="+mn-cs"/>
              </a:rPr>
              <a:t>缩写</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Full Form (</a:t>
            </a:r>
            <a:r>
              <a:rPr lang="zh-CN" altLang="en-US" sz="1200" b="1" kern="1200" dirty="0">
                <a:solidFill>
                  <a:schemeClr val="tx1"/>
                </a:solidFill>
                <a:effectLst/>
                <a:latin typeface="+mn-lt"/>
                <a:ea typeface="+mn-ea"/>
                <a:cs typeface="+mn-cs"/>
              </a:rPr>
              <a:t>全称</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What it actually means in your project (</a:t>
            </a:r>
            <a:r>
              <a:rPr lang="zh-CN" altLang="en-US" sz="1200" b="1" kern="1200" dirty="0">
                <a:solidFill>
                  <a:schemeClr val="tx1"/>
                </a:solidFill>
                <a:effectLst/>
                <a:latin typeface="+mn-lt"/>
                <a:ea typeface="+mn-ea"/>
                <a:cs typeface="+mn-cs"/>
              </a:rPr>
              <a:t>它在你的项目里到底是什么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VP</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Virtual Production</a:t>
            </a:r>
          </a:p>
          <a:p>
            <a:r>
              <a:rPr lang="zh-CN" altLang="en-US" sz="1200" kern="1200" dirty="0">
                <a:solidFill>
                  <a:schemeClr val="tx1"/>
                </a:solidFill>
                <a:effectLst/>
                <a:latin typeface="+mn-lt"/>
                <a:ea typeface="+mn-ea"/>
                <a:cs typeface="+mn-cs"/>
              </a:rPr>
              <a:t>虚拟制作。整个研究的批判对象（用</a:t>
            </a:r>
            <a:r>
              <a:rPr lang="en-GB" sz="1200" kern="1200" dirty="0">
                <a:solidFill>
                  <a:schemeClr val="tx1"/>
                </a:solidFill>
                <a:effectLst/>
                <a:latin typeface="+mn-lt"/>
                <a:ea typeface="+mn-ea"/>
                <a:cs typeface="+mn-cs"/>
              </a:rPr>
              <a:t>LED</a:t>
            </a:r>
            <a:r>
              <a:rPr lang="zh-CN" altLang="en-US" sz="1200" kern="1200" dirty="0">
                <a:solidFill>
                  <a:schemeClr val="tx1"/>
                </a:solidFill>
                <a:effectLst/>
                <a:latin typeface="+mn-lt"/>
                <a:ea typeface="+mn-ea"/>
                <a:cs typeface="+mn-cs"/>
              </a:rPr>
              <a:t>大屏幕代替实景拍摄的技术）。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GVA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Gross Value Added</a:t>
            </a:r>
          </a:p>
          <a:p>
            <a:r>
              <a:rPr lang="zh-CN" altLang="en-US" sz="1200" kern="1200" dirty="0">
                <a:solidFill>
                  <a:schemeClr val="tx1"/>
                </a:solidFill>
                <a:effectLst/>
                <a:latin typeface="+mn-lt"/>
                <a:ea typeface="+mn-ea"/>
                <a:cs typeface="+mn-cs"/>
              </a:rPr>
              <a:t>增加值。用来衡量这个项目给当地赚了多少钱。你用来对比那少得可怜的</a:t>
            </a:r>
            <a:r>
              <a:rPr lang="en-GB" sz="1200" kern="1200" dirty="0">
                <a:solidFill>
                  <a:schemeClr val="tx1"/>
                </a:solidFill>
                <a:effectLst/>
                <a:latin typeface="+mn-lt"/>
                <a:ea typeface="+mn-ea"/>
                <a:cs typeface="+mn-cs"/>
              </a:rPr>
              <a:t> £6150 </a:t>
            </a:r>
            <a:r>
              <a:rPr lang="zh-CN" altLang="en-US" sz="1200" kern="1200" dirty="0">
                <a:solidFill>
                  <a:schemeClr val="tx1"/>
                </a:solidFill>
                <a:effectLst/>
                <a:latin typeface="+mn-lt"/>
                <a:ea typeface="+mn-ea"/>
                <a:cs typeface="+mn-cs"/>
              </a:rPr>
              <a:t>环境补偿金。</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S106</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Section 106 Agreement</a:t>
            </a:r>
          </a:p>
          <a:p>
            <a:r>
              <a:rPr lang="zh-CN" altLang="en-US" sz="1200" kern="1200" dirty="0">
                <a:solidFill>
                  <a:schemeClr val="tx1"/>
                </a:solidFill>
                <a:effectLst/>
                <a:latin typeface="+mn-lt"/>
                <a:ea typeface="+mn-ea"/>
                <a:cs typeface="+mn-cs"/>
              </a:rPr>
              <a:t>第</a:t>
            </a:r>
            <a:r>
              <a:rPr lang="en-GB" sz="1200" kern="1200" dirty="0">
                <a:solidFill>
                  <a:schemeClr val="tx1"/>
                </a:solidFill>
                <a:effectLst/>
                <a:latin typeface="+mn-lt"/>
                <a:ea typeface="+mn-ea"/>
                <a:cs typeface="+mn-cs"/>
              </a:rPr>
              <a:t>106</a:t>
            </a:r>
            <a:r>
              <a:rPr lang="zh-CN" altLang="en-US" sz="1200" kern="1200" dirty="0">
                <a:solidFill>
                  <a:schemeClr val="tx1"/>
                </a:solidFill>
                <a:effectLst/>
                <a:latin typeface="+mn-lt"/>
                <a:ea typeface="+mn-ea"/>
                <a:cs typeface="+mn-cs"/>
              </a:rPr>
              <a:t>条协议（英国规划法）。开发商给政府交的一点点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环境破坏保护费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EIA</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Environmental Impact Assessment</a:t>
            </a:r>
          </a:p>
          <a:p>
            <a:r>
              <a:rPr lang="zh-CN" altLang="en-US" sz="1200" kern="1200" dirty="0">
                <a:solidFill>
                  <a:schemeClr val="tx1"/>
                </a:solidFill>
                <a:effectLst/>
                <a:latin typeface="+mn-lt"/>
                <a:ea typeface="+mn-ea"/>
                <a:cs typeface="+mn-cs"/>
              </a:rPr>
              <a:t>环境影响评估。官方的环评报告（你重点批判的对象，因为它们掩盖了大量的基建破坏）。</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OSM</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OpenStreetMap</a:t>
            </a:r>
          </a:p>
          <a:p>
            <a:r>
              <a:rPr lang="zh-CN" altLang="en-US" sz="1200" kern="1200" dirty="0">
                <a:solidFill>
                  <a:schemeClr val="tx1"/>
                </a:solidFill>
                <a:effectLst/>
                <a:latin typeface="+mn-lt"/>
                <a:ea typeface="+mn-ea"/>
                <a:cs typeface="+mn-cs"/>
              </a:rPr>
              <a:t>开源平台地图。你用来抓取地理坐标的底层街道数据（免费、开源、客观）。</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EPSG:27700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British National Grid (BNG)</a:t>
            </a:r>
          </a:p>
          <a:p>
            <a:r>
              <a:rPr lang="zh-CN" altLang="en-US" sz="1200" kern="1200" dirty="0">
                <a:solidFill>
                  <a:schemeClr val="tx1"/>
                </a:solidFill>
                <a:effectLst/>
                <a:latin typeface="+mn-lt"/>
                <a:ea typeface="+mn-ea"/>
                <a:cs typeface="+mn-cs"/>
              </a:rPr>
              <a:t>英国国家电网坐标系。</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告诉老师：地球是圆的，普通的经纬度算不出面积。我用</a:t>
            </a:r>
            <a:r>
              <a:rPr lang="en-GB" sz="1200" kern="1200" dirty="0">
                <a:solidFill>
                  <a:schemeClr val="tx1"/>
                </a:solidFill>
                <a:effectLst/>
                <a:latin typeface="+mn-lt"/>
                <a:ea typeface="+mn-ea"/>
                <a:cs typeface="+mn-cs"/>
              </a:rPr>
              <a:t>Python</a:t>
            </a:r>
            <a:r>
              <a:rPr lang="zh-CN" altLang="en-US" sz="1200" kern="1200" dirty="0">
                <a:solidFill>
                  <a:schemeClr val="tx1"/>
                </a:solidFill>
                <a:effectLst/>
                <a:latin typeface="+mn-lt"/>
                <a:ea typeface="+mn-ea"/>
                <a:cs typeface="+mn-cs"/>
              </a:rPr>
              <a:t>强制把坐标转换成了这个英国标准格式，所以我算出的</a:t>
            </a:r>
            <a:r>
              <a:rPr lang="en-GB" sz="1200" kern="1200" dirty="0">
                <a:solidFill>
                  <a:schemeClr val="tx1"/>
                </a:solidFill>
                <a:effectLst/>
                <a:latin typeface="+mn-lt"/>
                <a:ea typeface="+mn-ea"/>
                <a:cs typeface="+mn-cs"/>
              </a:rPr>
              <a:t> 13.2 </a:t>
            </a:r>
            <a:r>
              <a:rPr lang="zh-CN" altLang="en-US" sz="1200" kern="1200" dirty="0">
                <a:solidFill>
                  <a:schemeClr val="tx1"/>
                </a:solidFill>
                <a:effectLst/>
                <a:latin typeface="+mn-lt"/>
                <a:ea typeface="+mn-ea"/>
                <a:cs typeface="+mn-cs"/>
              </a:rPr>
              <a:t>公顷是绝对精确的物理面积。</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GEE</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Google Earth Engine</a:t>
            </a:r>
          </a:p>
          <a:p>
            <a:r>
              <a:rPr lang="zh-CN" altLang="en-US" sz="1200" kern="1200" dirty="0">
                <a:solidFill>
                  <a:schemeClr val="tx1"/>
                </a:solidFill>
                <a:effectLst/>
                <a:latin typeface="+mn-lt"/>
                <a:ea typeface="+mn-ea"/>
                <a:cs typeface="+mn-cs"/>
              </a:rPr>
              <a:t>谷歌地球引擎。你用来调取卫星数据的云平台。证明你没用花钱的商业软件。</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NDVI</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Normalized Difference Vegetation Index</a:t>
            </a:r>
          </a:p>
          <a:p>
            <a:r>
              <a:rPr lang="zh-CN" altLang="en-US" sz="1200" kern="1200" dirty="0">
                <a:solidFill>
                  <a:schemeClr val="tx1"/>
                </a:solidFill>
                <a:effectLst/>
                <a:latin typeface="+mn-lt"/>
                <a:ea typeface="+mn-ea"/>
                <a:cs typeface="+mn-cs"/>
              </a:rPr>
              <a:t>归一化植被指数。通过测量植物反射的近红外光来判断植物死活的指标。你在图表里展示的那根</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暴跌的红线</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LST</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Land Surface Temperature</a:t>
            </a:r>
          </a:p>
          <a:p>
            <a:r>
              <a:rPr lang="zh-CN" altLang="en-US" sz="1200" kern="1200" dirty="0">
                <a:solidFill>
                  <a:schemeClr val="tx1"/>
                </a:solidFill>
                <a:effectLst/>
                <a:latin typeface="+mn-lt"/>
                <a:ea typeface="+mn-ea"/>
                <a:cs typeface="+mn-cs"/>
              </a:rPr>
              <a:t>地表温度。你用来证明</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物理升温了</a:t>
            </a:r>
            <a:r>
              <a:rPr lang="en-GB" sz="1200" kern="1200" dirty="0">
                <a:solidFill>
                  <a:schemeClr val="tx1"/>
                </a:solidFill>
                <a:effectLst/>
                <a:latin typeface="+mn-lt"/>
                <a:ea typeface="+mn-ea"/>
                <a:cs typeface="+mn-cs"/>
              </a:rPr>
              <a:t>+5</a:t>
            </a:r>
            <a:r>
              <a:rPr lang="zh-CN" altLang="en-US" sz="1200" kern="1200" dirty="0">
                <a:solidFill>
                  <a:schemeClr val="tx1"/>
                </a:solidFill>
                <a:effectLst/>
                <a:latin typeface="+mn-lt"/>
                <a:ea typeface="+mn-ea"/>
                <a:cs typeface="+mn-cs"/>
              </a:rPr>
              <a:t>度</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的最终指标。</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TIRS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Thermal Infrared Sensor</a:t>
            </a:r>
          </a:p>
          <a:p>
            <a:r>
              <a:rPr lang="zh-CN" altLang="en-US" sz="1200" kern="1200" dirty="0">
                <a:solidFill>
                  <a:schemeClr val="tx1"/>
                </a:solidFill>
                <a:effectLst/>
                <a:latin typeface="+mn-lt"/>
                <a:ea typeface="+mn-ea"/>
                <a:cs typeface="+mn-cs"/>
              </a:rPr>
              <a:t>热红外传感器。</a:t>
            </a:r>
            <a:r>
              <a:rPr lang="en-GB" sz="1200" kern="1200" dirty="0">
                <a:solidFill>
                  <a:schemeClr val="tx1"/>
                </a:solidFill>
                <a:effectLst/>
                <a:latin typeface="+mn-lt"/>
                <a:ea typeface="+mn-ea"/>
                <a:cs typeface="+mn-cs"/>
              </a:rPr>
              <a:t>Landsat 8</a:t>
            </a:r>
            <a:r>
              <a:rPr lang="zh-CN" altLang="en-US" sz="1200" kern="1200" dirty="0">
                <a:solidFill>
                  <a:schemeClr val="tx1"/>
                </a:solidFill>
                <a:effectLst/>
                <a:latin typeface="+mn-lt"/>
                <a:ea typeface="+mn-ea"/>
                <a:cs typeface="+mn-cs"/>
              </a:rPr>
              <a:t>卫星上用来测温的镜头。</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QA60</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GEE Cloud-Masking Band</a:t>
            </a:r>
          </a:p>
          <a:p>
            <a:r>
              <a:rPr lang="zh-CN" altLang="en-US" sz="1200" kern="1200" dirty="0">
                <a:solidFill>
                  <a:schemeClr val="tx1"/>
                </a:solidFill>
                <a:effectLst/>
                <a:latin typeface="+mn-lt"/>
                <a:ea typeface="+mn-ea"/>
                <a:cs typeface="+mn-cs"/>
              </a:rPr>
              <a:t>卫星去云掩膜。</a:t>
            </a:r>
            <a:r>
              <a:rPr lang="zh-CN" altLang="en-US" sz="1200" b="1" kern="1200" dirty="0">
                <a:solidFill>
                  <a:schemeClr val="tx1"/>
                </a:solidFill>
                <a:effectLst/>
                <a:latin typeface="+mn-lt"/>
                <a:ea typeface="+mn-ea"/>
                <a:cs typeface="+mn-cs"/>
              </a:rPr>
              <a:t>（杀手锏参数！）</a:t>
            </a:r>
            <a:r>
              <a:rPr lang="zh-CN" altLang="en-US" sz="1200" kern="1200" dirty="0">
                <a:solidFill>
                  <a:schemeClr val="tx1"/>
                </a:solidFill>
                <a:effectLst/>
                <a:latin typeface="+mn-lt"/>
                <a:ea typeface="+mn-ea"/>
                <a:cs typeface="+mn-cs"/>
              </a:rPr>
              <a:t> 如果老师问</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英国经常下雨，卫星图准吗？</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你回答：</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我写了算法调用</a:t>
            </a:r>
            <a:r>
              <a:rPr lang="en-GB" sz="1200" kern="1200" dirty="0">
                <a:solidFill>
                  <a:schemeClr val="tx1"/>
                </a:solidFill>
                <a:effectLst/>
                <a:latin typeface="+mn-lt"/>
                <a:ea typeface="+mn-ea"/>
                <a:cs typeface="+mn-cs"/>
              </a:rPr>
              <a:t> QA60 </a:t>
            </a:r>
            <a:r>
              <a:rPr lang="zh-CN" altLang="en-US" sz="1200" kern="1200" dirty="0">
                <a:solidFill>
                  <a:schemeClr val="tx1"/>
                </a:solidFill>
                <a:effectLst/>
                <a:latin typeface="+mn-lt"/>
                <a:ea typeface="+mn-ea"/>
                <a:cs typeface="+mn-cs"/>
              </a:rPr>
              <a:t>位运算，把所有带云层的错误数据全部过滤掉了，所以趋势线是极其准确的。</a:t>
            </a:r>
            <a:r>
              <a:rPr lang="en-GB" sz="1200" kern="1200" dirty="0">
                <a:solidFill>
                  <a:schemeClr val="tx1"/>
                </a:solidFill>
                <a:effectLst/>
                <a:latin typeface="+mn-lt"/>
                <a:ea typeface="+mn-ea"/>
                <a:cs typeface="+mn-cs"/>
              </a:rPr>
              <a:t>”</a:t>
            </a:r>
          </a:p>
          <a:p>
            <a:endParaRPr lang="en-US" dirty="0"/>
          </a:p>
          <a:p>
            <a:endParaRPr lang="en-US" dirty="0"/>
          </a:p>
          <a:p>
            <a:r>
              <a:rPr lang="zh-CN" altLang="en-US" sz="1200" i="1" kern="1200" dirty="0">
                <a:solidFill>
                  <a:schemeClr val="tx1"/>
                </a:solidFill>
                <a:effectLst/>
                <a:latin typeface="+mn-lt"/>
                <a:ea typeface="+mn-ea"/>
                <a:cs typeface="+mn-cs"/>
              </a:rPr>
              <a:t>这是一份按英国研究型</a:t>
            </a:r>
            <a:r>
              <a:rPr lang="en-GB" sz="1200" i="1" kern="1200" dirty="0">
                <a:solidFill>
                  <a:schemeClr val="tx1"/>
                </a:solidFill>
                <a:effectLst/>
                <a:latin typeface="+mn-lt"/>
                <a:ea typeface="+mn-ea"/>
                <a:cs typeface="+mn-cs"/>
              </a:rPr>
              <a:t> Presentation </a:t>
            </a:r>
            <a:r>
              <a:rPr lang="zh-CN" altLang="en-US" sz="1200" i="1" kern="1200" dirty="0">
                <a:solidFill>
                  <a:schemeClr val="tx1"/>
                </a:solidFill>
                <a:effectLst/>
                <a:latin typeface="+mn-lt"/>
                <a:ea typeface="+mn-ea"/>
                <a:cs typeface="+mn-cs"/>
              </a:rPr>
              <a:t>常见提问逻辑整理的系统化</a:t>
            </a:r>
            <a:r>
              <a:rPr lang="en-GB" sz="1200" i="1" kern="1200" dirty="0">
                <a:solidFill>
                  <a:schemeClr val="tx1"/>
                </a:solidFill>
                <a:effectLst/>
                <a:latin typeface="+mn-lt"/>
                <a:ea typeface="+mn-ea"/>
                <a:cs typeface="+mn-cs"/>
              </a:rPr>
              <a:t> Q&amp;A </a:t>
            </a:r>
            <a:r>
              <a:rPr lang="zh-CN" altLang="en-US" sz="1200" i="1" kern="1200" dirty="0">
                <a:solidFill>
                  <a:schemeClr val="tx1"/>
                </a:solidFill>
                <a:effectLst/>
                <a:latin typeface="+mn-lt"/>
                <a:ea typeface="+mn-ea"/>
                <a:cs typeface="+mn-cs"/>
              </a:rPr>
              <a:t>清单，覆盖了绝大多数可能的问题，并附有提取的核心</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关键词</a:t>
            </a:r>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供临场抓取。</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一、研究问题与研究动机</a:t>
            </a:r>
            <a:r>
              <a:rPr lang="en-GB" sz="1200" b="1" kern="1200" dirty="0">
                <a:solidFill>
                  <a:schemeClr val="tx1"/>
                </a:solidFill>
                <a:effectLst/>
                <a:latin typeface="+mn-lt"/>
                <a:ea typeface="+mn-ea"/>
                <a:cs typeface="+mn-cs"/>
              </a:rPr>
              <a:t> (Research Questions &amp; Motivations)</a:t>
            </a:r>
          </a:p>
          <a:p>
            <a:r>
              <a:rPr lang="en-GB" sz="1200" b="1" kern="1200" dirty="0">
                <a:solidFill>
                  <a:schemeClr val="tx1"/>
                </a:solidFill>
                <a:effectLst/>
                <a:latin typeface="+mn-lt"/>
                <a:ea typeface="+mn-ea"/>
                <a:cs typeface="+mn-cs"/>
              </a:rPr>
              <a:t>1. Why did you choose virtual production as the focus of your research?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为什么选择研究虚拟制作？</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Virtual production is widely promoted as a decarbonisation strategy within the film industry, particularly for reducing travel-related emissions. However, these narratives often overlook the infrastructure required to support such technologies. This project therefore examines the spatial and infrastructural dimensions behind the idea of “immaterial” digital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虚拟制作被广泛宣传为一种低碳解决方案（减少航空排放）。但这种叙述忽略了其背后的基础设施需求。我想从空间和基础设施角度，重新审视这种</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数字去物质化</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的叙事。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Virtual production, decarbonisation narrative, infrastructure.</a:t>
            </a:r>
          </a:p>
          <a:p>
            <a:r>
              <a:rPr lang="en-GB" sz="1200" b="1" kern="1200" dirty="0">
                <a:solidFill>
                  <a:schemeClr val="tx1"/>
                </a:solidFill>
                <a:effectLst/>
                <a:latin typeface="+mn-lt"/>
                <a:ea typeface="+mn-ea"/>
                <a:cs typeface="+mn-cs"/>
              </a:rPr>
              <a:t>2. Why did you select Shepperton Studios as your case study?</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为什么选择</a:t>
            </a:r>
            <a:r>
              <a:rPr lang="en-GB" sz="1200" u="none" strike="noStrike" kern="1200" dirty="0">
                <a:solidFill>
                  <a:schemeClr val="tx1"/>
                </a:solidFill>
                <a:effectLst/>
                <a:latin typeface="+mn-lt"/>
                <a:ea typeface="+mn-ea"/>
                <a:cs typeface="+mn-cs"/>
              </a:rPr>
              <a:t> Shepperton Studios </a:t>
            </a:r>
            <a:r>
              <a:rPr lang="zh-CN" altLang="en-US" sz="1200" u="none" strike="noStrike" kern="1200" dirty="0">
                <a:solidFill>
                  <a:schemeClr val="tx1"/>
                </a:solidFill>
                <a:effectLst/>
                <a:latin typeface="+mn-lt"/>
                <a:ea typeface="+mn-ea"/>
                <a:cs typeface="+mn-cs"/>
              </a:rPr>
              <a:t>这个案例？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Shepperton represents one of the largest recent studio expansions in the UK and hosts many large-scale platform productions. This makes it a relevant and archetypal case for examining the infrastructure supporting virtual production.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它是英国近年来规模最大的影视基地扩建项目之一，也是大型流媒体的重镇。它是研究</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基础设施的完美代表。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Case study, studio expansion, platform productions.</a:t>
            </a:r>
          </a:p>
          <a:p>
            <a:r>
              <a:rPr lang="zh-CN" altLang="en-US" sz="1200" b="1" kern="1200" dirty="0">
                <a:solidFill>
                  <a:schemeClr val="tx1"/>
                </a:solidFill>
                <a:effectLst/>
                <a:latin typeface="+mn-lt"/>
                <a:ea typeface="+mn-ea"/>
                <a:cs typeface="+mn-cs"/>
              </a:rPr>
              <a:t>二、理论框架</a:t>
            </a:r>
            <a:r>
              <a:rPr lang="en-GB" sz="1200" b="1" kern="1200" dirty="0">
                <a:solidFill>
                  <a:schemeClr val="tx1"/>
                </a:solidFill>
                <a:effectLst/>
                <a:latin typeface="+mn-lt"/>
                <a:ea typeface="+mn-ea"/>
                <a:cs typeface="+mn-cs"/>
              </a:rPr>
              <a:t> (Theoretical Framework)</a:t>
            </a:r>
          </a:p>
          <a:p>
            <a:r>
              <a:rPr lang="en-GB" sz="1200" b="1" kern="1200" dirty="0">
                <a:solidFill>
                  <a:schemeClr val="tx1"/>
                </a:solidFill>
                <a:effectLst/>
                <a:latin typeface="+mn-lt"/>
                <a:ea typeface="+mn-ea"/>
                <a:cs typeface="+mn-cs"/>
              </a:rPr>
              <a:t>3. Why did you use a Marxist political economy approach?</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为什么采用马克思主义政治经济学？</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This framework highlights that technological systems are embedded within material infrastructures and processes of capital accumulation. It helps explain why digital technologies often lead to new forms of spatial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该理论强调技术系统始终嵌入在物质基建与资本积累中。它能完美解释为什么</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数字技术</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的发展往往伴随着</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物理空间</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的扩张。</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Political economy, capital accumulation, material infrastructure.</a:t>
            </a:r>
          </a:p>
          <a:p>
            <a:r>
              <a:rPr lang="en-GB" sz="1200" b="1" kern="1200" dirty="0">
                <a:solidFill>
                  <a:schemeClr val="tx1"/>
                </a:solidFill>
                <a:effectLst/>
                <a:latin typeface="+mn-lt"/>
                <a:ea typeface="+mn-ea"/>
                <a:cs typeface="+mn-cs"/>
              </a:rPr>
              <a:t>4. What do you mean by the "Digital Spatial Fix"?</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什么是数字空间修复？</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digital spatial fix describes how capital resolves technological or economic constraints through spatial expansion, often in the form of new infrastructures such as data centres, studios, or energy networks.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资本通过新的空间基础设施（数据中心、影棚）来解决其经济或技术矛盾的过程。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Spatial fix, infrastructure expansion, capital.</a:t>
            </a:r>
          </a:p>
          <a:p>
            <a:r>
              <a:rPr lang="zh-CN" altLang="en-US" sz="1200" b="1" kern="1200" dirty="0">
                <a:solidFill>
                  <a:schemeClr val="tx1"/>
                </a:solidFill>
                <a:effectLst/>
                <a:latin typeface="+mn-lt"/>
                <a:ea typeface="+mn-ea"/>
                <a:cs typeface="+mn-cs"/>
              </a:rPr>
              <a:t>三、方法论</a:t>
            </a:r>
            <a:r>
              <a:rPr lang="en-GB" sz="1200" b="1" kern="1200" dirty="0">
                <a:solidFill>
                  <a:schemeClr val="tx1"/>
                </a:solidFill>
                <a:effectLst/>
                <a:latin typeface="+mn-lt"/>
                <a:ea typeface="+mn-ea"/>
                <a:cs typeface="+mn-cs"/>
              </a:rPr>
              <a:t> (Methodology)</a:t>
            </a:r>
          </a:p>
          <a:p>
            <a:r>
              <a:rPr lang="en-GB" sz="1200" b="1" kern="1200" dirty="0">
                <a:solidFill>
                  <a:schemeClr val="tx1"/>
                </a:solidFill>
                <a:effectLst/>
                <a:latin typeface="+mn-lt"/>
                <a:ea typeface="+mn-ea"/>
                <a:cs typeface="+mn-cs"/>
              </a:rPr>
              <a:t>5. What do you mean by a "Forensic Spatial Audit"?</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什么是</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法医空间审计</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It refers to reconstructing infrastructure systems using spatial evidence. GIS data and mapping indicators allow us to rigorously analyse the material footprint of industrial systems, acting like an independent investigation.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通过</a:t>
            </a:r>
            <a:r>
              <a:rPr lang="en-GB" sz="1200" kern="1200" dirty="0">
                <a:solidFill>
                  <a:schemeClr val="tx1"/>
                </a:solidFill>
                <a:effectLst/>
                <a:latin typeface="+mn-lt"/>
                <a:ea typeface="+mn-ea"/>
                <a:cs typeface="+mn-cs"/>
              </a:rPr>
              <a:t> GIS </a:t>
            </a:r>
            <a:r>
              <a:rPr lang="zh-CN" altLang="en-US" sz="1200" kern="1200" dirty="0">
                <a:solidFill>
                  <a:schemeClr val="tx1"/>
                </a:solidFill>
                <a:effectLst/>
                <a:latin typeface="+mn-lt"/>
                <a:ea typeface="+mn-ea"/>
                <a:cs typeface="+mn-cs"/>
              </a:rPr>
              <a:t>数据、地图和空间指标，像法医找证据一样，重建并推断某一产业背后的真实基础设施结构。</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Spatial evidence, GIS, independent investigation.</a:t>
            </a:r>
          </a:p>
          <a:p>
            <a:r>
              <a:rPr lang="en-GB" sz="1200" b="1" kern="1200" dirty="0">
                <a:solidFill>
                  <a:schemeClr val="tx1"/>
                </a:solidFill>
                <a:effectLst/>
                <a:latin typeface="+mn-lt"/>
                <a:ea typeface="+mn-ea"/>
                <a:cs typeface="+mn-cs"/>
              </a:rPr>
              <a:t>6. Why did you use OpenStreetMap (OSM) data?</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为什么使用</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数据？</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OpenStreetMap provides accessible, uncensored, and regularly updated spatial data. Although it is crowdsourced, studies show its accuracy is typically above 85%, making it highly reliable for this scale of auditing.</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OSM </a:t>
            </a:r>
            <a:r>
              <a:rPr lang="zh-CN" altLang="en-US" sz="1200" kern="1200" dirty="0">
                <a:solidFill>
                  <a:schemeClr val="tx1"/>
                </a:solidFill>
                <a:effectLst/>
                <a:latin typeface="+mn-lt"/>
                <a:ea typeface="+mn-ea"/>
                <a:cs typeface="+mn-cs"/>
              </a:rPr>
              <a:t>提供了公开、未被企业公关过滤的空间数据。虽然是众包，但学术证明其准确率通常在</a:t>
            </a:r>
            <a:r>
              <a:rPr lang="en-GB" sz="1200" kern="1200" dirty="0">
                <a:solidFill>
                  <a:schemeClr val="tx1"/>
                </a:solidFill>
                <a:effectLst/>
                <a:latin typeface="+mn-lt"/>
                <a:ea typeface="+mn-ea"/>
                <a:cs typeface="+mn-cs"/>
              </a:rPr>
              <a:t> 85% </a:t>
            </a:r>
            <a:r>
              <a:rPr lang="zh-CN" altLang="en-US" sz="1200" kern="1200" dirty="0">
                <a:solidFill>
                  <a:schemeClr val="tx1"/>
                </a:solidFill>
                <a:effectLst/>
                <a:latin typeface="+mn-lt"/>
                <a:ea typeface="+mn-ea"/>
                <a:cs typeface="+mn-cs"/>
              </a:rPr>
              <a:t>以上。</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Open data, crowdsourced mapping, high accuracy.</a:t>
            </a:r>
          </a:p>
          <a:p>
            <a:r>
              <a:rPr lang="en-GB" sz="1200" b="1" kern="1200" dirty="0">
                <a:solidFill>
                  <a:schemeClr val="tx1"/>
                </a:solidFill>
                <a:effectLst/>
                <a:latin typeface="+mn-lt"/>
                <a:ea typeface="+mn-ea"/>
                <a:cs typeface="+mn-cs"/>
              </a:rPr>
              <a:t>7. Can your methodology be replicated elsewhere?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你的方法能否在其他地方应用？</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Yes, absolutely. Since the methodology relies on open spatial datasets and global satellite imagery (like Earth Engine), it can be seamlessly applied to other media infrastructure sites around the world.</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完全可以。因为全部依赖开源空间数据和卫星图，可以直接套用到全球任何一个影视基地。</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Replicability, methodology, open data.</a:t>
            </a:r>
          </a:p>
          <a:p>
            <a:r>
              <a:rPr lang="zh-CN" altLang="en-US" sz="1200" b="1" kern="1200" dirty="0">
                <a:solidFill>
                  <a:schemeClr val="tx1"/>
                </a:solidFill>
                <a:effectLst/>
                <a:latin typeface="+mn-lt"/>
                <a:ea typeface="+mn-ea"/>
                <a:cs typeface="+mn-cs"/>
              </a:rPr>
              <a:t>四、数据与证据</a:t>
            </a:r>
            <a:r>
              <a:rPr lang="en-GB" sz="1200" b="1" kern="1200" dirty="0">
                <a:solidFill>
                  <a:schemeClr val="tx1"/>
                </a:solidFill>
                <a:effectLst/>
                <a:latin typeface="+mn-lt"/>
                <a:ea typeface="+mn-ea"/>
                <a:cs typeface="+mn-cs"/>
              </a:rPr>
              <a:t> (Data &amp; Evidence)</a:t>
            </a:r>
          </a:p>
          <a:p>
            <a:r>
              <a:rPr lang="en-GB" sz="1200" b="1" kern="1200" dirty="0">
                <a:solidFill>
                  <a:schemeClr val="tx1"/>
                </a:solidFill>
                <a:effectLst/>
                <a:latin typeface="+mn-lt"/>
                <a:ea typeface="+mn-ea"/>
                <a:cs typeface="+mn-cs"/>
              </a:rPr>
              <a:t>8. How can you attribute this massive expansion </a:t>
            </a:r>
            <a:r>
              <a:rPr lang="en-GB" sz="1200" b="1" i="1" kern="1200" dirty="0">
                <a:solidFill>
                  <a:schemeClr val="tx1"/>
                </a:solidFill>
                <a:effectLst/>
                <a:latin typeface="+mn-lt"/>
                <a:ea typeface="+mn-ea"/>
                <a:cs typeface="+mn-cs"/>
              </a:rPr>
              <a:t>specifically</a:t>
            </a:r>
            <a:r>
              <a:rPr lang="en-GB" sz="1200" b="1" kern="1200" dirty="0">
                <a:solidFill>
                  <a:schemeClr val="tx1"/>
                </a:solidFill>
                <a:effectLst/>
                <a:latin typeface="+mn-lt"/>
                <a:ea typeface="+mn-ea"/>
                <a:cs typeface="+mn-cs"/>
              </a:rPr>
              <a:t> to virtual production?</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这些基础设施的扩建是否一定（</a:t>
            </a:r>
            <a:r>
              <a:rPr lang="en-GB" sz="1200" u="none" strike="noStrike" kern="1200" dirty="0">
                <a:solidFill>
                  <a:schemeClr val="tx1"/>
                </a:solidFill>
                <a:effectLst/>
                <a:latin typeface="+mn-lt"/>
                <a:ea typeface="+mn-ea"/>
                <a:cs typeface="+mn-cs"/>
              </a:rPr>
              <a:t>100%</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造成的？</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The study does not claim that all expansion is caused </a:t>
            </a:r>
            <a:r>
              <a:rPr lang="en-GB" sz="1200" i="1" u="none" strike="noStrike" kern="1200" dirty="0">
                <a:solidFill>
                  <a:schemeClr val="tx1"/>
                </a:solidFill>
                <a:effectLst/>
                <a:latin typeface="+mn-lt"/>
                <a:ea typeface="+mn-ea"/>
                <a:cs typeface="+mn-cs"/>
              </a:rPr>
              <a:t>exclusively</a:t>
            </a:r>
            <a:r>
              <a:rPr lang="en-GB" sz="1200" u="none" strike="noStrike" kern="1200" dirty="0">
                <a:solidFill>
                  <a:schemeClr val="tx1"/>
                </a:solidFill>
                <a:effectLst/>
                <a:latin typeface="+mn-lt"/>
                <a:ea typeface="+mn-ea"/>
                <a:cs typeface="+mn-cs"/>
              </a:rPr>
              <a:t> by VP. Instead, it suggests that intensive digital production requires massive infrastructure capacity. The discourse of VP is used to legally justify and create structural connections for this adoption and expansion.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我并不是说</a:t>
            </a:r>
            <a:r>
              <a:rPr lang="en-GB" sz="1200" u="none" strike="noStrike" kern="1200" dirty="0">
                <a:solidFill>
                  <a:schemeClr val="tx1"/>
                </a:solidFill>
                <a:effectLst/>
                <a:latin typeface="+mn-lt"/>
                <a:ea typeface="+mn-ea"/>
                <a:cs typeface="+mn-cs"/>
              </a:rPr>
              <a:t> 100% </a:t>
            </a:r>
            <a:r>
              <a:rPr lang="zh-CN" altLang="en-US" sz="1200" u="none" strike="noStrike" kern="1200" dirty="0">
                <a:solidFill>
                  <a:schemeClr val="tx1"/>
                </a:solidFill>
                <a:effectLst/>
                <a:latin typeface="+mn-lt"/>
                <a:ea typeface="+mn-ea"/>
                <a:cs typeface="+mn-cs"/>
              </a:rPr>
              <a:t>是</a:t>
            </a:r>
            <a:r>
              <a:rPr lang="en-GB" sz="1200" u="none" strike="noStrike" kern="1200" dirty="0">
                <a:solidFill>
                  <a:schemeClr val="tx1"/>
                </a:solidFill>
                <a:effectLst/>
                <a:latin typeface="+mn-lt"/>
                <a:ea typeface="+mn-ea"/>
                <a:cs typeface="+mn-cs"/>
              </a:rPr>
              <a:t> VP </a:t>
            </a:r>
            <a:r>
              <a:rPr lang="zh-CN" altLang="en-US" sz="1200" u="none" strike="noStrike" kern="1200" dirty="0">
                <a:solidFill>
                  <a:schemeClr val="tx1"/>
                </a:solidFill>
                <a:effectLst/>
                <a:latin typeface="+mn-lt"/>
                <a:ea typeface="+mn-ea"/>
                <a:cs typeface="+mn-cs"/>
              </a:rPr>
              <a:t>引起的。而是指出高强度数字制作</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需要</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庞大的基建容量，</a:t>
            </a:r>
            <a:r>
              <a:rPr lang="en-GB" sz="1200" u="none" strike="noStrike" kern="1200" dirty="0">
                <a:solidFill>
                  <a:schemeClr val="tx1"/>
                </a:solidFill>
                <a:effectLst/>
                <a:latin typeface="+mn-lt"/>
                <a:ea typeface="+mn-ea"/>
                <a:cs typeface="+mn-cs"/>
              </a:rPr>
              <a:t>VP </a:t>
            </a:r>
            <a:r>
              <a:rPr lang="zh-CN" altLang="en-US" sz="1200" u="none" strike="noStrike" kern="1200" dirty="0">
                <a:solidFill>
                  <a:schemeClr val="tx1"/>
                </a:solidFill>
                <a:effectLst/>
                <a:latin typeface="+mn-lt"/>
                <a:ea typeface="+mn-ea"/>
                <a:cs typeface="+mn-cs"/>
              </a:rPr>
              <a:t>的推广与基建扩建之间存在深刻的</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结构性关联</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Attribution, structural relationship, capacity.</a:t>
            </a:r>
          </a:p>
          <a:p>
            <a:r>
              <a:rPr lang="en-GB" sz="1200" b="1" kern="1200" dirty="0">
                <a:solidFill>
                  <a:schemeClr val="tx1"/>
                </a:solidFill>
                <a:effectLst/>
                <a:latin typeface="+mn-lt"/>
                <a:ea typeface="+mn-ea"/>
                <a:cs typeface="+mn-cs"/>
              </a:rPr>
              <a:t>9. Why did you use NDVI?</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为什么使用</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归一化植被指数</a:t>
            </a:r>
            <a:r>
              <a:rPr lang="en-GB" sz="1200" u="none" strike="noStrike" kern="1200" dirty="0">
                <a:solidFill>
                  <a:schemeClr val="tx1"/>
                </a:solidFill>
                <a:effectLst/>
                <a:latin typeface="+mn-lt"/>
                <a:ea typeface="+mn-ea"/>
                <a:cs typeface="+mn-cs"/>
              </a:rPr>
              <a:t>)</a:t>
            </a:r>
            <a:r>
              <a:rPr lang="zh-CN" altLang="en-US" sz="1200" u="none" strike="noStrike" kern="1200" dirty="0">
                <a:solidFill>
                  <a:schemeClr val="tx1"/>
                </a:solidFill>
                <a:effectLst/>
                <a:latin typeface="+mn-lt"/>
                <a:ea typeface="+mn-ea"/>
                <a:cs typeface="+mn-cs"/>
              </a:rPr>
              <a:t>？</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NDVI is a widely used, rigorous remote sensing indicator that measures vegetation health and biomass. It is perfectly suited for analysing ecological death caused by land-use transformation.</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NDVI </a:t>
            </a:r>
            <a:r>
              <a:rPr lang="zh-CN" altLang="en-US" sz="1200" u="none" strike="noStrike" kern="1200" dirty="0">
                <a:solidFill>
                  <a:schemeClr val="tx1"/>
                </a:solidFill>
                <a:effectLst/>
                <a:latin typeface="+mn-lt"/>
                <a:ea typeface="+mn-ea"/>
                <a:cs typeface="+mn-cs"/>
              </a:rPr>
              <a:t>是遥感中最常用的植被指数，能最直观地衡量植被健康和生物量变化。</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NDVI, vegetation index, remote sensing.</a:t>
            </a:r>
          </a:p>
          <a:p>
            <a:r>
              <a:rPr lang="zh-CN" altLang="en-US" sz="1200" b="1" kern="1200" dirty="0">
                <a:solidFill>
                  <a:schemeClr val="tx1"/>
                </a:solidFill>
                <a:effectLst/>
                <a:latin typeface="+mn-lt"/>
                <a:ea typeface="+mn-ea"/>
                <a:cs typeface="+mn-cs"/>
              </a:rPr>
              <a:t>五、结果解释</a:t>
            </a:r>
            <a:r>
              <a:rPr lang="en-GB" sz="1200" b="1" kern="1200" dirty="0">
                <a:solidFill>
                  <a:schemeClr val="tx1"/>
                </a:solidFill>
                <a:effectLst/>
                <a:latin typeface="+mn-lt"/>
                <a:ea typeface="+mn-ea"/>
                <a:cs typeface="+mn-cs"/>
              </a:rPr>
              <a:t> (Interpreting Results)</a:t>
            </a:r>
          </a:p>
          <a:p>
            <a:r>
              <a:rPr lang="en-GB" sz="1200" b="1" kern="1200" dirty="0">
                <a:solidFill>
                  <a:schemeClr val="tx1"/>
                </a:solidFill>
                <a:effectLst/>
                <a:latin typeface="+mn-lt"/>
                <a:ea typeface="+mn-ea"/>
                <a:cs typeface="+mn-cs"/>
              </a:rPr>
              <a:t>10. Could the temperature increase simply be due to general climate change or urbanisation?</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温度上升是否只是因为全球变暖？</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While global climate trends affect temperatures broadly, my analysis uses a localised spatial comparison. The +5°C spike is highly specific to the transformed sprawl zone, indicating it is directly associated with the local land-cover transformation and server exhaust.</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气候变化是全局的，但我关注的是特定区域内突兀的</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局部变化</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。这绝对与当地沥青覆盖和热岛效应直接相关。</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Localised change, land cover, urban heat island.</a:t>
            </a:r>
          </a:p>
          <a:p>
            <a:r>
              <a:rPr lang="zh-CN" altLang="en-US" sz="1200" b="1" kern="1200" dirty="0">
                <a:solidFill>
                  <a:schemeClr val="tx1"/>
                </a:solidFill>
                <a:effectLst/>
                <a:latin typeface="+mn-lt"/>
                <a:ea typeface="+mn-ea"/>
                <a:cs typeface="+mn-cs"/>
              </a:rPr>
              <a:t>六、批评与限制</a:t>
            </a:r>
            <a:r>
              <a:rPr lang="en-GB" sz="1200" b="1" kern="1200" dirty="0">
                <a:solidFill>
                  <a:schemeClr val="tx1"/>
                </a:solidFill>
                <a:effectLst/>
                <a:latin typeface="+mn-lt"/>
                <a:ea typeface="+mn-ea"/>
                <a:cs typeface="+mn-cs"/>
              </a:rPr>
              <a:t> (Critiques &amp; Limitations)</a:t>
            </a:r>
          </a:p>
          <a:p>
            <a:r>
              <a:rPr lang="en-GB" sz="1200" b="1" kern="1200" dirty="0">
                <a:solidFill>
                  <a:schemeClr val="tx1"/>
                </a:solidFill>
                <a:effectLst/>
                <a:latin typeface="+mn-lt"/>
                <a:ea typeface="+mn-ea"/>
                <a:cs typeface="+mn-cs"/>
              </a:rPr>
              <a:t>11. What are the limitations of your study?</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中文题意</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你的研究有哪些局限？</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Answer:</a:t>
            </a:r>
            <a:r>
              <a:rPr lang="en-GB" sz="1200" kern="1200" dirty="0">
                <a:solidFill>
                  <a:schemeClr val="tx1"/>
                </a:solidFill>
                <a:effectLst/>
                <a:latin typeface="+mn-lt"/>
                <a:ea typeface="+mn-ea"/>
                <a:cs typeface="+mn-cs"/>
              </a:rPr>
              <a:t> The main limitations include: 1) reliance on crowdsourced spatial data (OSM), 2) satellite analysis shows correlation but cannot definitively prove isolated direct causation, and 3) the study currently focuses on a single case study (Shepperton).</a:t>
            </a:r>
          </a:p>
          <a:p>
            <a:r>
              <a:rPr lang="zh-CN" altLang="en-US" sz="1200" b="1" kern="1200" dirty="0">
                <a:solidFill>
                  <a:schemeClr val="tx1"/>
                </a:solidFill>
                <a:effectLst/>
                <a:latin typeface="+mn-lt"/>
                <a:ea typeface="+mn-ea"/>
                <a:cs typeface="+mn-cs"/>
              </a:rPr>
              <a:t>中文思路</a:t>
            </a:r>
            <a:r>
              <a:rPr lang="en-GB" sz="1200" b="1"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1. OSM </a:t>
            </a:r>
            <a:r>
              <a:rPr lang="zh-CN" altLang="en-US" sz="1200" kern="1200" dirty="0">
                <a:solidFill>
                  <a:schemeClr val="tx1"/>
                </a:solidFill>
                <a:effectLst/>
                <a:latin typeface="+mn-lt"/>
                <a:ea typeface="+mn-ea"/>
                <a:cs typeface="+mn-cs"/>
              </a:rPr>
              <a:t>是众包数据；</a:t>
            </a:r>
            <a:r>
              <a:rPr lang="en-GB" sz="1200" kern="1200" dirty="0">
                <a:solidFill>
                  <a:schemeClr val="tx1"/>
                </a:solidFill>
                <a:effectLst/>
                <a:latin typeface="+mn-lt"/>
                <a:ea typeface="+mn-ea"/>
                <a:cs typeface="+mn-cs"/>
              </a:rPr>
              <a:t>2. </a:t>
            </a:r>
            <a:r>
              <a:rPr lang="zh-CN" altLang="en-US" sz="1200" kern="1200" dirty="0">
                <a:solidFill>
                  <a:schemeClr val="tx1"/>
                </a:solidFill>
                <a:effectLst/>
                <a:latin typeface="+mn-lt"/>
                <a:ea typeface="+mn-ea"/>
                <a:cs typeface="+mn-cs"/>
              </a:rPr>
              <a:t>卫星数据无法完美证明单一因果关系；</a:t>
            </a:r>
            <a:r>
              <a:rPr lang="en-GB" sz="1200" kern="1200" dirty="0">
                <a:solidFill>
                  <a:schemeClr val="tx1"/>
                </a:solidFill>
                <a:effectLst/>
                <a:latin typeface="+mn-lt"/>
                <a:ea typeface="+mn-ea"/>
                <a:cs typeface="+mn-cs"/>
              </a:rPr>
              <a:t>3. </a:t>
            </a:r>
            <a:r>
              <a:rPr lang="zh-CN" altLang="en-US" sz="1200" kern="1200" dirty="0">
                <a:solidFill>
                  <a:schemeClr val="tx1"/>
                </a:solidFill>
                <a:effectLst/>
                <a:latin typeface="+mn-lt"/>
                <a:ea typeface="+mn-ea"/>
                <a:cs typeface="+mn-cs"/>
              </a:rPr>
              <a:t>目前只分析了单一案例。</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Keywords:</a:t>
            </a:r>
            <a:r>
              <a:rPr lang="en-GB" sz="1200" kern="1200" dirty="0">
                <a:solidFill>
                  <a:schemeClr val="tx1"/>
                </a:solidFill>
                <a:effectLst/>
                <a:latin typeface="+mn-lt"/>
                <a:ea typeface="+mn-ea"/>
                <a:cs typeface="+mn-cs"/>
              </a:rPr>
              <a:t> Limitations, data reliability, causation, single case.</a:t>
            </a:r>
          </a:p>
          <a:p>
            <a:r>
              <a:rPr lang="zh-CN" altLang="en-US" sz="1200" b="1" kern="1200" dirty="0">
                <a:solidFill>
                  <a:schemeClr val="tx1"/>
                </a:solidFill>
                <a:effectLst/>
                <a:latin typeface="+mn-lt"/>
                <a:ea typeface="+mn-ea"/>
                <a:cs typeface="+mn-cs"/>
              </a:rPr>
              <a:t>七、扩展问题</a:t>
            </a:r>
            <a:r>
              <a:rPr lang="en-GB" sz="1200" b="1" kern="1200" dirty="0">
                <a:solidFill>
                  <a:schemeClr val="tx1"/>
                </a:solidFill>
                <a:effectLst/>
                <a:latin typeface="+mn-lt"/>
                <a:ea typeface="+mn-ea"/>
                <a:cs typeface="+mn-cs"/>
              </a:rPr>
              <a:t> (Future Directions)</a:t>
            </a:r>
          </a:p>
          <a:p>
            <a:r>
              <a:rPr lang="en-GB" sz="1200" b="1" kern="1200" dirty="0">
                <a:solidFill>
                  <a:schemeClr val="tx1"/>
                </a:solidFill>
                <a:effectLst/>
                <a:latin typeface="+mn-lt"/>
                <a:ea typeface="+mn-ea"/>
                <a:cs typeface="+mn-cs"/>
              </a:rPr>
              <a:t>12. What could future research explore?</a:t>
            </a:r>
            <a:endParaRPr lang="en-GB" sz="1200" kern="1200" dirty="0">
              <a:solidFill>
                <a:schemeClr val="tx1"/>
              </a:solidFill>
              <a:effectLst/>
              <a:latin typeface="+mn-lt"/>
              <a:ea typeface="+mn-ea"/>
              <a:cs typeface="+mn-cs"/>
            </a:endParaRPr>
          </a:p>
          <a:p>
            <a:pPr lvl="0" fontAlgn="base"/>
            <a:r>
              <a:rPr lang="zh-CN" altLang="en-US" sz="1200" b="1" u="none" strike="noStrike" kern="1200" dirty="0">
                <a:solidFill>
                  <a:schemeClr val="tx1"/>
                </a:solidFill>
                <a:effectLst/>
                <a:latin typeface="+mn-lt"/>
                <a:ea typeface="+mn-ea"/>
                <a:cs typeface="+mn-cs"/>
              </a:rPr>
              <a:t>中文题意</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你的研究未来有什么方向？</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Answer:</a:t>
            </a:r>
            <a:r>
              <a:rPr lang="en-GB" sz="1200" u="none" strike="noStrike" kern="1200" dirty="0">
                <a:solidFill>
                  <a:schemeClr val="tx1"/>
                </a:solidFill>
                <a:effectLst/>
                <a:latin typeface="+mn-lt"/>
                <a:ea typeface="+mn-ea"/>
                <a:cs typeface="+mn-cs"/>
              </a:rPr>
              <a:t> Future work could integrate live energy consumption data, real-time traffic flows, and long-term environmental monitoring across multiple production hubs.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结合真实能源消耗数据、交通流量数据，并在多个影棚进行更长期的监测。</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Keywords:</a:t>
            </a:r>
            <a:r>
              <a:rPr lang="en-GB" sz="1200" u="none" strike="noStrike" kern="1200" dirty="0">
                <a:solidFill>
                  <a:schemeClr val="tx1"/>
                </a:solidFill>
                <a:effectLst/>
                <a:latin typeface="+mn-lt"/>
                <a:ea typeface="+mn-ea"/>
                <a:cs typeface="+mn-cs"/>
              </a:rPr>
              <a:t> Future research, energy data, long-term monitoring.</a:t>
            </a: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八、高危问题应急指南</a:t>
            </a:r>
            <a:r>
              <a:rPr lang="en-GB" sz="1200" b="1" kern="1200" dirty="0">
                <a:solidFill>
                  <a:schemeClr val="tx1"/>
                </a:solidFill>
                <a:effectLst/>
                <a:latin typeface="+mn-lt"/>
                <a:ea typeface="+mn-ea"/>
                <a:cs typeface="+mn-cs"/>
              </a:rPr>
              <a:t> (Survival Guide for Tough Questions)</a:t>
            </a:r>
          </a:p>
          <a:p>
            <a:r>
              <a:rPr lang="en-GB" sz="1200" b="1" kern="1200" dirty="0">
                <a:solidFill>
                  <a:schemeClr val="tx1"/>
                </a:solidFill>
                <a:effectLst/>
                <a:latin typeface="+mn-lt"/>
                <a:ea typeface="+mn-ea"/>
                <a:cs typeface="+mn-cs"/>
              </a:rPr>
              <a:t>1. The "Anti-Tech" Trap (</a:t>
            </a:r>
            <a:r>
              <a:rPr lang="zh-CN" altLang="en-US" sz="1200" b="1" kern="1200" dirty="0">
                <a:solidFill>
                  <a:schemeClr val="tx1"/>
                </a:solidFill>
                <a:effectLst/>
                <a:latin typeface="+mn-lt"/>
                <a:ea typeface="+mn-ea"/>
                <a:cs typeface="+mn-cs"/>
              </a:rPr>
              <a:t>如果你遇到技术乐观派老师</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Are you fundamentally against Virtual Production technology? Is your study just anti-tech?</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"No, not at all. My research focuses on the </a:t>
            </a:r>
            <a:r>
              <a:rPr lang="en-GB" sz="1200" i="1" u="none" strike="noStrike" kern="1200" dirty="0">
                <a:solidFill>
                  <a:schemeClr val="tx1"/>
                </a:solidFill>
                <a:effectLst/>
                <a:latin typeface="+mn-lt"/>
                <a:ea typeface="+mn-ea"/>
                <a:cs typeface="+mn-cs"/>
              </a:rPr>
              <a:t>infrastructural impacts</a:t>
            </a:r>
            <a:r>
              <a:rPr lang="en-GB" sz="1200" u="none" strike="noStrike" kern="1200" dirty="0">
                <a:solidFill>
                  <a:schemeClr val="tx1"/>
                </a:solidFill>
                <a:effectLst/>
                <a:latin typeface="+mn-lt"/>
                <a:ea typeface="+mn-ea"/>
                <a:cs typeface="+mn-cs"/>
              </a:rPr>
              <a:t> and the governance framework of the technology, not denying the technological innovation itself. Virtual production has massive potential, but it needs transparent ecological accounting."</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我不反技术。我关注的是它的基建影响和监管漏洞，技术很好，但需要透明的生态核算。</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2. The Disciplinary Question (</a:t>
            </a:r>
            <a:r>
              <a:rPr lang="zh-CN" altLang="en-US" sz="1200" b="1" kern="1200" dirty="0">
                <a:solidFill>
                  <a:schemeClr val="tx1"/>
                </a:solidFill>
                <a:effectLst/>
                <a:latin typeface="+mn-lt"/>
                <a:ea typeface="+mn-ea"/>
                <a:cs typeface="+mn-cs"/>
              </a:rPr>
              <a:t>关于你的专业定位</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Q:</a:t>
            </a:r>
            <a:r>
              <a:rPr lang="en-GB" sz="1200" u="none" strike="noStrike" kern="1200" dirty="0">
                <a:solidFill>
                  <a:schemeClr val="tx1"/>
                </a:solidFill>
                <a:effectLst/>
                <a:latin typeface="+mn-lt"/>
                <a:ea typeface="+mn-ea"/>
                <a:cs typeface="+mn-cs"/>
              </a:rPr>
              <a:t> </a:t>
            </a:r>
            <a:r>
              <a:rPr lang="en-GB" sz="1200" i="1" u="none" strike="noStrike" kern="1200" dirty="0">
                <a:solidFill>
                  <a:schemeClr val="tx1"/>
                </a:solidFill>
                <a:effectLst/>
                <a:latin typeface="+mn-lt"/>
                <a:ea typeface="+mn-ea"/>
                <a:cs typeface="+mn-cs"/>
              </a:rPr>
              <a:t>Which discipline does your research actually belong to? Is this Geography or Media Studies?</a:t>
            </a:r>
            <a:endParaRPr lang="en-GB" sz="1200" u="none" strike="noStrike" kern="1200" dirty="0">
              <a:solidFill>
                <a:schemeClr val="tx1"/>
              </a:solidFill>
              <a:effectLst/>
              <a:latin typeface="+mn-lt"/>
              <a:ea typeface="+mn-ea"/>
              <a:cs typeface="+mn-cs"/>
            </a:endParaRPr>
          </a:p>
          <a:p>
            <a:pPr lvl="0" fontAlgn="base"/>
            <a:r>
              <a:rPr lang="en-GB" sz="1200" b="1" u="none" strike="noStrike" kern="1200" dirty="0">
                <a:solidFill>
                  <a:schemeClr val="tx1"/>
                </a:solidFill>
                <a:effectLst/>
                <a:latin typeface="+mn-lt"/>
                <a:ea typeface="+mn-ea"/>
                <a:cs typeface="+mn-cs"/>
              </a:rPr>
              <a:t>A:</a:t>
            </a:r>
            <a:r>
              <a:rPr lang="en-GB" sz="1200" u="none" strike="noStrike" kern="1200" dirty="0">
                <a:solidFill>
                  <a:schemeClr val="tx1"/>
                </a:solidFill>
                <a:effectLst/>
                <a:latin typeface="+mn-lt"/>
                <a:ea typeface="+mn-ea"/>
                <a:cs typeface="+mn-cs"/>
              </a:rPr>
              <a:t> "This research sits intentionally at the intersection of media studies, political economy, and spatial data analysis. It uses geographical tools to answer media infrastructure questions."</a:t>
            </a:r>
          </a:p>
          <a:p>
            <a:pPr lvl="0" fontAlgn="base"/>
            <a:r>
              <a:rPr lang="zh-CN" altLang="en-US" sz="1200" b="1" u="none" strike="noStrike" kern="1200" dirty="0">
                <a:solidFill>
                  <a:schemeClr val="tx1"/>
                </a:solidFill>
                <a:effectLst/>
                <a:latin typeface="+mn-lt"/>
                <a:ea typeface="+mn-ea"/>
                <a:cs typeface="+mn-cs"/>
              </a:rPr>
              <a:t>中文思路</a:t>
            </a:r>
            <a:r>
              <a:rPr lang="en-GB" sz="1200" b="1" u="none" strike="noStrike" kern="1200" dirty="0">
                <a:solidFill>
                  <a:schemeClr val="tx1"/>
                </a:solidFill>
                <a:effectLst/>
                <a:latin typeface="+mn-lt"/>
                <a:ea typeface="+mn-ea"/>
                <a:cs typeface="+mn-cs"/>
              </a:rPr>
              <a:t>:</a:t>
            </a:r>
            <a:r>
              <a:rPr lang="en-GB" sz="1200" u="none" strike="noStrike" kern="1200" dirty="0">
                <a:solidFill>
                  <a:schemeClr val="tx1"/>
                </a:solidFill>
                <a:effectLst/>
                <a:latin typeface="+mn-lt"/>
                <a:ea typeface="+mn-ea"/>
                <a:cs typeface="+mn-cs"/>
              </a:rPr>
              <a:t> </a:t>
            </a:r>
            <a:r>
              <a:rPr lang="zh-CN" altLang="en-US" sz="1200" u="none" strike="noStrike" kern="1200" dirty="0">
                <a:solidFill>
                  <a:schemeClr val="tx1"/>
                </a:solidFill>
                <a:effectLst/>
                <a:latin typeface="+mn-lt"/>
                <a:ea typeface="+mn-ea"/>
                <a:cs typeface="+mn-cs"/>
              </a:rPr>
              <a:t>交叉学科。用地理学的工具（卫星），回答媒体基建的问题。</a:t>
            </a:r>
            <a:endParaRPr lang="en-GB" sz="1200" u="none" strike="noStrike"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3. 🌟 The Ultimate Fallback Sentence (</a:t>
            </a:r>
            <a:r>
              <a:rPr lang="zh-CN" altLang="en-US" sz="1200" b="1" kern="1200" dirty="0">
                <a:solidFill>
                  <a:schemeClr val="tx1"/>
                </a:solidFill>
                <a:effectLst/>
                <a:latin typeface="+mn-lt"/>
                <a:ea typeface="+mn-ea"/>
                <a:cs typeface="+mn-cs"/>
              </a:rPr>
              <a:t>最强万能救场句</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如果老师问了一个极其偏门、你完全不懂的数据或理论，保持微笑，直视对方眼睛，并用极其自信的语气说出这句：</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"That is a very insightful question. While my current study focuses primarily on the spatial and infrastructural dimensions, it would certainly be a highly valuable variable to explore in future, expanded research."</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zh-CN" altLang="en-US" sz="1200" i="1" kern="1200" dirty="0">
                <a:solidFill>
                  <a:schemeClr val="tx1"/>
                </a:solidFill>
                <a:effectLst/>
                <a:latin typeface="+mn-lt"/>
                <a:ea typeface="+mn-ea"/>
                <a:cs typeface="+mn-cs"/>
              </a:rPr>
              <a:t>中文</a:t>
            </a:r>
            <a:r>
              <a:rPr lang="en-GB" sz="1200" i="1" kern="1200" dirty="0">
                <a:solidFill>
                  <a:schemeClr val="tx1"/>
                </a:solidFill>
                <a:effectLst/>
                <a:latin typeface="+mn-lt"/>
                <a:ea typeface="+mn-ea"/>
                <a:cs typeface="+mn-cs"/>
              </a:rPr>
              <a:t>: </a:t>
            </a:r>
            <a:r>
              <a:rPr lang="zh-CN" altLang="en-US" sz="1200" i="1" kern="1200" dirty="0">
                <a:solidFill>
                  <a:schemeClr val="tx1"/>
                </a:solidFill>
                <a:effectLst/>
                <a:latin typeface="+mn-lt"/>
                <a:ea typeface="+mn-ea"/>
                <a:cs typeface="+mn-cs"/>
              </a:rPr>
              <a:t>这是一个非常有洞见的问题。虽然我目前的研究主要集中在空间和基建层面，但这绝对是未来扩大研究时非常值得探索的一个变量。</a:t>
            </a:r>
            <a:r>
              <a:rPr lang="en-GB" sz="1200" i="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给你的临场现实建议：</a:t>
            </a:r>
            <a:endParaRPr lang="en-GB" sz="1200" b="1"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在英国的高校答辩中，老师其实最看重三件事（你的</a:t>
            </a:r>
            <a:r>
              <a:rPr lang="en-GB" sz="1200" kern="1200" dirty="0">
                <a:solidFill>
                  <a:schemeClr val="tx1"/>
                </a:solidFill>
                <a:effectLst/>
                <a:latin typeface="+mn-lt"/>
                <a:ea typeface="+mn-ea"/>
                <a:cs typeface="+mn-cs"/>
              </a:rPr>
              <a:t> Q&amp;A </a:t>
            </a:r>
            <a:r>
              <a:rPr lang="zh-CN" altLang="en-US" sz="1200" kern="1200" dirty="0">
                <a:solidFill>
                  <a:schemeClr val="tx1"/>
                </a:solidFill>
                <a:effectLst/>
                <a:latin typeface="+mn-lt"/>
                <a:ea typeface="+mn-ea"/>
                <a:cs typeface="+mn-cs"/>
              </a:rPr>
              <a:t>只要守住这三条底线，绝对拿高分）：</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你是否理解自己的方法（</a:t>
            </a:r>
            <a:r>
              <a:rPr lang="en-GB" sz="1200" b="1" kern="1200" dirty="0">
                <a:solidFill>
                  <a:schemeClr val="tx1"/>
                </a:solidFill>
                <a:effectLst/>
                <a:latin typeface="+mn-lt"/>
                <a:ea typeface="+mn-ea"/>
                <a:cs typeface="+mn-cs"/>
              </a:rPr>
              <a:t>Methodological Literacy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承认用了什么，没用什么。</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你是否知道研究局限（</a:t>
            </a:r>
            <a:r>
              <a:rPr lang="en-GB" sz="1200" b="1" kern="1200" dirty="0">
                <a:solidFill>
                  <a:schemeClr val="tx1"/>
                </a:solidFill>
                <a:effectLst/>
                <a:latin typeface="+mn-lt"/>
                <a:ea typeface="+mn-ea"/>
                <a:cs typeface="+mn-cs"/>
              </a:rPr>
              <a:t>Self-Awareness</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敢于承认局限性，不要硬撑。</a:t>
            </a:r>
            <a:endParaRPr lang="en-GB" sz="1200" kern="1200" dirty="0">
              <a:solidFill>
                <a:schemeClr val="tx1"/>
              </a:solidFill>
              <a:effectLst/>
              <a:latin typeface="+mn-lt"/>
              <a:ea typeface="+mn-ea"/>
              <a:cs typeface="+mn-cs"/>
            </a:endParaRPr>
          </a:p>
          <a:p>
            <a:r>
              <a:rPr lang="zh-CN" altLang="en-US" sz="1200" b="1" kern="1200" dirty="0">
                <a:solidFill>
                  <a:schemeClr val="tx1"/>
                </a:solidFill>
                <a:effectLst/>
                <a:latin typeface="+mn-lt"/>
                <a:ea typeface="+mn-ea"/>
                <a:cs typeface="+mn-cs"/>
              </a:rPr>
              <a:t>你是否不过度夸大结论（</a:t>
            </a:r>
            <a:r>
              <a:rPr lang="en-GB" sz="1200" b="1" kern="1200" dirty="0">
                <a:solidFill>
                  <a:schemeClr val="tx1"/>
                </a:solidFill>
                <a:effectLst/>
                <a:latin typeface="+mn-lt"/>
                <a:ea typeface="+mn-ea"/>
                <a:cs typeface="+mn-cs"/>
              </a:rPr>
              <a:t>Epistemic Modesty</a:t>
            </a:r>
            <a:r>
              <a:rPr lang="zh-CN" altLang="en-US" sz="1200" b="1"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不要说</a:t>
            </a:r>
            <a:r>
              <a:rPr lang="en-GB" sz="1200" kern="1200" dirty="0">
                <a:solidFill>
                  <a:schemeClr val="tx1"/>
                </a:solidFill>
                <a:effectLst/>
                <a:latin typeface="+mn-lt"/>
                <a:ea typeface="+mn-ea"/>
                <a:cs typeface="+mn-cs"/>
              </a:rPr>
              <a:t>“VP</a:t>
            </a:r>
            <a:r>
              <a:rPr lang="zh-CN" altLang="en-US" sz="1200" kern="1200" dirty="0">
                <a:solidFill>
                  <a:schemeClr val="tx1"/>
                </a:solidFill>
                <a:effectLst/>
                <a:latin typeface="+mn-lt"/>
                <a:ea typeface="+mn-ea"/>
                <a:cs typeface="+mn-cs"/>
              </a:rPr>
              <a:t>毁灭了地球</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，而是说</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数据表明</a:t>
            </a:r>
            <a:r>
              <a:rPr lang="en-GB" sz="1200" kern="1200" dirty="0">
                <a:solidFill>
                  <a:schemeClr val="tx1"/>
                </a:solidFill>
                <a:effectLst/>
                <a:latin typeface="+mn-lt"/>
                <a:ea typeface="+mn-ea"/>
                <a:cs typeface="+mn-cs"/>
              </a:rPr>
              <a:t> VP </a:t>
            </a:r>
            <a:r>
              <a:rPr lang="zh-CN" altLang="en-US" sz="1200" kern="1200" dirty="0">
                <a:solidFill>
                  <a:schemeClr val="tx1"/>
                </a:solidFill>
                <a:effectLst/>
                <a:latin typeface="+mn-lt"/>
                <a:ea typeface="+mn-ea"/>
                <a:cs typeface="+mn-cs"/>
              </a:rPr>
              <a:t>转移并加剧了局部的空间压力</a:t>
            </a:r>
            <a:r>
              <a:rPr lang="en-GB"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dirty="0"/>
          </a:p>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E328B34-5197-F73B-27A5-CB0D1CCCE0A3}"/>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5620068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main </a:t>
            </a:r>
            <a:r>
              <a:rPr lang="en-GB" sz="1200" kern="1200" dirty="0" err="1">
                <a:solidFill>
                  <a:schemeClr val="tx1"/>
                </a:solidFill>
                <a:effectLst/>
                <a:latin typeface="+mn-lt"/>
                <a:ea typeface="+mn-ea"/>
                <a:cs typeface="+mn-cs"/>
              </a:rPr>
              <a:t>defense</a:t>
            </a:r>
            <a:r>
              <a:rPr lang="en-GB" sz="1200" kern="1200" dirty="0">
                <a:solidFill>
                  <a:schemeClr val="tx1"/>
                </a:solidFill>
                <a:effectLst/>
                <a:latin typeface="+mn-lt"/>
                <a:ea typeface="+mn-ea"/>
                <a:cs typeface="+mn-cs"/>
              </a:rPr>
              <a:t> is: </a:t>
            </a:r>
            <a:r>
              <a:rPr lang="en-GB" sz="1200" i="1" kern="1200" dirty="0">
                <a:solidFill>
                  <a:schemeClr val="tx1"/>
                </a:solidFill>
                <a:effectLst/>
                <a:latin typeface="+mn-lt"/>
                <a:ea typeface="+mn-ea"/>
                <a:cs typeface="+mn-cs"/>
              </a:rPr>
              <a:t>Doesn't Virtual Production save carbon because people aren't flying to shoot locations?</a:t>
            </a: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81649-6FC8-6BF9-E025-D0B5D5BAF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85EF1-B61D-5FB3-F5C6-C82DD6727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9C8715-E510-8A88-8965-DFC99DA22F3E}"/>
              </a:ext>
            </a:extLst>
          </p:cNvPr>
          <p:cNvSpPr>
            <a:spLocks noGrp="1"/>
          </p:cNvSpPr>
          <p:nvPr>
            <p:ph type="body" idx="1"/>
          </p:nvPr>
        </p:nvSpPr>
        <p:spPr/>
        <p:txBody>
          <a:bodyPr/>
          <a:lstStyle/>
          <a:p>
            <a:r>
              <a:rPr lang="en-GB" dirty="0"/>
              <a:t>It sounds logical, but it ignores the </a:t>
            </a:r>
            <a:r>
              <a:rPr lang="en-GB" b="1" dirty="0"/>
              <a:t>Jevons Paradox</a:t>
            </a:r>
            <a:r>
              <a:rPr lang="en-GB" dirty="0"/>
              <a:t>, which I mentioned in my theoretical framework. Efficiency gains do not lead to reduced consumption; they lead to system expansion. Yes, a specific crew might not fly to a desert. But the massive 5.4 GWh server grid runs 24/7, rendering content for Amazon and Netflix constantly. Furthermore, empirical data shows blockbusters still fly their A-list stars anyway. </a:t>
            </a:r>
            <a:r>
              <a:rPr lang="en-GB" b="1" dirty="0"/>
              <a:t>They haven't replaced aviation; they have simply added a massive, permanent thermodynamic footprint on top of it.</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F17F314-540B-795F-DDD3-10466BBFC989}"/>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2541046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3DB6-8400-AF60-E856-56BD01C46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F92A1-033F-F659-CFB8-7EAB92F6C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BD1F7-B1EA-50FD-6D69-D33B67A62BE2}"/>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Second question: </a:t>
            </a:r>
            <a:r>
              <a:rPr lang="en-GB" sz="1200" i="1" kern="1200" dirty="0">
                <a:solidFill>
                  <a:schemeClr val="tx1"/>
                </a:solidFill>
                <a:effectLst/>
                <a:latin typeface="+mn-lt"/>
                <a:ea typeface="+mn-ea"/>
                <a:cs typeface="+mn-cs"/>
              </a:rPr>
              <a:t>How can I blame this specific concrete sprawl on "Virtual Production"?</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C84C60A-E7B7-A985-B5ED-1812BE815CF5}"/>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4066453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 is a vital methodological question. I did not just guess; I cross-referenced the spatial data with the Spelthorne Borough Council’s planning applications. The specific £392M expansion was legally approved explicitly because Pinewood signed long-term leases with </a:t>
            </a:r>
            <a:r>
              <a:rPr lang="en-GB" b="1" dirty="0"/>
              <a:t>Amazon Prime and Netflix</a:t>
            </a:r>
            <a:r>
              <a:rPr lang="en-GB" dirty="0"/>
              <a:t>—the two biggest drivers of high-end Virtual Production. Furthermore, the 132-kilovolt power nodes are not for standard lighting; they are the exact industrial specifications required for render farms and LED volumes. </a:t>
            </a:r>
            <a:r>
              <a:rPr lang="en-GB" b="1" dirty="0"/>
              <a:t>The asphalt is the physical motherboard for their virtual engine.</a:t>
            </a:r>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07071-DCD6-1A79-AFAA-D81F29C9B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DE5F2-D110-0EE0-3F9D-CEDC93CCF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7C7D7-EFCF-F3A0-BE4B-C74B4DCD489E}"/>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Finally: </a:t>
            </a:r>
            <a:r>
              <a:rPr lang="en-GB" sz="1200" i="1" kern="1200" dirty="0">
                <a:solidFill>
                  <a:schemeClr val="tx1"/>
                </a:solidFill>
                <a:effectLst/>
                <a:latin typeface="+mn-lt"/>
                <a:ea typeface="+mn-ea"/>
                <a:cs typeface="+mn-cs"/>
              </a:rPr>
              <a:t>Isn't a £392 Million economic boost worth cutting down some trees?</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9F02C8B-F148-3D5A-4D03-C70596CDE6C0}"/>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8330708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1FB41-EB43-331B-52D5-A2D4A2291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96B5B-11A6-0122-64D1-7D427959D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6CD0F-1D38-5A4E-1A6D-2B08936C86F8}"/>
              </a:ext>
            </a:extLst>
          </p:cNvPr>
          <p:cNvSpPr>
            <a:spLocks noGrp="1"/>
          </p:cNvSpPr>
          <p:nvPr>
            <p:ph type="body" idx="1"/>
          </p:nvPr>
        </p:nvSpPr>
        <p:spPr/>
        <p:txBody>
          <a:bodyPr/>
          <a:lstStyle/>
          <a:p>
            <a:r>
              <a:rPr lang="en-GB" dirty="0"/>
              <a:t>If you look at this purely through corporate accounting, yes. £392 million is a massive injection. But the question is: </a:t>
            </a:r>
            <a:r>
              <a:rPr lang="en-GB" b="1" dirty="0"/>
              <a:t>Who gets the millions, and who loses the trees?</a:t>
            </a:r>
            <a:r>
              <a:rPr lang="en-GB" dirty="0"/>
              <a:t> The £392 million in Gross Value Added is privatized by Pinewood's global shareholders and streaming giants. However, the ecological cost—the +5°C localized heating, the loss of floodplains, the traffic—is socialized and suffered entirely by the working-class residents of Spelthorne. A £6,150 environmental fee for a £392M profit is not 'economic development'. </a:t>
            </a:r>
            <a:r>
              <a:rPr lang="en-GB" b="1" dirty="0"/>
              <a:t>In Marxist geography, this is the textbook definition of Accumulation by Dispossession.</a:t>
            </a:r>
            <a:r>
              <a:rPr lang="en-GB" dirty="0"/>
              <a:t> We are subsidizing global digital capitalism with local British ecology.</a:t>
            </a: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C3B2B68-36A7-878F-CA24-BD8B19235C39}"/>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1356936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BD0B0-D31C-2EFE-4EE9-486AA3200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098D0-9ED0-00E6-02CE-49AE59C42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85952-4FEC-3C4D-0D52-E2F9D1D3EB3B}"/>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To summarise this evaluation: Efficiency leads to more consumption. The technology is used as an excuse to build. And the financial benefits are deeply unequal.</a:t>
            </a:r>
            <a:r>
              <a:rPr lang="en-GB" dirty="0">
                <a:effectLst/>
              </a:rPr>
              <a:t> </a:t>
            </a:r>
            <a:endParaRPr lang="en-US" dirty="0"/>
          </a:p>
        </p:txBody>
      </p:sp>
      <p:sp>
        <p:nvSpPr>
          <p:cNvPr id="4" name="Slide Number Placeholder 3">
            <a:extLst>
              <a:ext uri="{FF2B5EF4-FFF2-40B4-BE49-F238E27FC236}">
                <a16:creationId xmlns:a16="http://schemas.microsoft.com/office/drawing/2014/main" id="{34108F38-FE97-7D4B-17B3-D53955D0C3DA}"/>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0865324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F9D1-9072-EADF-B20D-185BDD1996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65F34-7E47-4B79-8C60-EB9B403BC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E8108-DB65-6206-794F-233B1B44A46C}"/>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My audit doesn't deny the money being made. It evaluates </a:t>
            </a:r>
            <a:r>
              <a:rPr lang="en-GB" sz="1200" i="1" kern="1200" dirty="0">
                <a:solidFill>
                  <a:schemeClr val="tx1"/>
                </a:solidFill>
                <a:effectLst/>
                <a:latin typeface="+mn-lt"/>
                <a:ea typeface="+mn-ea"/>
                <a:cs typeface="+mn-cs"/>
              </a:rPr>
              <a:t>who</a:t>
            </a:r>
            <a:r>
              <a:rPr lang="en-GB" sz="1200" kern="1200" dirty="0">
                <a:solidFill>
                  <a:schemeClr val="tx1"/>
                </a:solidFill>
                <a:effectLst/>
                <a:latin typeface="+mn-lt"/>
                <a:ea typeface="+mn-ea"/>
                <a:cs typeface="+mn-cs"/>
              </a:rPr>
              <a:t> gets it. The economic gains go to global corporations, while the ecological loss is suffered by local residents.</a:t>
            </a:r>
          </a:p>
        </p:txBody>
      </p:sp>
      <p:sp>
        <p:nvSpPr>
          <p:cNvPr id="4" name="Slide Number Placeholder 3">
            <a:extLst>
              <a:ext uri="{FF2B5EF4-FFF2-40B4-BE49-F238E27FC236}">
                <a16:creationId xmlns:a16="http://schemas.microsoft.com/office/drawing/2014/main" id="{A6A5F616-B334-A5D4-8816-E3A4008EDCBC}"/>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3439250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5828F-E6CD-9058-6D39-8BFA6EC1F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AFC05-229C-7F09-0278-B6710DCCB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EF70-1D66-AB4C-7278-0A1092551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ABDBF-D17F-92A8-D665-F972A82A3D38}"/>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25873715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4BC7-C540-00E0-334D-6715BDA7A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5FF2B-9CDC-1319-D419-A10936416F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6B146-8020-A130-32F7-CC19743AF5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B6BB63-BD5C-461D-0B87-A922CB9CD7CA}"/>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42039835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E48B0-B624-949C-9418-DE8F0A540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0E7B3-C1DB-A5D9-2A30-A439ABB5D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883D-14ED-2AF0-AD2B-266E7E202F1E}"/>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And as we see in the </a:t>
            </a:r>
            <a:r>
              <a:rPr lang="en-GB" sz="1200" kern="1200" dirty="0" err="1">
                <a:solidFill>
                  <a:schemeClr val="tx1"/>
                </a:solidFill>
                <a:effectLst/>
                <a:latin typeface="+mn-lt"/>
                <a:ea typeface="+mn-ea"/>
                <a:cs typeface="+mn-cs"/>
              </a:rPr>
              <a:t>Longcross</a:t>
            </a:r>
            <a:r>
              <a:rPr lang="en-GB" sz="1200" kern="1200" dirty="0">
                <a:solidFill>
                  <a:schemeClr val="tx1"/>
                </a:solidFill>
                <a:effectLst/>
                <a:latin typeface="+mn-lt"/>
                <a:ea typeface="+mn-ea"/>
                <a:cs typeface="+mn-cs"/>
              </a:rPr>
              <a:t> sector on this map, this isn't just one studio; it's a systemic pattern of aggressively expanding into nature.</a:t>
            </a:r>
          </a:p>
        </p:txBody>
      </p:sp>
      <p:sp>
        <p:nvSpPr>
          <p:cNvPr id="4" name="Slide Number Placeholder 3">
            <a:extLst>
              <a:ext uri="{FF2B5EF4-FFF2-40B4-BE49-F238E27FC236}">
                <a16:creationId xmlns:a16="http://schemas.microsoft.com/office/drawing/2014/main" id="{1D80BCA0-860C-8274-ABD5-F16C91BDA947}"/>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117363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F56D-A0F8-913E-F1A1-608388322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0688D-1AF4-701B-4EB3-A13B88329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19B11-4C1A-0341-358D-0153419BA1EF}"/>
              </a:ext>
            </a:extLst>
          </p:cNvPr>
          <p:cNvSpPr>
            <a:spLocks noGrp="1"/>
          </p:cNvSpPr>
          <p:nvPr>
            <p:ph type="body" idx="1"/>
          </p:nvPr>
        </p:nvSpPr>
        <p:spPr/>
        <p:txBody>
          <a:bodyPr/>
          <a:lstStyle/>
          <a:p>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3FDDE86-9318-E71B-4472-C8DBEDEB8072}"/>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4589120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83E1-CAA0-AE8C-3C0C-1C7649343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BEA6B4-1C81-589C-7620-7121E6517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C1E31-6C0D-9DE6-739E-95B2171D006B}"/>
              </a:ext>
            </a:extLst>
          </p:cNvPr>
          <p:cNvSpPr>
            <a:spLocks noGrp="1"/>
          </p:cNvSpPr>
          <p:nvPr>
            <p:ph type="body" idx="1"/>
          </p:nvPr>
        </p:nvSpPr>
        <p:spPr/>
        <p:txBody>
          <a:bodyPr/>
          <a:lstStyle/>
          <a:p>
            <a:r>
              <a:rPr lang="en-GB" sz="1200" kern="1200" dirty="0">
                <a:solidFill>
                  <a:schemeClr val="tx1"/>
                </a:solidFill>
                <a:effectLst/>
                <a:latin typeface="+mn-lt"/>
                <a:ea typeface="+mn-ea"/>
                <a:cs typeface="+mn-cs"/>
              </a:rPr>
              <a:t>Here are my theoretical and institutional sources.</a:t>
            </a:r>
            <a:r>
              <a:rPr lang="en-GB" dirty="0">
                <a:effectLst/>
              </a:rPr>
              <a:t> </a:t>
            </a:r>
            <a:endParaRPr lang="en-US" dirty="0"/>
          </a:p>
        </p:txBody>
      </p:sp>
      <p:sp>
        <p:nvSpPr>
          <p:cNvPr id="4" name="Slide Number Placeholder 3">
            <a:extLst>
              <a:ext uri="{FF2B5EF4-FFF2-40B4-BE49-F238E27FC236}">
                <a16:creationId xmlns:a16="http://schemas.microsoft.com/office/drawing/2014/main" id="{9578B4BF-6BAC-97B9-FD58-2272B5A33F73}"/>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708427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532A1B3-75D6-CC47-941A-77F100AC3406}"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42686508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32A1B3-75D6-CC47-941A-77F100AC3406}"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4070175798"/>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532A1B3-75D6-CC47-941A-77F100AC3406}"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280598124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532A1B3-75D6-CC47-941A-77F100AC3406}"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4217014075"/>
      </p:ext>
    </p:extLst>
  </p:cSld>
  <p:clrMapOvr>
    <a:masterClrMapping/>
  </p:clrMapOvr>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532A1B3-75D6-CC47-941A-77F100AC3406}" type="datetimeFigureOut">
              <a:rPr lang="en-GB" smtClean="0"/>
              <a:t>06/03/2026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4290452062"/>
      </p:ext>
    </p:extLst>
  </p:cSld>
  <p:clrMapOvr>
    <a:masterClrMapping/>
  </p:clrMapOvr>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532A1B3-75D6-CC47-941A-77F100AC3406}" type="datetimeFigureOut">
              <a:rPr lang="en-GB" smtClean="0"/>
              <a:t>06/03/2026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2317834983"/>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32A1B3-75D6-CC47-941A-77F100AC3406}" type="datetimeFigureOut">
              <a:rPr lang="en-GB" smtClean="0"/>
              <a:t>06/03/2026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7831203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532A1B3-75D6-CC47-941A-77F100AC3406}"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226998301"/>
      </p:ext>
    </p:extLst>
  </p:cSld>
  <p:clrMapOvr>
    <a:masterClrMapping/>
  </p:clrMapOvr>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5532A1B3-75D6-CC47-941A-77F100AC3406}" type="datetimeFigureOut">
              <a:rPr lang="en-GB" smtClean="0"/>
              <a:t>06/03/2026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2897428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32A1B3-75D6-CC47-941A-77F100AC3406}"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101017603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32A1B3-75D6-CC47-941A-77F100AC3406}" type="datetimeFigureOut">
              <a:rPr lang="en-GB" smtClean="0"/>
              <a:t>06/03/2026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143E26-8570-3641-AB6D-1DD8E2FB9DC9}" type="slidenum">
              <a:rPr lang="en-GB" smtClean="0"/>
              <a:t>‹#›</a:t>
            </a:fld>
            <a:endParaRPr lang="en-GB"/>
          </a:p>
        </p:txBody>
      </p:sp>
    </p:spTree>
    <p:extLst>
      <p:ext uri="{BB962C8B-B14F-4D97-AF65-F5344CB8AC3E}">
        <p14:creationId xmlns:p14="http://schemas.microsoft.com/office/powerpoint/2010/main" val="2742214113"/>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912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532A1B3-75D6-CC47-941A-77F100AC3406}" type="datetimeFigureOut">
              <a:rPr lang="en-GB" smtClean="0"/>
              <a:t>06/03/2026</a:t>
            </a:fld>
            <a:endParaRPr lang="en-GB"/>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75143E26-8570-3641-AB6D-1DD8E2FB9DC9}" type="slidenum">
              <a:rPr lang="en-GB" smtClean="0"/>
              <a:t>‹#›</a:t>
            </a:fld>
            <a:endParaRPr lang="en-GB"/>
          </a:p>
        </p:txBody>
      </p:sp>
    </p:spTree>
    <p:extLst>
      <p:ext uri="{BB962C8B-B14F-4D97-AF65-F5344CB8AC3E}">
        <p14:creationId xmlns:p14="http://schemas.microsoft.com/office/powerpoint/2010/main" val="4273629525"/>
      </p:ext>
    </p:extLst>
  </p:cSld>
  <p:clrMap bg1="lt1" tx1="dk1" bg2="lt2" tx2="dk2" accent1="accent1" accent2="accent2" accent3="accent3" accent4="accent4" accent5="accent5" accent6="accent6" hlink="hlink" folHlink="folHlink"/>
  <p:sldLayoutIdLst>
    <p:sldLayoutId id="2147484378" r:id="rId1"/>
    <p:sldLayoutId id="2147484379" r:id="rId2"/>
    <p:sldLayoutId id="2147484380" r:id="rId3"/>
    <p:sldLayoutId id="2147484381" r:id="rId4"/>
    <p:sldLayoutId id="2147484382" r:id="rId5"/>
    <p:sldLayoutId id="2147484383" r:id="rId6"/>
    <p:sldLayoutId id="2147484384" r:id="rId7"/>
    <p:sldLayoutId id="2147484385" r:id="rId8"/>
    <p:sldLayoutId id="2147484386" r:id="rId9"/>
    <p:sldLayoutId id="2147484387" r:id="rId10"/>
    <p:sldLayoutId id="2147484388" r:id="rId11"/>
    <p:sldLayoutId id="214748438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hyperlink" Target="https://code.earthengine.google.com/0cd023633ba069e4320a7a081bd65b62"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tps://www.awn.com/news/epic-games-releases-free-15-hour-virtual-production-primer"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code.earthengine.google.com/0cd023633ba069e4320a7a081bd65b62" TargetMode="External"/><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hyperlink" Target="https://planet.openstreetmap.org/" TargetMode="External"/><Relationship Id="rId4" Type="http://schemas.openxmlformats.org/officeDocument/2006/relationships/hyperlink" Target="https://code.earthengine.google.com/badb69f97aeb6a7a52e7be39ef1d7e6c"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4" name="Text 0"/>
          <p:cNvSpPr/>
          <p:nvPr/>
        </p:nvSpPr>
        <p:spPr>
          <a:xfrm>
            <a:off x="609600" y="1339174"/>
            <a:ext cx="7924800" cy="1097161"/>
          </a:xfrm>
          <a:prstGeom prst="rect">
            <a:avLst/>
          </a:prstGeom>
          <a:noFill/>
          <a:ln/>
        </p:spPr>
        <p:txBody>
          <a:bodyPr wrap="square" lIns="0" tIns="0" rIns="0" bIns="0" rtlCol="0" anchor="t"/>
          <a:lstStyle/>
          <a:p>
            <a:pPr marL="0" indent="0" algn="ctr">
              <a:lnSpc>
                <a:spcPts val="4320"/>
              </a:lnSpc>
              <a:buNone/>
            </a:pPr>
            <a:r>
              <a:rPr lang="en-US" sz="3600" b="1" dirty="0">
                <a:solidFill>
                  <a:srgbClr val="FFFFFF"/>
                </a:solidFill>
                <a:latin typeface="Garamond Premr Pro Disp" panose="02020402060506020403" pitchFamily="18" charset="0"/>
                <a:ea typeface="Garamond" pitchFamily="34" charset="-122"/>
                <a:cs typeface="Garamond" pitchFamily="34" charset="-120"/>
              </a:rPr>
              <a:t>The Political Economy of Greenwashing</a:t>
            </a:r>
            <a:endParaRPr lang="en-US" sz="3600" b="1" dirty="0">
              <a:latin typeface="Garamond Premr Pro Disp" panose="02020402060506020403" pitchFamily="18" charset="0"/>
            </a:endParaRPr>
          </a:p>
        </p:txBody>
      </p:sp>
      <p:sp>
        <p:nvSpPr>
          <p:cNvPr id="5" name="Text 1"/>
          <p:cNvSpPr/>
          <p:nvPr/>
        </p:nvSpPr>
        <p:spPr>
          <a:xfrm>
            <a:off x="530351" y="2436335"/>
            <a:ext cx="8083296" cy="261937"/>
          </a:xfrm>
          <a:prstGeom prst="rect">
            <a:avLst/>
          </a:prstGeom>
          <a:noFill/>
          <a:ln/>
        </p:spPr>
        <p:txBody>
          <a:bodyPr wrap="square" lIns="0" tIns="0" rIns="0" bIns="0" rtlCol="0" anchor="t"/>
          <a:lstStyle/>
          <a:p>
            <a:pPr marL="0" indent="0" algn="ctr">
              <a:lnSpc>
                <a:spcPts val="1620"/>
              </a:lnSpc>
              <a:buNone/>
            </a:pPr>
            <a:r>
              <a:rPr lang="en-US" sz="1800" dirty="0">
                <a:solidFill>
                  <a:srgbClr val="CCCCCC"/>
                </a:solidFill>
                <a:latin typeface="Garamond Premr Pro" panose="02020402060506020403" pitchFamily="18" charset="0"/>
                <a:ea typeface="Garamond" pitchFamily="34" charset="-122"/>
                <a:cs typeface="Garamond" pitchFamily="34" charset="-120"/>
              </a:rPr>
              <a:t>Spatialising the Myth of Immateriality in Virtual Production</a:t>
            </a:r>
            <a:r>
              <a:rPr lang="zh-CN" altLang="en-US" sz="1800" dirty="0">
                <a:solidFill>
                  <a:srgbClr val="CCCCCC"/>
                </a:solidFill>
                <a:latin typeface="Garamond Premr Pro" panose="02020402060506020403" pitchFamily="18" charset="0"/>
                <a:ea typeface="Garamond" pitchFamily="34" charset="-122"/>
                <a:cs typeface="Garamond" pitchFamily="34" charset="-120"/>
              </a:rPr>
              <a:t> </a:t>
            </a:r>
            <a:r>
              <a:rPr lang="en-US" altLang="zh-CN" sz="1800" dirty="0">
                <a:solidFill>
                  <a:srgbClr val="CCCCCC"/>
                </a:solidFill>
                <a:latin typeface="Garamond Premr Pro" panose="02020402060506020403" pitchFamily="18" charset="0"/>
                <a:ea typeface="Garamond" pitchFamily="34" charset="-122"/>
                <a:cs typeface="Garamond" pitchFamily="34" charset="-120"/>
              </a:rPr>
              <a:t>and Digital Spatial Fix</a:t>
            </a:r>
            <a:endParaRPr lang="en-US" sz="1800" dirty="0">
              <a:latin typeface="Garamond Premr Pro" panose="02020402060506020403" pitchFamily="18" charset="0"/>
            </a:endParaRPr>
          </a:p>
        </p:txBody>
      </p:sp>
      <p:sp>
        <p:nvSpPr>
          <p:cNvPr id="7" name="TextBox 6">
            <a:extLst>
              <a:ext uri="{FF2B5EF4-FFF2-40B4-BE49-F238E27FC236}">
                <a16:creationId xmlns:a16="http://schemas.microsoft.com/office/drawing/2014/main" id="{8771FF7E-E423-3B39-271C-70CAEF3E7595}"/>
              </a:ext>
            </a:extLst>
          </p:cNvPr>
          <p:cNvSpPr txBox="1"/>
          <p:nvPr/>
        </p:nvSpPr>
        <p:spPr>
          <a:xfrm>
            <a:off x="4110976" y="3348830"/>
            <a:ext cx="922047" cy="369332"/>
          </a:xfrm>
          <a:prstGeom prst="rect">
            <a:avLst/>
          </a:prstGeom>
          <a:noFill/>
        </p:spPr>
        <p:txBody>
          <a:bodyPr wrap="none" rtlCol="0">
            <a:spAutoFit/>
          </a:bodyPr>
          <a:lstStyle/>
          <a:p>
            <a:r>
              <a:rPr lang="en-GB" dirty="0">
                <a:solidFill>
                  <a:schemeClr val="bg1">
                    <a:lumMod val="65000"/>
                  </a:schemeClr>
                </a:solidFill>
                <a:latin typeface="Garamond Premr Pro Lt Disp" panose="02020302060506020403" pitchFamily="18" charset="0"/>
              </a:rPr>
              <a:t>Hanpu</a:t>
            </a:r>
            <a:r>
              <a:rPr lang="zh-CN" altLang="en-US" dirty="0">
                <a:solidFill>
                  <a:schemeClr val="bg1">
                    <a:lumMod val="65000"/>
                  </a:schemeClr>
                </a:solidFill>
                <a:latin typeface="Garamond Premr Pro Lt Disp" panose="02020302060506020403" pitchFamily="18" charset="0"/>
              </a:rPr>
              <a:t> </a:t>
            </a:r>
            <a:r>
              <a:rPr lang="en-US" altLang="zh-CN" dirty="0">
                <a:solidFill>
                  <a:schemeClr val="bg1">
                    <a:lumMod val="65000"/>
                  </a:schemeClr>
                </a:solidFill>
                <a:latin typeface="Garamond Premr Pro Lt Disp" panose="02020302060506020403" pitchFamily="18" charset="0"/>
              </a:rPr>
              <a:t>Li</a:t>
            </a:r>
            <a:endParaRPr lang="en-GB" dirty="0">
              <a:solidFill>
                <a:schemeClr val="bg1">
                  <a:lumMod val="65000"/>
                </a:schemeClr>
              </a:solidFill>
              <a:latin typeface="Garamond Premr Pro Lt Disp" panose="020203020605060204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6C41C3B-FAB1-5E82-8B3A-7C922F993E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DE1C14-3AFA-C094-4F2A-B55838666C58}"/>
              </a:ext>
            </a:extLst>
          </p:cNvPr>
          <p:cNvPicPr>
            <a:picLocks noChangeAspect="1"/>
          </p:cNvPicPr>
          <p:nvPr/>
        </p:nvPicPr>
        <p:blipFill>
          <a:blip r:embed="rId3"/>
          <a:stretch>
            <a:fill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E82B3A09-5CF2-2D07-FA56-3A17B46A36E2}"/>
              </a:ext>
            </a:extLst>
          </p:cNvPr>
          <p:cNvSpPr txBox="1"/>
          <p:nvPr/>
        </p:nvSpPr>
        <p:spPr>
          <a:xfrm>
            <a:off x="0" y="4866501"/>
            <a:ext cx="6994607" cy="276999"/>
          </a:xfrm>
          <a:prstGeom prst="rect">
            <a:avLst/>
          </a:prstGeom>
          <a:noFill/>
        </p:spPr>
        <p:txBody>
          <a:bodyPr wrap="none" rtlCol="0">
            <a:spAutoFit/>
          </a:bodyPr>
          <a:lstStyle/>
          <a:p>
            <a:r>
              <a:rPr lang="en-GB" sz="1200" b="1" dirty="0">
                <a:solidFill>
                  <a:schemeClr val="bg1"/>
                </a:solidFill>
                <a:highlight>
                  <a:srgbClr val="000000"/>
                </a:highlight>
                <a:latin typeface="Garamond Premr Pro" panose="02020402060506020403" pitchFamily="18" charset="0"/>
              </a:rPr>
              <a:t>Fig. 1.</a:t>
            </a:r>
            <a:r>
              <a:rPr lang="en-GB" sz="1200" dirty="0">
                <a:solidFill>
                  <a:schemeClr val="bg1"/>
                </a:solidFill>
                <a:highlight>
                  <a:srgbClr val="000000"/>
                </a:highlight>
                <a:latin typeface="Garamond Premr Pro" panose="02020402060506020403" pitchFamily="18" charset="0"/>
              </a:rPr>
              <a:t> Promotional imagery for Epic Games' Virtual Production curriculum (Animation World Network, 2020).</a:t>
            </a:r>
          </a:p>
        </p:txBody>
      </p:sp>
    </p:spTree>
    <p:extLst>
      <p:ext uri="{BB962C8B-B14F-4D97-AF65-F5344CB8AC3E}">
        <p14:creationId xmlns:p14="http://schemas.microsoft.com/office/powerpoint/2010/main" val="244783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1587F57-E9C9-650B-3475-91001B6BE6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31AAA70-A6E1-A94B-90FC-F59C8148561C}"/>
              </a:ext>
            </a:extLst>
          </p:cNvPr>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Disp" panose="02020402060506020403" pitchFamily="18" charset="0"/>
              </a:rPr>
              <a:t>Research Question &amp; Contribution</a:t>
            </a:r>
          </a:p>
        </p:txBody>
      </p:sp>
      <p:sp>
        <p:nvSpPr>
          <p:cNvPr id="3" name="Text 1">
            <a:extLst>
              <a:ext uri="{FF2B5EF4-FFF2-40B4-BE49-F238E27FC236}">
                <a16:creationId xmlns:a16="http://schemas.microsoft.com/office/drawing/2014/main" id="{8BAA1202-1303-38B3-225B-C27A056FE347}"/>
              </a:ext>
            </a:extLst>
          </p:cNvPr>
          <p:cNvSpPr/>
          <p:nvPr/>
        </p:nvSpPr>
        <p:spPr>
          <a:xfrm>
            <a:off x="609600" y="1469992"/>
            <a:ext cx="8083296" cy="554425"/>
          </a:xfrm>
          <a:prstGeom prst="rect">
            <a:avLst/>
          </a:prstGeom>
          <a:noFill/>
          <a:ln/>
        </p:spPr>
        <p:txBody>
          <a:bodyPr wrap="square" lIns="0" tIns="0" rIns="0" bIns="0" rtlCol="0" anchor="t"/>
          <a:lstStyle/>
          <a:p>
            <a:pPr>
              <a:lnSpc>
                <a:spcPct val="150000"/>
              </a:lnSpc>
            </a:pPr>
            <a:r>
              <a:rPr lang="en-GB" sz="1600" dirty="0">
                <a:solidFill>
                  <a:schemeClr val="bg1"/>
                </a:solidFill>
                <a:latin typeface="Garamond Premr Pro" panose="02020402060506020403" pitchFamily="18" charset="0"/>
              </a:rPr>
              <a:t>How does virtual production, framed as a low-carbon digital alternative, reorganise land use, energy demand and spatial governance at the metropolitan periphery?</a:t>
            </a:r>
          </a:p>
        </p:txBody>
      </p:sp>
      <p:sp>
        <p:nvSpPr>
          <p:cNvPr id="5" name="Text 3">
            <a:extLst>
              <a:ext uri="{FF2B5EF4-FFF2-40B4-BE49-F238E27FC236}">
                <a16:creationId xmlns:a16="http://schemas.microsoft.com/office/drawing/2014/main" id="{2EF75614-6995-753F-A6C3-3F1F52C6BFD3}"/>
              </a:ext>
            </a:extLst>
          </p:cNvPr>
          <p:cNvSpPr/>
          <p:nvPr/>
        </p:nvSpPr>
        <p:spPr>
          <a:xfrm>
            <a:off x="609600" y="2571750"/>
            <a:ext cx="8083296" cy="245666"/>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Contribution</a:t>
            </a:r>
          </a:p>
        </p:txBody>
      </p:sp>
      <p:sp>
        <p:nvSpPr>
          <p:cNvPr id="6" name="Text 3">
            <a:extLst>
              <a:ext uri="{FF2B5EF4-FFF2-40B4-BE49-F238E27FC236}">
                <a16:creationId xmlns:a16="http://schemas.microsoft.com/office/drawing/2014/main" id="{F9164ADA-7CDE-6BFD-F937-3923E39DC75C}"/>
              </a:ext>
            </a:extLst>
          </p:cNvPr>
          <p:cNvSpPr/>
          <p:nvPr/>
        </p:nvSpPr>
        <p:spPr>
          <a:xfrm>
            <a:off x="609600" y="2786985"/>
            <a:ext cx="8083296" cy="775405"/>
          </a:xfrm>
          <a:prstGeom prst="rect">
            <a:avLst/>
          </a:prstGeom>
          <a:noFill/>
          <a:ln/>
        </p:spPr>
        <p:txBody>
          <a:bodyPr wrap="square" lIns="0" tIns="0" rIns="0" bIns="0" rtlCol="0" anchor="t"/>
          <a:lstStyle/>
          <a:p>
            <a:pPr>
              <a:lnSpc>
                <a:spcPct val="150000"/>
              </a:lnSpc>
            </a:pPr>
            <a:r>
              <a:rPr lang="en-GB" sz="1600" dirty="0">
                <a:solidFill>
                  <a:schemeClr val="bg1"/>
                </a:solidFill>
                <a:latin typeface="Garamond Premr Pro" panose="02020402060506020403" pitchFamily="18" charset="0"/>
              </a:rPr>
              <a:t>Conceptually: situates virtual production within the Digital Spatial Fix</a:t>
            </a:r>
          </a:p>
          <a:p>
            <a:pPr>
              <a:lnSpc>
                <a:spcPct val="150000"/>
              </a:lnSpc>
            </a:pPr>
            <a:r>
              <a:rPr lang="en-GB" sz="1600" dirty="0">
                <a:solidFill>
                  <a:schemeClr val="bg1"/>
                </a:solidFill>
                <a:latin typeface="Garamond Premr Pro" panose="02020402060506020403" pitchFamily="18" charset="0"/>
              </a:rPr>
              <a:t>Methodologically: develops a replicable forensic spatial audit pipeline</a:t>
            </a:r>
          </a:p>
          <a:p>
            <a:pPr>
              <a:lnSpc>
                <a:spcPct val="150000"/>
              </a:lnSpc>
            </a:pPr>
            <a:r>
              <a:rPr lang="en-GB" sz="1600" dirty="0">
                <a:solidFill>
                  <a:schemeClr val="bg1"/>
                </a:solidFill>
                <a:latin typeface="Garamond Premr Pro" panose="02020402060506020403" pitchFamily="18" charset="0"/>
              </a:rPr>
              <a:t>Empirically: quantifies spatial, discursive and economic asymmetries in the Shepperton expansion</a:t>
            </a:r>
          </a:p>
        </p:txBody>
      </p:sp>
      <p:sp>
        <p:nvSpPr>
          <p:cNvPr id="9" name="Text 3">
            <a:extLst>
              <a:ext uri="{FF2B5EF4-FFF2-40B4-BE49-F238E27FC236}">
                <a16:creationId xmlns:a16="http://schemas.microsoft.com/office/drawing/2014/main" id="{E0542662-FFB1-F5D2-27E7-F5BF66B56133}"/>
              </a:ext>
            </a:extLst>
          </p:cNvPr>
          <p:cNvSpPr/>
          <p:nvPr/>
        </p:nvSpPr>
        <p:spPr>
          <a:xfrm>
            <a:off x="609600" y="1249635"/>
            <a:ext cx="8083296" cy="282335"/>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Research</a:t>
            </a:r>
            <a:r>
              <a:rPr lang="zh-CN" altLang="en-US" dirty="0">
                <a:solidFill>
                  <a:schemeClr val="bg1"/>
                </a:solidFill>
                <a:latin typeface="Garamond Premr Pro" panose="02020402060506020403" pitchFamily="18" charset="0"/>
              </a:rPr>
              <a:t> </a:t>
            </a:r>
            <a:r>
              <a:rPr lang="en-US" altLang="zh-CN" dirty="0">
                <a:solidFill>
                  <a:schemeClr val="bg1"/>
                </a:solidFill>
                <a:latin typeface="Garamond Premr Pro" panose="02020402060506020403" pitchFamily="18" charset="0"/>
              </a:rPr>
              <a:t>Question</a:t>
            </a:r>
            <a:endParaRPr lang="en-GB" dirty="0">
              <a:solidFill>
                <a:schemeClr val="bg1"/>
              </a:solidFill>
              <a:latin typeface="Garamond Premr Pro" panose="02020402060506020403" pitchFamily="18" charset="0"/>
            </a:endParaRPr>
          </a:p>
        </p:txBody>
      </p:sp>
    </p:spTree>
    <p:extLst>
      <p:ext uri="{BB962C8B-B14F-4D97-AF65-F5344CB8AC3E}">
        <p14:creationId xmlns:p14="http://schemas.microsoft.com/office/powerpoint/2010/main" val="45612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66AB2DA-A420-E2B6-B0B0-E07C4225A2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5D8B1C6-40BE-4FBC-B67B-B1FEF7844554}"/>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a:solidFill>
                  <a:srgbClr val="FFFFFF"/>
                </a:solidFill>
                <a:latin typeface="Garamond Premr Pro" panose="02020402060506020403" pitchFamily="18" charset="0"/>
                <a:ea typeface="Garamond" pitchFamily="34" charset="-122"/>
                <a:cs typeface="Garamond" pitchFamily="34" charset="-120"/>
              </a:rPr>
              <a:t>Situation</a:t>
            </a:r>
            <a:endParaRPr lang="en-US" sz="2700" b="1" dirty="0">
              <a:latin typeface="Garamond Premr Pro" panose="02020402060506020403" pitchFamily="18" charset="0"/>
            </a:endParaRPr>
          </a:p>
        </p:txBody>
      </p:sp>
      <p:sp>
        <p:nvSpPr>
          <p:cNvPr id="3" name="Text 1">
            <a:extLst>
              <a:ext uri="{FF2B5EF4-FFF2-40B4-BE49-F238E27FC236}">
                <a16:creationId xmlns:a16="http://schemas.microsoft.com/office/drawing/2014/main" id="{6C6E5161-3F94-D5D1-7CB4-A595DAF1373B}"/>
              </a:ext>
            </a:extLst>
          </p:cNvPr>
          <p:cNvSpPr/>
          <p:nvPr/>
        </p:nvSpPr>
        <p:spPr>
          <a:xfrm>
            <a:off x="609600" y="1325835"/>
            <a:ext cx="8083296" cy="381000"/>
          </a:xfrm>
          <a:prstGeom prst="rect">
            <a:avLst/>
          </a:prstGeom>
          <a:noFill/>
          <a:ln/>
        </p:spPr>
        <p:txBody>
          <a:bodyPr wrap="square" lIns="0" tIns="0" rIns="0" bIns="0" rtlCol="0" anchor="t"/>
          <a:lstStyle/>
          <a:p>
            <a:r>
              <a:rPr lang="en-GB" sz="1500">
                <a:solidFill>
                  <a:schemeClr val="bg1"/>
                </a:solidFill>
                <a:latin typeface="Garamond Premr Pro" panose="02020402060506020403" pitchFamily="18" charset="0"/>
              </a:rPr>
              <a:t>Growth of Virtual Production in UK screen industries</a:t>
            </a:r>
            <a:endParaRPr lang="en-GB" sz="1500" dirty="0">
              <a:solidFill>
                <a:schemeClr val="bg1"/>
              </a:solidFill>
              <a:latin typeface="Garamond Premr Pro" panose="02020402060506020403" pitchFamily="18" charset="0"/>
            </a:endParaRPr>
          </a:p>
        </p:txBody>
      </p:sp>
      <p:sp>
        <p:nvSpPr>
          <p:cNvPr id="4" name="Text 2">
            <a:extLst>
              <a:ext uri="{FF2B5EF4-FFF2-40B4-BE49-F238E27FC236}">
                <a16:creationId xmlns:a16="http://schemas.microsoft.com/office/drawing/2014/main" id="{2C99B87D-1094-6517-A0D4-5FCC2AA72FA3}"/>
              </a:ext>
            </a:extLst>
          </p:cNvPr>
          <p:cNvSpPr/>
          <p:nvPr/>
        </p:nvSpPr>
        <p:spPr>
          <a:xfrm>
            <a:off x="609600" y="1935435"/>
            <a:ext cx="8083296" cy="381000"/>
          </a:xfrm>
          <a:prstGeom prst="rect">
            <a:avLst/>
          </a:prstGeom>
          <a:noFill/>
          <a:ln/>
        </p:spPr>
        <p:txBody>
          <a:bodyPr wrap="square" lIns="0" tIns="0" rIns="0" bIns="0" rtlCol="0" anchor="t"/>
          <a:lstStyle/>
          <a:p>
            <a:r>
              <a:rPr lang="en-GB" sz="1500">
                <a:solidFill>
                  <a:schemeClr val="bg1"/>
                </a:solidFill>
                <a:latin typeface="Garamond Premr Pro" panose="02020402060506020403" pitchFamily="18" charset="0"/>
              </a:rPr>
              <a:t>Framed as sustainable alternative to location shooting</a:t>
            </a:r>
            <a:endParaRPr lang="en-GB" sz="1500" dirty="0">
              <a:solidFill>
                <a:schemeClr val="bg1"/>
              </a:solidFill>
              <a:latin typeface="Garamond Premr Pro" panose="02020402060506020403" pitchFamily="18" charset="0"/>
            </a:endParaRPr>
          </a:p>
        </p:txBody>
      </p:sp>
      <p:sp>
        <p:nvSpPr>
          <p:cNvPr id="5" name="Text 3">
            <a:extLst>
              <a:ext uri="{FF2B5EF4-FFF2-40B4-BE49-F238E27FC236}">
                <a16:creationId xmlns:a16="http://schemas.microsoft.com/office/drawing/2014/main" id="{DE26A070-9F50-ADFB-2CD5-9DEE206786A7}"/>
              </a:ext>
            </a:extLst>
          </p:cNvPr>
          <p:cNvSpPr/>
          <p:nvPr/>
        </p:nvSpPr>
        <p:spPr>
          <a:xfrm>
            <a:off x="609600" y="2545035"/>
            <a:ext cx="8083296" cy="381000"/>
          </a:xfrm>
          <a:prstGeom prst="rect">
            <a:avLst/>
          </a:prstGeom>
          <a:noFill/>
          <a:ln/>
        </p:spPr>
        <p:txBody>
          <a:bodyPr wrap="square" lIns="0" tIns="0" rIns="0" bIns="0" rtlCol="0" anchor="t"/>
          <a:lstStyle/>
          <a:p>
            <a:r>
              <a:rPr lang="en-GB" sz="1500">
                <a:solidFill>
                  <a:schemeClr val="bg1"/>
                </a:solidFill>
                <a:latin typeface="Garamond Premr Pro" panose="02020402060506020403" pitchFamily="18" charset="0"/>
              </a:rPr>
              <a:t>Case: Shepperton Studios Expansion</a:t>
            </a:r>
            <a:endParaRPr lang="en-GB" sz="1500" dirty="0">
              <a:solidFill>
                <a:schemeClr val="bg1"/>
              </a:solidFill>
              <a:latin typeface="Garamond Premr Pro" panose="02020402060506020403" pitchFamily="18" charset="0"/>
            </a:endParaRPr>
          </a:p>
        </p:txBody>
      </p:sp>
      <p:sp>
        <p:nvSpPr>
          <p:cNvPr id="6" name="Text 3">
            <a:extLst>
              <a:ext uri="{FF2B5EF4-FFF2-40B4-BE49-F238E27FC236}">
                <a16:creationId xmlns:a16="http://schemas.microsoft.com/office/drawing/2014/main" id="{D66C8AB6-7565-6095-F2F5-895BD6F1596F}"/>
              </a:ext>
            </a:extLst>
          </p:cNvPr>
          <p:cNvSpPr/>
          <p:nvPr/>
        </p:nvSpPr>
        <p:spPr>
          <a:xfrm>
            <a:off x="609600" y="3154635"/>
            <a:ext cx="8083296" cy="381000"/>
          </a:xfrm>
          <a:prstGeom prst="rect">
            <a:avLst/>
          </a:prstGeom>
          <a:noFill/>
          <a:ln/>
        </p:spPr>
        <p:txBody>
          <a:bodyPr wrap="square" lIns="0" tIns="0" rIns="0" bIns="0" rtlCol="0" anchor="t"/>
          <a:lstStyle/>
          <a:p>
            <a:r>
              <a:rPr lang="en-GB" sz="1500">
                <a:solidFill>
                  <a:schemeClr val="bg1"/>
                </a:solidFill>
                <a:latin typeface="Garamond Premr Pro" panose="02020402060506020403" pitchFamily="18" charset="0"/>
              </a:rPr>
              <a:t>Virtual production is widely framed as a decarbonisation strategy.</a:t>
            </a:r>
            <a:endParaRPr lang="en-GB" sz="1500" dirty="0">
              <a:solidFill>
                <a:schemeClr val="bg1"/>
              </a:solidFill>
              <a:latin typeface="Garamond Premr Pro" panose="02020402060506020403" pitchFamily="18" charset="0"/>
            </a:endParaRPr>
          </a:p>
        </p:txBody>
      </p:sp>
      <p:sp>
        <p:nvSpPr>
          <p:cNvPr id="7" name="TextBox 6">
            <a:extLst>
              <a:ext uri="{FF2B5EF4-FFF2-40B4-BE49-F238E27FC236}">
                <a16:creationId xmlns:a16="http://schemas.microsoft.com/office/drawing/2014/main" id="{BC151635-6AAA-65E2-E5BD-D44265CEFF4F}"/>
              </a:ext>
            </a:extLst>
          </p:cNvPr>
          <p:cNvSpPr txBox="1"/>
          <p:nvPr/>
        </p:nvSpPr>
        <p:spPr>
          <a:xfrm>
            <a:off x="513805" y="3631475"/>
            <a:ext cx="8438606" cy="553998"/>
          </a:xfrm>
          <a:prstGeom prst="rect">
            <a:avLst/>
          </a:prstGeom>
          <a:noFill/>
        </p:spPr>
        <p:txBody>
          <a:bodyPr wrap="square" rtlCol="0">
            <a:spAutoFit/>
          </a:bodyPr>
          <a:lstStyle/>
          <a:p>
            <a:r>
              <a:rPr lang="en-GB" sz="1500">
                <a:solidFill>
                  <a:schemeClr val="bg1"/>
                </a:solidFill>
                <a:latin typeface="Garamond Premr Pro" panose="02020402060506020403" pitchFamily="18" charset="0"/>
              </a:rPr>
              <a:t>Virtual production operates as a technological veneer for renewed rounds of spatial expansion and resource appropriation.</a:t>
            </a:r>
            <a:endParaRPr lang="en-GB" sz="1500" dirty="0">
              <a:solidFill>
                <a:schemeClr val="bg1"/>
              </a:solidFill>
              <a:latin typeface="Garamond Premr Pro" panose="02020402060506020403" pitchFamily="18" charset="0"/>
            </a:endParaRPr>
          </a:p>
        </p:txBody>
      </p:sp>
    </p:spTree>
    <p:extLst>
      <p:ext uri="{BB962C8B-B14F-4D97-AF65-F5344CB8AC3E}">
        <p14:creationId xmlns:p14="http://schemas.microsoft.com/office/powerpoint/2010/main" val="221755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09600" y="685281"/>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panose="02020402060506020403" pitchFamily="18" charset="0"/>
                <a:ea typeface="Garamond" pitchFamily="34" charset="-122"/>
                <a:cs typeface="Garamond" pitchFamily="34" charset="-120"/>
              </a:rPr>
              <a:t>Theoretical Framework</a:t>
            </a:r>
            <a:r>
              <a:rPr lang="en-GB" sz="2700" b="1" dirty="0">
                <a:solidFill>
                  <a:srgbClr val="FFFFFF"/>
                </a:solidFill>
                <a:latin typeface="Garamond Premr Pro" panose="02020402060506020403" pitchFamily="18" charset="0"/>
                <a:ea typeface="Garamond" pitchFamily="34" charset="-122"/>
                <a:cs typeface="Garamond" pitchFamily="34" charset="-120"/>
              </a:rPr>
              <a:t>: </a:t>
            </a:r>
            <a:r>
              <a:rPr lang="en-GB" sz="2000" b="1" dirty="0">
                <a:solidFill>
                  <a:srgbClr val="FFFFFF"/>
                </a:solidFill>
                <a:latin typeface="Garamond Premr Pro" panose="02020402060506020403" pitchFamily="18" charset="0"/>
                <a:ea typeface="Garamond" pitchFamily="34" charset="-122"/>
                <a:cs typeface="Garamond" pitchFamily="34" charset="-120"/>
              </a:rPr>
              <a:t>a</a:t>
            </a:r>
            <a:r>
              <a:rPr lang="en-US" sz="2000" b="1" dirty="0">
                <a:solidFill>
                  <a:srgbClr val="FFFFFF"/>
                </a:solidFill>
                <a:latin typeface="Garamond Premr Pro" panose="02020402060506020403" pitchFamily="18" charset="0"/>
                <a:ea typeface="Garamond" pitchFamily="34" charset="-122"/>
                <a:cs typeface="Garamond" pitchFamily="34" charset="-120"/>
              </a:rPr>
              <a:t> </a:t>
            </a:r>
            <a:r>
              <a:rPr lang="en-GB" sz="2000" b="1" dirty="0">
                <a:solidFill>
                  <a:srgbClr val="FFFFFF"/>
                </a:solidFill>
                <a:latin typeface="Garamond Premr Pro" panose="02020402060506020403" pitchFamily="18" charset="0"/>
                <a:ea typeface="Garamond" pitchFamily="34" charset="-122"/>
                <a:cs typeface="Garamond" pitchFamily="34" charset="-120"/>
              </a:rPr>
              <a:t>Marxist</a:t>
            </a:r>
            <a:r>
              <a:rPr lang="en-US" sz="2000" b="1" dirty="0">
                <a:solidFill>
                  <a:srgbClr val="FFFFFF"/>
                </a:solidFill>
                <a:latin typeface="Garamond Premr Pro" panose="02020402060506020403" pitchFamily="18" charset="0"/>
                <a:ea typeface="Garamond" pitchFamily="34" charset="-122"/>
                <a:cs typeface="Garamond" pitchFamily="34" charset="-120"/>
              </a:rPr>
              <a:t> </a:t>
            </a:r>
            <a:r>
              <a:rPr lang="en-GB" sz="2000" b="1" dirty="0">
                <a:solidFill>
                  <a:srgbClr val="FFFFFF"/>
                </a:solidFill>
                <a:latin typeface="Garamond Premr Pro" panose="02020402060506020403" pitchFamily="18" charset="0"/>
                <a:ea typeface="Garamond" pitchFamily="34" charset="-122"/>
                <a:cs typeface="Garamond" pitchFamily="34" charset="-120"/>
              </a:rPr>
              <a:t>Political</a:t>
            </a:r>
            <a:r>
              <a:rPr lang="en-US" sz="2000" b="1" dirty="0">
                <a:solidFill>
                  <a:srgbClr val="FFFFFF"/>
                </a:solidFill>
                <a:latin typeface="Garamond Premr Pro" panose="02020402060506020403" pitchFamily="18" charset="0"/>
                <a:ea typeface="Garamond" pitchFamily="34" charset="-122"/>
                <a:cs typeface="Garamond" pitchFamily="34" charset="-120"/>
              </a:rPr>
              <a:t> </a:t>
            </a:r>
            <a:r>
              <a:rPr lang="en-GB" sz="2000" b="1" dirty="0">
                <a:solidFill>
                  <a:srgbClr val="FFFFFF"/>
                </a:solidFill>
                <a:latin typeface="Garamond Premr Pro" panose="02020402060506020403" pitchFamily="18" charset="0"/>
                <a:ea typeface="Garamond" pitchFamily="34" charset="-122"/>
                <a:cs typeface="Garamond" pitchFamily="34" charset="-120"/>
              </a:rPr>
              <a:t>Economy</a:t>
            </a:r>
            <a:r>
              <a:rPr lang="en-US" sz="2000" b="1" dirty="0">
                <a:solidFill>
                  <a:srgbClr val="FFFFFF"/>
                </a:solidFill>
                <a:latin typeface="Garamond Premr Pro" panose="02020402060506020403" pitchFamily="18" charset="0"/>
                <a:ea typeface="Garamond" pitchFamily="34" charset="-122"/>
                <a:cs typeface="Garamond" pitchFamily="34" charset="-120"/>
              </a:rPr>
              <a:t> </a:t>
            </a:r>
            <a:r>
              <a:rPr lang="en-GB" sz="2000" b="1" dirty="0">
                <a:solidFill>
                  <a:srgbClr val="FFFFFF"/>
                </a:solidFill>
                <a:latin typeface="Garamond Premr Pro" panose="02020402060506020403" pitchFamily="18" charset="0"/>
                <a:ea typeface="Garamond" pitchFamily="34" charset="-122"/>
                <a:cs typeface="Garamond" pitchFamily="34" charset="-120"/>
              </a:rPr>
              <a:t>Approach</a:t>
            </a:r>
            <a:endParaRPr lang="en-US" sz="2700" b="1" dirty="0">
              <a:latin typeface="Garamond Premr Pro" panose="02020402060506020403" pitchFamily="18" charset="0"/>
            </a:endParaRPr>
          </a:p>
        </p:txBody>
      </p:sp>
      <p:sp>
        <p:nvSpPr>
          <p:cNvPr id="3" name="Text 1"/>
          <p:cNvSpPr/>
          <p:nvPr/>
        </p:nvSpPr>
        <p:spPr>
          <a:xfrm>
            <a:off x="609600" y="1325835"/>
            <a:ext cx="8083296" cy="381000"/>
          </a:xfrm>
          <a:prstGeom prst="rect">
            <a:avLst/>
          </a:prstGeom>
          <a:noFill/>
          <a:ln/>
        </p:spPr>
        <p:txBody>
          <a:bodyPr wrap="square" lIns="0" tIns="0" rIns="0" bIns="0" rtlCol="0" anchor="t"/>
          <a:lstStyle/>
          <a:p>
            <a:pPr marL="0" indent="0">
              <a:lnSpc>
                <a:spcPts val="3000"/>
              </a:lnSpc>
              <a:buNone/>
            </a:pPr>
            <a:r>
              <a:rPr lang="en-US" sz="1500" dirty="0">
                <a:solidFill>
                  <a:srgbClr val="00FFCC"/>
                </a:solidFill>
                <a:latin typeface="Garamond Premr Pro" panose="02020402060506020403" pitchFamily="18" charset="0"/>
                <a:ea typeface="Garamond" pitchFamily="34" charset="-122"/>
                <a:cs typeface="Garamond" pitchFamily="34" charset="-120"/>
              </a:rPr>
              <a:t>Media Materiality</a:t>
            </a:r>
            <a:r>
              <a:rPr lang="en-US" sz="1500" dirty="0">
                <a:solidFill>
                  <a:srgbClr val="FFFFFF"/>
                </a:solidFill>
                <a:latin typeface="Garamond Premr Pro" panose="02020402060506020403" pitchFamily="18" charset="0"/>
                <a:ea typeface="Garamond" pitchFamily="34" charset="-122"/>
                <a:cs typeface="Garamond" pitchFamily="34" charset="-120"/>
              </a:rPr>
              <a:t> (Bozak, 2012)</a:t>
            </a:r>
            <a:endParaRPr lang="en-US" sz="1500" dirty="0">
              <a:latin typeface="Garamond Premr Pro" panose="02020402060506020403" pitchFamily="18" charset="0"/>
            </a:endParaRPr>
          </a:p>
        </p:txBody>
      </p:sp>
      <p:sp>
        <p:nvSpPr>
          <p:cNvPr id="4" name="Text 2"/>
          <p:cNvSpPr/>
          <p:nvPr/>
        </p:nvSpPr>
        <p:spPr>
          <a:xfrm>
            <a:off x="609600" y="1999893"/>
            <a:ext cx="8083296" cy="381000"/>
          </a:xfrm>
          <a:prstGeom prst="rect">
            <a:avLst/>
          </a:prstGeom>
          <a:noFill/>
          <a:ln/>
        </p:spPr>
        <p:txBody>
          <a:bodyPr wrap="square" lIns="0" tIns="0" rIns="0" bIns="0" rtlCol="0" anchor="t"/>
          <a:lstStyle/>
          <a:p>
            <a:pPr marL="0" indent="0">
              <a:lnSpc>
                <a:spcPts val="3000"/>
              </a:lnSpc>
              <a:buNone/>
            </a:pPr>
            <a:r>
              <a:rPr lang="en-US" sz="1500" dirty="0">
                <a:solidFill>
                  <a:srgbClr val="00FFCC"/>
                </a:solidFill>
                <a:latin typeface="Garamond Premr Pro" panose="02020402060506020403" pitchFamily="18" charset="0"/>
                <a:ea typeface="Garamond" pitchFamily="34" charset="-122"/>
                <a:cs typeface="Garamond" pitchFamily="34" charset="-120"/>
              </a:rPr>
              <a:t>The Jevons Paradox</a:t>
            </a:r>
            <a:r>
              <a:rPr lang="en-US" sz="1500" dirty="0">
                <a:solidFill>
                  <a:srgbClr val="FFFFFF"/>
                </a:solidFill>
                <a:latin typeface="Garamond Premr Pro" panose="02020402060506020403" pitchFamily="18" charset="0"/>
                <a:ea typeface="Garamond" pitchFamily="34" charset="-122"/>
                <a:cs typeface="Garamond" pitchFamily="34" charset="-120"/>
              </a:rPr>
              <a:t> (Sharma, 2024)</a:t>
            </a:r>
            <a:endParaRPr lang="en-US" sz="1500" dirty="0">
              <a:latin typeface="Garamond Premr Pro" panose="02020402060506020403" pitchFamily="18" charset="0"/>
            </a:endParaRPr>
          </a:p>
        </p:txBody>
      </p:sp>
      <p:sp>
        <p:nvSpPr>
          <p:cNvPr id="5" name="Text 3"/>
          <p:cNvSpPr/>
          <p:nvPr/>
        </p:nvSpPr>
        <p:spPr>
          <a:xfrm>
            <a:off x="609600" y="2610746"/>
            <a:ext cx="8083296" cy="381000"/>
          </a:xfrm>
          <a:prstGeom prst="rect">
            <a:avLst/>
          </a:prstGeom>
          <a:noFill/>
          <a:ln/>
        </p:spPr>
        <p:txBody>
          <a:bodyPr wrap="square" lIns="0" tIns="0" rIns="0" bIns="0" rtlCol="0" anchor="t"/>
          <a:lstStyle/>
          <a:p>
            <a:pPr marL="0" indent="0">
              <a:lnSpc>
                <a:spcPts val="3000"/>
              </a:lnSpc>
              <a:buNone/>
            </a:pPr>
            <a:r>
              <a:rPr lang="en-US" sz="1500" dirty="0">
                <a:solidFill>
                  <a:srgbClr val="00FFCC"/>
                </a:solidFill>
                <a:latin typeface="Garamond Premr Pro" panose="02020402060506020403" pitchFamily="18" charset="0"/>
                <a:ea typeface="Garamond" pitchFamily="34" charset="-122"/>
                <a:cs typeface="Garamond" pitchFamily="34" charset="-120"/>
              </a:rPr>
              <a:t>The Digital Spatial Fix</a:t>
            </a:r>
            <a:r>
              <a:rPr lang="en-US" sz="1500" dirty="0">
                <a:solidFill>
                  <a:srgbClr val="FFFFFF"/>
                </a:solidFill>
                <a:latin typeface="Garamond Premr Pro" panose="02020402060506020403" pitchFamily="18" charset="0"/>
                <a:ea typeface="Garamond" pitchFamily="34" charset="-122"/>
                <a:cs typeface="Garamond" pitchFamily="34" charset="-120"/>
              </a:rPr>
              <a:t> (Greene &amp; Joseph, 2015)</a:t>
            </a:r>
            <a:endParaRPr lang="en-US" sz="1500" dirty="0">
              <a:latin typeface="Garamond Premr Pro" panose="02020402060506020403" pitchFamily="18" charset="0"/>
            </a:endParaRPr>
          </a:p>
        </p:txBody>
      </p:sp>
      <p:sp>
        <p:nvSpPr>
          <p:cNvPr id="6" name="TextBox 5">
            <a:extLst>
              <a:ext uri="{FF2B5EF4-FFF2-40B4-BE49-F238E27FC236}">
                <a16:creationId xmlns:a16="http://schemas.microsoft.com/office/drawing/2014/main" id="{17092A3E-6AB9-CFAC-5FB2-141AE6405231}"/>
              </a:ext>
            </a:extLst>
          </p:cNvPr>
          <p:cNvSpPr txBox="1"/>
          <p:nvPr/>
        </p:nvSpPr>
        <p:spPr>
          <a:xfrm>
            <a:off x="609600" y="1706835"/>
            <a:ext cx="5070619" cy="461665"/>
          </a:xfrm>
          <a:prstGeom prst="rect">
            <a:avLst/>
          </a:prstGeom>
          <a:noFill/>
        </p:spPr>
        <p:txBody>
          <a:bodyPr wrap="none" rtlCol="0">
            <a:spAutoFit/>
          </a:bodyPr>
          <a:lstStyle/>
          <a:p>
            <a:r>
              <a:rPr lang="en-GB" sz="1200" dirty="0">
                <a:solidFill>
                  <a:schemeClr val="bg1"/>
                </a:solidFill>
                <a:latin typeface="Garamond Premr Pro Capt" panose="02020402060506020403" pitchFamily="18" charset="0"/>
              </a:rPr>
              <a:t>Digital media always depend on physical infrastructures and resource extraction.</a:t>
            </a:r>
          </a:p>
          <a:p>
            <a:endParaRPr lang="en-GB" sz="1200" dirty="0">
              <a:solidFill>
                <a:schemeClr val="bg1"/>
              </a:solidFill>
              <a:latin typeface="Garamond Premr Pro Capt" panose="02020402060506020403" pitchFamily="18" charset="0"/>
            </a:endParaRPr>
          </a:p>
        </p:txBody>
      </p:sp>
      <p:sp>
        <p:nvSpPr>
          <p:cNvPr id="7" name="TextBox 6">
            <a:extLst>
              <a:ext uri="{FF2B5EF4-FFF2-40B4-BE49-F238E27FC236}">
                <a16:creationId xmlns:a16="http://schemas.microsoft.com/office/drawing/2014/main" id="{3B0A2F99-5FB3-C405-099F-76B39C663EE3}"/>
              </a:ext>
            </a:extLst>
          </p:cNvPr>
          <p:cNvSpPr txBox="1"/>
          <p:nvPr/>
        </p:nvSpPr>
        <p:spPr>
          <a:xfrm>
            <a:off x="609599" y="2921553"/>
            <a:ext cx="8238311" cy="461665"/>
          </a:xfrm>
          <a:prstGeom prst="rect">
            <a:avLst/>
          </a:prstGeom>
          <a:noFill/>
        </p:spPr>
        <p:txBody>
          <a:bodyPr wrap="square" rtlCol="0">
            <a:spAutoFit/>
          </a:bodyPr>
          <a:lstStyle/>
          <a:p>
            <a:pPr fontAlgn="t"/>
            <a:r>
              <a:rPr lang="en-GB" sz="1200" dirty="0">
                <a:solidFill>
                  <a:schemeClr val="bg1"/>
                </a:solidFill>
                <a:latin typeface="Garamond Premr Pro" panose="02020402060506020403" pitchFamily="18" charset="0"/>
              </a:rPr>
              <a:t>Virtual production functions as a </a:t>
            </a:r>
            <a:r>
              <a:rPr lang="en-GB" sz="1200" i="1" dirty="0">
                <a:solidFill>
                  <a:schemeClr val="bg1"/>
                </a:solidFill>
                <a:latin typeface="Garamond Premr Pro" panose="02020402060506020403" pitchFamily="18" charset="0"/>
              </a:rPr>
              <a:t>capitalist spatial fix</a:t>
            </a:r>
            <a:r>
              <a:rPr lang="en-GB" sz="1200" dirty="0">
                <a:solidFill>
                  <a:schemeClr val="bg1"/>
                </a:solidFill>
                <a:latin typeface="Garamond Premr Pro" panose="02020402060506020403" pitchFamily="18" charset="0"/>
              </a:rPr>
              <a:t>: a strategy through which capital resolves its own crises by expanding into new territories, infrastructures and ecological capacities.</a:t>
            </a:r>
          </a:p>
        </p:txBody>
      </p:sp>
      <p:sp>
        <p:nvSpPr>
          <p:cNvPr id="8" name="TextBox 7">
            <a:extLst>
              <a:ext uri="{FF2B5EF4-FFF2-40B4-BE49-F238E27FC236}">
                <a16:creationId xmlns:a16="http://schemas.microsoft.com/office/drawing/2014/main" id="{58052264-2470-C395-A161-C4F77574DEC4}"/>
              </a:ext>
            </a:extLst>
          </p:cNvPr>
          <p:cNvSpPr txBox="1"/>
          <p:nvPr/>
        </p:nvSpPr>
        <p:spPr>
          <a:xfrm>
            <a:off x="609599" y="2351497"/>
            <a:ext cx="3531736" cy="276999"/>
          </a:xfrm>
          <a:prstGeom prst="rect">
            <a:avLst/>
          </a:prstGeom>
          <a:noFill/>
        </p:spPr>
        <p:txBody>
          <a:bodyPr wrap="none" rtlCol="0">
            <a:spAutoFit/>
          </a:bodyPr>
          <a:lstStyle/>
          <a:p>
            <a:r>
              <a:rPr lang="en-GB" sz="1200" dirty="0">
                <a:solidFill>
                  <a:schemeClr val="bg1"/>
                </a:solidFill>
                <a:latin typeface="Garamond Premr Pro Capt" panose="02020402060506020403" pitchFamily="18" charset="0"/>
              </a:rPr>
              <a:t>Efficiency gains can increase total energy consumption.</a:t>
            </a:r>
          </a:p>
        </p:txBody>
      </p:sp>
      <p:sp>
        <p:nvSpPr>
          <p:cNvPr id="10" name="TextBox 9">
            <a:extLst>
              <a:ext uri="{FF2B5EF4-FFF2-40B4-BE49-F238E27FC236}">
                <a16:creationId xmlns:a16="http://schemas.microsoft.com/office/drawing/2014/main" id="{F67B3D25-B49D-133E-4812-F1E425947642}"/>
              </a:ext>
            </a:extLst>
          </p:cNvPr>
          <p:cNvSpPr txBox="1"/>
          <p:nvPr/>
        </p:nvSpPr>
        <p:spPr>
          <a:xfrm>
            <a:off x="526868" y="3436666"/>
            <a:ext cx="7815943" cy="294311"/>
          </a:xfrm>
          <a:prstGeom prst="rect">
            <a:avLst/>
          </a:prstGeom>
          <a:noFill/>
        </p:spPr>
        <p:txBody>
          <a:bodyPr wrap="square">
            <a:spAutoFit/>
          </a:bodyPr>
          <a:lstStyle/>
          <a:p>
            <a:pPr fontAlgn="t">
              <a:lnSpc>
                <a:spcPts val="1500"/>
              </a:lnSpc>
              <a:buNone/>
            </a:pPr>
            <a:r>
              <a:rPr lang="en-GB" sz="1500" dirty="0">
                <a:solidFill>
                  <a:srgbClr val="00FFCC"/>
                </a:solidFill>
                <a:latin typeface="Garamond Premr Pro" panose="02020402060506020403" pitchFamily="18" charset="0"/>
              </a:rPr>
              <a:t>Accumulation</a:t>
            </a:r>
            <a:r>
              <a:rPr lang="en-GB" sz="1500" b="0" i="0" dirty="0">
                <a:solidFill>
                  <a:schemeClr val="bg1"/>
                </a:solidFill>
                <a:effectLst/>
                <a:latin typeface="Garamond Premr Pro" panose="02020402060506020403" pitchFamily="18" charset="0"/>
              </a:rPr>
              <a:t> </a:t>
            </a:r>
            <a:r>
              <a:rPr lang="en-GB" sz="1500" dirty="0">
                <a:solidFill>
                  <a:srgbClr val="00FFCC"/>
                </a:solidFill>
                <a:latin typeface="Garamond Premr Pro" panose="02020402060506020403" pitchFamily="18" charset="0"/>
              </a:rPr>
              <a:t>by</a:t>
            </a:r>
            <a:r>
              <a:rPr lang="en-GB" sz="1500" b="0" i="0" dirty="0">
                <a:solidFill>
                  <a:schemeClr val="bg1"/>
                </a:solidFill>
                <a:effectLst/>
                <a:latin typeface="Garamond Premr Pro" panose="02020402060506020403" pitchFamily="18" charset="0"/>
              </a:rPr>
              <a:t> </a:t>
            </a:r>
            <a:r>
              <a:rPr lang="en-GB" sz="1500" dirty="0">
                <a:solidFill>
                  <a:srgbClr val="00FFCC"/>
                </a:solidFill>
                <a:latin typeface="Garamond Premr Pro" panose="02020402060506020403" pitchFamily="18" charset="0"/>
              </a:rPr>
              <a:t>Dispossession</a:t>
            </a:r>
            <a:r>
              <a:rPr lang="en-US" sz="1500" dirty="0">
                <a:solidFill>
                  <a:schemeClr val="bg1"/>
                </a:solidFill>
                <a:latin typeface="Garamond Premr Pro" panose="02020402060506020403" pitchFamily="18" charset="0"/>
              </a:rPr>
              <a:t> </a:t>
            </a:r>
            <a:r>
              <a:rPr lang="en-GB" sz="1500" dirty="0">
                <a:solidFill>
                  <a:schemeClr val="bg1"/>
                </a:solidFill>
                <a:latin typeface="Garamond Premr Pro" panose="02020402060506020403" pitchFamily="18" charset="0"/>
              </a:rPr>
              <a:t>(Harvey, </a:t>
            </a:r>
            <a:r>
              <a:rPr lang="en-US" altLang="zh-CN" sz="1500" b="0" i="0" dirty="0">
                <a:solidFill>
                  <a:schemeClr val="bg1"/>
                </a:solidFill>
                <a:effectLst/>
                <a:latin typeface="Garamond Premr Pro" panose="02020402060506020403" pitchFamily="18" charset="0"/>
              </a:rPr>
              <a:t>2004</a:t>
            </a:r>
            <a:r>
              <a:rPr lang="en-GB" altLang="zh-CN" sz="1500" dirty="0">
                <a:solidFill>
                  <a:schemeClr val="bg1"/>
                </a:solidFill>
                <a:latin typeface="Garamond Premr Pro" panose="02020402060506020403" pitchFamily="18" charset="0"/>
              </a:rPr>
              <a:t>)</a:t>
            </a:r>
            <a:endParaRPr lang="en-GB" sz="1500" dirty="0">
              <a:solidFill>
                <a:schemeClr val="bg1"/>
              </a:solidFill>
              <a:latin typeface="Garamond Premr Pro" panose="02020402060506020403" pitchFamily="18" charset="0"/>
            </a:endParaRPr>
          </a:p>
        </p:txBody>
      </p:sp>
      <p:sp>
        <p:nvSpPr>
          <p:cNvPr id="11" name="TextBox 10">
            <a:extLst>
              <a:ext uri="{FF2B5EF4-FFF2-40B4-BE49-F238E27FC236}">
                <a16:creationId xmlns:a16="http://schemas.microsoft.com/office/drawing/2014/main" id="{18FEF753-A04D-5FD2-42D3-13A03B0E2F7B}"/>
              </a:ext>
            </a:extLst>
          </p:cNvPr>
          <p:cNvSpPr txBox="1"/>
          <p:nvPr/>
        </p:nvSpPr>
        <p:spPr>
          <a:xfrm>
            <a:off x="618307" y="3730977"/>
            <a:ext cx="5889754" cy="276999"/>
          </a:xfrm>
          <a:prstGeom prst="rect">
            <a:avLst/>
          </a:prstGeom>
          <a:noFill/>
        </p:spPr>
        <p:txBody>
          <a:bodyPr wrap="none" rtlCol="0">
            <a:spAutoFit/>
          </a:bodyPr>
          <a:lstStyle/>
          <a:p>
            <a:r>
              <a:rPr lang="en-GB" sz="1200" dirty="0">
                <a:solidFill>
                  <a:schemeClr val="bg1"/>
                </a:solidFill>
                <a:latin typeface="Garamond Premr Pro Capt" panose="02020402060506020403" pitchFamily="18" charset="0"/>
              </a:rPr>
              <a:t>Digital expansion requires the continual appropriation of land, energy and ecological capacity.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1749066-1290-E249-F48F-CFFC7096B82D}"/>
            </a:ext>
          </a:extLst>
        </p:cNvPr>
        <p:cNvGrpSpPr/>
        <p:nvPr/>
      </p:nvGrpSpPr>
      <p:grpSpPr>
        <a:xfrm>
          <a:off x="0" y="0"/>
          <a:ext cx="0" cy="0"/>
          <a:chOff x="0" y="0"/>
          <a:chExt cx="0" cy="0"/>
        </a:xfrm>
      </p:grpSpPr>
      <p:sp>
        <p:nvSpPr>
          <p:cNvPr id="16" name="Text 1">
            <a:extLst>
              <a:ext uri="{FF2B5EF4-FFF2-40B4-BE49-F238E27FC236}">
                <a16:creationId xmlns:a16="http://schemas.microsoft.com/office/drawing/2014/main" id="{64E2BCEB-11F6-0ED9-FD2F-B17E25FABB33}"/>
              </a:ext>
            </a:extLst>
          </p:cNvPr>
          <p:cNvSpPr/>
          <p:nvPr/>
        </p:nvSpPr>
        <p:spPr>
          <a:xfrm>
            <a:off x="609600" y="475588"/>
            <a:ext cx="7924800" cy="1432545"/>
          </a:xfrm>
          <a:prstGeom prst="rect">
            <a:avLst/>
          </a:prstGeom>
          <a:solidFill>
            <a:srgbClr val="111111"/>
          </a:solidFill>
          <a:ln w="9525">
            <a:solidFill>
              <a:srgbClr val="00FFCC"/>
            </a:solidFill>
          </a:ln>
        </p:spPr>
        <p:txBody>
          <a:bodyPr wrap="none" lIns="0" tIns="0" rIns="0" bIns="0" rtlCol="0" anchor="ctr">
            <a:normAutofit/>
          </a:bodyPr>
          <a:lstStyle/>
          <a:p>
            <a:pPr marL="0" indent="0">
              <a:buNone/>
            </a:pPr>
            <a:endParaRPr lang="en-US" dirty="0">
              <a:latin typeface="Courier Prime" panose="02000409000000000000" pitchFamily="49" charset="77"/>
            </a:endParaRPr>
          </a:p>
        </p:txBody>
      </p:sp>
      <p:sp>
        <p:nvSpPr>
          <p:cNvPr id="5" name="Text 3">
            <a:extLst>
              <a:ext uri="{FF2B5EF4-FFF2-40B4-BE49-F238E27FC236}">
                <a16:creationId xmlns:a16="http://schemas.microsoft.com/office/drawing/2014/main" id="{0E4FB95E-B8E4-3111-6A88-7B6C77681F00}"/>
              </a:ext>
            </a:extLst>
          </p:cNvPr>
          <p:cNvSpPr/>
          <p:nvPr/>
        </p:nvSpPr>
        <p:spPr>
          <a:xfrm>
            <a:off x="609600" y="2131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Methodology: Audit Pipeline</a:t>
            </a:r>
            <a:endParaRPr lang="en-US" sz="2700" b="1" dirty="0">
              <a:latin typeface="Garamond Premr Pro Disp" panose="02020402060506020403" pitchFamily="18" charset="0"/>
            </a:endParaRPr>
          </a:p>
        </p:txBody>
      </p:sp>
      <p:sp>
        <p:nvSpPr>
          <p:cNvPr id="9" name="Text 1">
            <a:extLst>
              <a:ext uri="{FF2B5EF4-FFF2-40B4-BE49-F238E27FC236}">
                <a16:creationId xmlns:a16="http://schemas.microsoft.com/office/drawing/2014/main" id="{90C6C5A5-7454-68FD-0131-729D16F0C80A}"/>
              </a:ext>
            </a:extLst>
          </p:cNvPr>
          <p:cNvSpPr/>
          <p:nvPr/>
        </p:nvSpPr>
        <p:spPr>
          <a:xfrm>
            <a:off x="609600" y="1648594"/>
            <a:ext cx="7924800" cy="1432545"/>
          </a:xfrm>
          <a:prstGeom prst="rect">
            <a:avLst/>
          </a:prstGeom>
          <a:solidFill>
            <a:srgbClr val="111111"/>
          </a:solidFill>
          <a:ln w="9525">
            <a:solidFill>
              <a:srgbClr val="00FFCC"/>
            </a:solidFill>
          </a:ln>
        </p:spPr>
        <p:txBody>
          <a:bodyPr wrap="none" lIns="0" tIns="0" rIns="0" bIns="0" rtlCol="0" anchor="ctr">
            <a:normAutofit/>
          </a:bodyPr>
          <a:lstStyle/>
          <a:p>
            <a:pPr marL="0" indent="0">
              <a:buNone/>
            </a:pPr>
            <a:endParaRPr lang="en-US" dirty="0">
              <a:latin typeface="Courier Prime" panose="02000409000000000000" pitchFamily="49" charset="77"/>
            </a:endParaRPr>
          </a:p>
        </p:txBody>
      </p:sp>
      <p:sp>
        <p:nvSpPr>
          <p:cNvPr id="3" name="Text 1">
            <a:extLst>
              <a:ext uri="{FF2B5EF4-FFF2-40B4-BE49-F238E27FC236}">
                <a16:creationId xmlns:a16="http://schemas.microsoft.com/office/drawing/2014/main" id="{C714266A-A45C-AE28-B864-1EA579046A1E}"/>
              </a:ext>
            </a:extLst>
          </p:cNvPr>
          <p:cNvSpPr/>
          <p:nvPr/>
        </p:nvSpPr>
        <p:spPr>
          <a:xfrm>
            <a:off x="609600" y="2753295"/>
            <a:ext cx="7924800" cy="1689511"/>
          </a:xfrm>
          <a:prstGeom prst="rect">
            <a:avLst/>
          </a:prstGeom>
          <a:solidFill>
            <a:srgbClr val="111111"/>
          </a:solidFill>
          <a:ln w="9525">
            <a:solidFill>
              <a:srgbClr val="00FFCC"/>
            </a:solidFill>
          </a:ln>
        </p:spPr>
        <p:txBody>
          <a:bodyPr wrap="none" lIns="0" tIns="0" rIns="0" bIns="0" rtlCol="0" anchor="ctr">
            <a:normAutofit/>
          </a:bodyPr>
          <a:lstStyle/>
          <a:p>
            <a:pPr marL="0" indent="0">
              <a:buNone/>
            </a:pPr>
            <a:endParaRPr lang="en-US" dirty="0">
              <a:latin typeface="Courier Prime" panose="02000409000000000000" pitchFamily="49" charset="77"/>
            </a:endParaRPr>
          </a:p>
        </p:txBody>
      </p:sp>
      <p:sp>
        <p:nvSpPr>
          <p:cNvPr id="10" name="Text 5">
            <a:extLst>
              <a:ext uri="{FF2B5EF4-FFF2-40B4-BE49-F238E27FC236}">
                <a16:creationId xmlns:a16="http://schemas.microsoft.com/office/drawing/2014/main" id="{B3080581-2FAA-406D-0C50-0E0626EF6503}"/>
              </a:ext>
            </a:extLst>
          </p:cNvPr>
          <p:cNvSpPr/>
          <p:nvPr/>
        </p:nvSpPr>
        <p:spPr>
          <a:xfrm>
            <a:off x="771525" y="1659289"/>
            <a:ext cx="3594735" cy="308595"/>
          </a:xfrm>
          <a:prstGeom prst="rect">
            <a:avLst/>
          </a:prstGeom>
          <a:noFill/>
          <a:ln/>
        </p:spPr>
        <p:txBody>
          <a:bodyPr wrap="square" lIns="0" tIns="0" rIns="0" bIns="0" rtlCol="0" anchor="t"/>
          <a:lstStyle/>
          <a:p>
            <a:pPr marL="0" indent="0">
              <a:lnSpc>
                <a:spcPts val="2430"/>
              </a:lnSpc>
              <a:buNone/>
            </a:pPr>
            <a:r>
              <a:rPr lang="en-US" sz="1350" dirty="0">
                <a:solidFill>
                  <a:schemeClr val="bg1">
                    <a:lumMod val="75000"/>
                  </a:schemeClr>
                </a:solidFill>
                <a:latin typeface="Courier Prime" panose="02000409000000000000" pitchFamily="49" charset="77"/>
                <a:ea typeface="Courier New" pitchFamily="34" charset="-122"/>
                <a:cs typeface="Courier New" pitchFamily="34" charset="-120"/>
              </a:rPr>
              <a:t>Terminal Output:</a:t>
            </a:r>
            <a:endParaRPr lang="en-US" sz="1350" dirty="0">
              <a:solidFill>
                <a:schemeClr val="bg1">
                  <a:lumMod val="75000"/>
                </a:schemeClr>
              </a:solidFill>
              <a:latin typeface="Courier Prime" panose="02000409000000000000" pitchFamily="49" charset="77"/>
            </a:endParaRPr>
          </a:p>
        </p:txBody>
      </p:sp>
      <p:sp>
        <p:nvSpPr>
          <p:cNvPr id="11" name="Text 6">
            <a:extLst>
              <a:ext uri="{FF2B5EF4-FFF2-40B4-BE49-F238E27FC236}">
                <a16:creationId xmlns:a16="http://schemas.microsoft.com/office/drawing/2014/main" id="{4C1AF319-6D31-3B79-F188-A1F81DC96E7F}"/>
              </a:ext>
            </a:extLst>
          </p:cNvPr>
          <p:cNvSpPr/>
          <p:nvPr/>
        </p:nvSpPr>
        <p:spPr>
          <a:xfrm>
            <a:off x="771525" y="2121289"/>
            <a:ext cx="3524250" cy="442913"/>
          </a:xfrm>
          <a:prstGeom prst="rect">
            <a:avLst/>
          </a:prstGeom>
          <a:noFill/>
          <a:ln/>
        </p:spPr>
        <p:txBody>
          <a:bodyPr wrap="square" lIns="0" tIns="0" rIns="0" bIns="0" rtlCol="0" anchor="t"/>
          <a:lstStyle/>
          <a:p>
            <a:pPr marL="0" indent="0">
              <a:lnSpc>
                <a:spcPts val="945"/>
              </a:lnSpc>
              <a:buNone/>
            </a:pPr>
            <a:r>
              <a:rPr lang="en-US" sz="1050" dirty="0">
                <a:solidFill>
                  <a:schemeClr val="bg1">
                    <a:lumMod val="65000"/>
                  </a:schemeClr>
                </a:solidFill>
                <a:latin typeface="Courier Prime" panose="02000409000000000000" pitchFamily="49" charset="77"/>
                <a:ea typeface="Courier New" pitchFamily="34" charset="-122"/>
                <a:cs typeface="Courier New" pitchFamily="34" charset="-120"/>
              </a:rPr>
              <a:t>AGGREGATE_LOGISTICAL_SPRAWL: 132,123.12 SQM</a:t>
            </a:r>
            <a:endParaRPr lang="en-US" sz="1050" dirty="0">
              <a:solidFill>
                <a:schemeClr val="bg1">
                  <a:lumMod val="65000"/>
                </a:schemeClr>
              </a:solidFill>
              <a:latin typeface="Courier Prime" panose="02000409000000000000" pitchFamily="49" charset="77"/>
            </a:endParaRPr>
          </a:p>
          <a:p>
            <a:pPr marL="0" indent="0">
              <a:lnSpc>
                <a:spcPts val="945"/>
              </a:lnSpc>
              <a:buNone/>
            </a:pPr>
            <a:r>
              <a:rPr lang="en-US" sz="1050" dirty="0">
                <a:solidFill>
                  <a:schemeClr val="bg1">
                    <a:lumMod val="65000"/>
                  </a:schemeClr>
                </a:solidFill>
                <a:latin typeface="Courier Prime" panose="02000409000000000000" pitchFamily="49" charset="77"/>
                <a:ea typeface="Courier New" pitchFamily="34" charset="-122"/>
                <a:cs typeface="Courier New" pitchFamily="34" charset="-120"/>
              </a:rPr>
              <a:t>TOTAL_LAND_CONVERSION: 13.2123 Hectares</a:t>
            </a:r>
            <a:endParaRPr lang="en-US" sz="1050" dirty="0">
              <a:solidFill>
                <a:schemeClr val="bg1">
                  <a:lumMod val="65000"/>
                </a:schemeClr>
              </a:solidFill>
              <a:latin typeface="Courier Prime" panose="02000409000000000000" pitchFamily="49" charset="77"/>
            </a:endParaRPr>
          </a:p>
          <a:p>
            <a:pPr marL="0" indent="0">
              <a:lnSpc>
                <a:spcPts val="945"/>
              </a:lnSpc>
              <a:buNone/>
            </a:pPr>
            <a:r>
              <a:rPr lang="en-US" sz="1050" dirty="0">
                <a:solidFill>
                  <a:schemeClr val="bg1">
                    <a:lumMod val="65000"/>
                  </a:schemeClr>
                </a:solidFill>
                <a:latin typeface="Courier Prime" panose="02000409000000000000" pitchFamily="49" charset="77"/>
                <a:ea typeface="Courier New" pitchFamily="34" charset="-122"/>
                <a:cs typeface="Courier New" pitchFamily="34" charset="-120"/>
              </a:rPr>
              <a:t>TOTAL_POWER_ANCHORS: 17</a:t>
            </a:r>
            <a:endParaRPr lang="en-US" sz="1050" dirty="0">
              <a:solidFill>
                <a:schemeClr val="bg1">
                  <a:lumMod val="65000"/>
                </a:schemeClr>
              </a:solidFill>
              <a:latin typeface="Courier Prime" panose="02000409000000000000" pitchFamily="49" charset="77"/>
            </a:endParaRPr>
          </a:p>
        </p:txBody>
      </p:sp>
      <p:pic>
        <p:nvPicPr>
          <p:cNvPr id="12" name="Picture 11">
            <a:extLst>
              <a:ext uri="{FF2B5EF4-FFF2-40B4-BE49-F238E27FC236}">
                <a16:creationId xmlns:a16="http://schemas.microsoft.com/office/drawing/2014/main" id="{6A0AB008-635F-B612-5707-1AA43417295D}"/>
              </a:ext>
            </a:extLst>
          </p:cNvPr>
          <p:cNvPicPr>
            <a:picLocks noChangeAspect="1"/>
          </p:cNvPicPr>
          <p:nvPr/>
        </p:nvPicPr>
        <p:blipFill>
          <a:blip r:embed="rId3"/>
          <a:stretch>
            <a:fillRect/>
          </a:stretch>
        </p:blipFill>
        <p:spPr>
          <a:xfrm>
            <a:off x="4216527" y="1853804"/>
            <a:ext cx="4238625" cy="802243"/>
          </a:xfrm>
          <a:prstGeom prst="rect">
            <a:avLst/>
          </a:prstGeom>
        </p:spPr>
      </p:pic>
      <p:sp>
        <p:nvSpPr>
          <p:cNvPr id="13" name="TextBox 12">
            <a:extLst>
              <a:ext uri="{FF2B5EF4-FFF2-40B4-BE49-F238E27FC236}">
                <a16:creationId xmlns:a16="http://schemas.microsoft.com/office/drawing/2014/main" id="{78C7237A-4E5C-26C1-A40E-D5E9B8F7CA4B}"/>
              </a:ext>
            </a:extLst>
          </p:cNvPr>
          <p:cNvSpPr txBox="1"/>
          <p:nvPr/>
        </p:nvSpPr>
        <p:spPr>
          <a:xfrm>
            <a:off x="0" y="4615086"/>
            <a:ext cx="8138206" cy="461665"/>
          </a:xfrm>
          <a:prstGeom prst="rect">
            <a:avLst/>
          </a:prstGeom>
          <a:noFill/>
        </p:spPr>
        <p:txBody>
          <a:bodyPr wrap="square" rtlCol="0">
            <a:spAutoFit/>
          </a:bodyPr>
          <a:lstStyle/>
          <a:p>
            <a:r>
              <a:rPr lang="en-GB" sz="1200" b="1" dirty="0">
                <a:solidFill>
                  <a:schemeClr val="bg1">
                    <a:lumMod val="65000"/>
                  </a:schemeClr>
                </a:solidFill>
                <a:latin typeface="Garamond Premr Pro" panose="02020402060506020403" pitchFamily="18" charset="0"/>
              </a:rPr>
              <a:t>Fig. </a:t>
            </a:r>
            <a:r>
              <a:rPr lang="en-US" altLang="zh-CN" sz="1200" b="1" dirty="0">
                <a:solidFill>
                  <a:schemeClr val="bg1">
                    <a:lumMod val="65000"/>
                  </a:schemeClr>
                </a:solidFill>
                <a:latin typeface="Garamond Premr Pro" panose="02020402060506020403" pitchFamily="18" charset="0"/>
              </a:rPr>
              <a:t>2</a:t>
            </a:r>
            <a:r>
              <a:rPr lang="en-GB" sz="1200" b="1" dirty="0">
                <a:solidFill>
                  <a:schemeClr val="bg1">
                    <a:lumMod val="65000"/>
                  </a:schemeClr>
                </a:solidFill>
                <a:latin typeface="Garamond Premr Pro" panose="02020402060506020403" pitchFamily="18" charset="0"/>
              </a:rPr>
              <a:t>.</a:t>
            </a:r>
            <a:r>
              <a:rPr lang="en-GB" sz="1200" dirty="0">
                <a:solidFill>
                  <a:schemeClr val="bg1">
                    <a:lumMod val="65000"/>
                  </a:schemeClr>
                </a:solidFill>
                <a:latin typeface="Garamond Premr Pro" panose="02020402060506020403" pitchFamily="18" charset="0"/>
              </a:rPr>
              <a:t> Terminal output of the spatial audit pipeline (OSM_AUDIT_2025). Aggregate metrics calculate total land conversion at 13.2123 hectares. Author's own execution.</a:t>
            </a:r>
          </a:p>
        </p:txBody>
      </p:sp>
      <p:sp>
        <p:nvSpPr>
          <p:cNvPr id="15" name="Text 4">
            <a:extLst>
              <a:ext uri="{FF2B5EF4-FFF2-40B4-BE49-F238E27FC236}">
                <a16:creationId xmlns:a16="http://schemas.microsoft.com/office/drawing/2014/main" id="{9C189FE7-A992-DA9E-964C-CA3C22B621BB}"/>
              </a:ext>
            </a:extLst>
          </p:cNvPr>
          <p:cNvSpPr/>
          <p:nvPr/>
        </p:nvSpPr>
        <p:spPr>
          <a:xfrm>
            <a:off x="688848" y="530499"/>
            <a:ext cx="7924800" cy="1188541"/>
          </a:xfrm>
          <a:prstGeom prst="rect">
            <a:avLst/>
          </a:prstGeom>
          <a:noFill/>
          <a:ln/>
        </p:spPr>
        <p:txBody>
          <a:bodyPr wrap="square" lIns="0" tIns="0" rIns="0" bIns="0" rtlCol="0" anchor="t"/>
          <a:lstStyle/>
          <a:p>
            <a:pPr marL="0" indent="0">
              <a:lnSpc>
                <a:spcPts val="1920"/>
              </a:lnSpc>
              <a:buNone/>
            </a:pPr>
            <a:r>
              <a:rPr lang="en-US" sz="1200" dirty="0">
                <a:solidFill>
                  <a:srgbClr val="FFFFFF"/>
                </a:solidFill>
                <a:latin typeface="Garamond Premr Pro" panose="02020402060506020403" pitchFamily="18" charset="0"/>
                <a:ea typeface="Courier New" pitchFamily="34" charset="-122"/>
                <a:cs typeface="Courier New" pitchFamily="34" charset="-120"/>
              </a:rPr>
              <a:t>&gt; 01_RAW_MINING: Overpass API (OSM)</a:t>
            </a:r>
            <a:endParaRPr lang="en-US" sz="1200" dirty="0">
              <a:latin typeface="Garamond Premr Pro" panose="02020402060506020403" pitchFamily="18" charset="0"/>
            </a:endParaRPr>
          </a:p>
          <a:p>
            <a:pPr marL="0" indent="0">
              <a:lnSpc>
                <a:spcPts val="1920"/>
              </a:lnSpc>
              <a:buNone/>
            </a:pPr>
            <a:r>
              <a:rPr lang="en-US" sz="1200" dirty="0">
                <a:solidFill>
                  <a:srgbClr val="FFFFFF"/>
                </a:solidFill>
                <a:latin typeface="Garamond Premr Pro" panose="02020402060506020403" pitchFamily="18" charset="0"/>
                <a:ea typeface="Courier New" pitchFamily="34" charset="-122"/>
                <a:cs typeface="Courier New" pitchFamily="34" charset="-120"/>
              </a:rPr>
              <a:t>&gt; </a:t>
            </a:r>
            <a:r>
              <a:rPr lang="en-US" sz="1200" dirty="0">
                <a:solidFill>
                  <a:srgbClr val="FFFFFF"/>
                </a:solidFill>
                <a:latin typeface="Garamond Premr Pro" panose="02020402060506020403" pitchFamily="18" charset="0"/>
                <a:cs typeface="Courier New" pitchFamily="34" charset="-120"/>
              </a:rPr>
              <a:t>02_SPATIAL_PROJECTION: Python (WGS84 → EPSG:27700)</a:t>
            </a:r>
          </a:p>
          <a:p>
            <a:pPr>
              <a:lnSpc>
                <a:spcPts val="1920"/>
              </a:lnSpc>
            </a:pPr>
            <a:r>
              <a:rPr lang="en-US" sz="1200" dirty="0">
                <a:solidFill>
                  <a:srgbClr val="FFFFFF"/>
                </a:solidFill>
                <a:latin typeface="Garamond Premr Pro" panose="02020402060506020403" pitchFamily="18" charset="0"/>
                <a:cs typeface="Courier New" pitchFamily="34" charset="-120"/>
              </a:rPr>
              <a:t>&gt; </a:t>
            </a:r>
            <a:r>
              <a:rPr lang="en-GB" sz="1200" dirty="0">
                <a:solidFill>
                  <a:srgbClr val="FFFFFF"/>
                </a:solidFill>
                <a:latin typeface="Garamond Premr Pro" panose="02020402060506020403" pitchFamily="18" charset="0"/>
                <a:cs typeface="Courier New" pitchFamily="34" charset="-120"/>
              </a:rPr>
              <a:t>03_DISCOURSE_AUDIT: Retrieval-Augmented Critical Discourse Analysis (CDA) </a:t>
            </a:r>
          </a:p>
          <a:p>
            <a:pPr>
              <a:lnSpc>
                <a:spcPts val="1920"/>
              </a:lnSpc>
            </a:pPr>
            <a:r>
              <a:rPr lang="en-GB" sz="1200" dirty="0">
                <a:solidFill>
                  <a:srgbClr val="FFFFFF"/>
                </a:solidFill>
                <a:latin typeface="Garamond Premr Pro" panose="02020402060506020403" pitchFamily="18" charset="0"/>
                <a:cs typeface="Courier New" pitchFamily="34" charset="-120"/>
              </a:rPr>
              <a:t>[Corpus: Spelthorne Municipal Grey Literature &amp; Planning Dossiers]</a:t>
            </a:r>
            <a:endParaRPr lang="en-US" sz="1200" dirty="0">
              <a:solidFill>
                <a:srgbClr val="FFFFFF"/>
              </a:solidFill>
              <a:latin typeface="Garamond Premr Pro" panose="02020402060506020403" pitchFamily="18" charset="0"/>
              <a:cs typeface="Courier New" pitchFamily="34" charset="-120"/>
            </a:endParaRPr>
          </a:p>
        </p:txBody>
      </p:sp>
      <p:sp>
        <p:nvSpPr>
          <p:cNvPr id="7" name="Text 5">
            <a:extLst>
              <a:ext uri="{FF2B5EF4-FFF2-40B4-BE49-F238E27FC236}">
                <a16:creationId xmlns:a16="http://schemas.microsoft.com/office/drawing/2014/main" id="{4CD458D3-BCE2-108F-923E-9EA3300BE65B}"/>
              </a:ext>
            </a:extLst>
          </p:cNvPr>
          <p:cNvSpPr/>
          <p:nvPr/>
        </p:nvSpPr>
        <p:spPr>
          <a:xfrm>
            <a:off x="771525" y="2858684"/>
            <a:ext cx="3594735" cy="308595"/>
          </a:xfrm>
          <a:prstGeom prst="rect">
            <a:avLst/>
          </a:prstGeom>
          <a:noFill/>
          <a:ln/>
        </p:spPr>
        <p:txBody>
          <a:bodyPr wrap="square" lIns="0" tIns="0" rIns="0" bIns="0" rtlCol="0" anchor="t"/>
          <a:lstStyle/>
          <a:p>
            <a:pPr>
              <a:lnSpc>
                <a:spcPts val="2430"/>
              </a:lnSpc>
            </a:pPr>
            <a:r>
              <a:rPr lang="en-GB" sz="1350" dirty="0">
                <a:solidFill>
                  <a:schemeClr val="bg1">
                    <a:lumMod val="75000"/>
                  </a:schemeClr>
                </a:solidFill>
                <a:latin typeface="Courier Prime" panose="02000409000000000000" pitchFamily="49" charset="77"/>
                <a:cs typeface="Courier New" pitchFamily="34" charset="-120"/>
              </a:rPr>
              <a:t>Semantic Deconstruction</a:t>
            </a:r>
            <a:r>
              <a:rPr lang="en-US" sz="1350" dirty="0">
                <a:solidFill>
                  <a:schemeClr val="bg1">
                    <a:lumMod val="75000"/>
                  </a:schemeClr>
                </a:solidFill>
                <a:latin typeface="Courier Prime" panose="02000409000000000000" pitchFamily="49" charset="77"/>
                <a:ea typeface="Courier New" pitchFamily="34" charset="-122"/>
                <a:cs typeface="Courier New" pitchFamily="34" charset="-120"/>
              </a:rPr>
              <a:t>:</a:t>
            </a:r>
            <a:endParaRPr lang="en-US" sz="1350" dirty="0">
              <a:solidFill>
                <a:schemeClr val="bg1">
                  <a:lumMod val="75000"/>
                </a:schemeClr>
              </a:solidFill>
              <a:latin typeface="Courier Prime" panose="02000409000000000000" pitchFamily="49" charset="77"/>
            </a:endParaRPr>
          </a:p>
        </p:txBody>
      </p:sp>
      <p:sp>
        <p:nvSpPr>
          <p:cNvPr id="8" name="Text 6">
            <a:extLst>
              <a:ext uri="{FF2B5EF4-FFF2-40B4-BE49-F238E27FC236}">
                <a16:creationId xmlns:a16="http://schemas.microsoft.com/office/drawing/2014/main" id="{5180574B-9D1E-A41F-D828-E7371D80645A}"/>
              </a:ext>
            </a:extLst>
          </p:cNvPr>
          <p:cNvSpPr/>
          <p:nvPr/>
        </p:nvSpPr>
        <p:spPr>
          <a:xfrm>
            <a:off x="771525" y="3200177"/>
            <a:ext cx="3524250" cy="442913"/>
          </a:xfrm>
          <a:prstGeom prst="rect">
            <a:avLst/>
          </a:prstGeom>
          <a:noFill/>
          <a:ln/>
        </p:spPr>
        <p:txBody>
          <a:bodyPr wrap="square" lIns="0" tIns="0" rIns="0" bIns="0" rtlCol="0" anchor="t"/>
          <a:lstStyle/>
          <a:p>
            <a:r>
              <a:rPr lang="en-GB" sz="1050" i="1" dirty="0">
                <a:solidFill>
                  <a:schemeClr val="bg1">
                    <a:lumMod val="65000"/>
                  </a:schemeClr>
                </a:solidFill>
                <a:latin typeface="Garamond Premr Pro" panose="02020402060506020403" pitchFamily="18" charset="0"/>
              </a:rPr>
              <a:t>“The proposed development is in a highly sustainable location and will provide a range of social, economic and environmental benefits.”</a:t>
            </a:r>
            <a:r>
              <a:rPr lang="zh-CN" altLang="en-US" sz="1050" i="1" dirty="0">
                <a:solidFill>
                  <a:schemeClr val="bg1">
                    <a:lumMod val="65000"/>
                  </a:schemeClr>
                </a:solidFill>
                <a:latin typeface="Garamond Premr Pro" panose="02020402060506020403" pitchFamily="18" charset="0"/>
              </a:rPr>
              <a:t> </a:t>
            </a:r>
            <a:r>
              <a:rPr lang="en-GB" altLang="zh-CN" sz="1050" dirty="0">
                <a:solidFill>
                  <a:schemeClr val="bg1">
                    <a:lumMod val="65000"/>
                  </a:schemeClr>
                </a:solidFill>
                <a:latin typeface="Garamond Premr Pro" panose="02020402060506020403" pitchFamily="18" charset="0"/>
              </a:rPr>
              <a:t>(Turley,</a:t>
            </a:r>
            <a:r>
              <a:rPr lang="en-US" altLang="zh-CN" sz="1050" dirty="0">
                <a:solidFill>
                  <a:schemeClr val="bg1">
                    <a:lumMod val="65000"/>
                  </a:schemeClr>
                </a:solidFill>
                <a:latin typeface="Garamond Premr Pro" panose="02020402060506020403" pitchFamily="18" charset="0"/>
              </a:rPr>
              <a:t> </a:t>
            </a:r>
            <a:r>
              <a:rPr lang="en-GB" altLang="zh-CN" sz="1050" dirty="0">
                <a:solidFill>
                  <a:schemeClr val="bg1">
                    <a:lumMod val="65000"/>
                  </a:schemeClr>
                </a:solidFill>
                <a:latin typeface="Garamond Premr Pro" panose="02020402060506020403" pitchFamily="18" charset="0"/>
              </a:rPr>
              <a:t>2018)</a:t>
            </a:r>
          </a:p>
          <a:p>
            <a:r>
              <a:rPr lang="en-GB" sz="1050" i="1" dirty="0">
                <a:solidFill>
                  <a:schemeClr val="bg1">
                    <a:lumMod val="65000"/>
                  </a:schemeClr>
                </a:solidFill>
                <a:latin typeface="Garamond Premr Pro" panose="02020402060506020403" pitchFamily="18" charset="0"/>
              </a:rPr>
              <a:t>"The prospective applicant has indicated an intention to improve the ecological condition... and to deliver improvements to the wider site in terms of biodiversity.” </a:t>
            </a:r>
            <a:r>
              <a:rPr lang="en-GB" sz="1050" dirty="0">
                <a:solidFill>
                  <a:schemeClr val="bg1">
                    <a:lumMod val="65000"/>
                  </a:schemeClr>
                </a:solidFill>
                <a:latin typeface="Garamond Premr Pro" panose="02020402060506020403" pitchFamily="18" charset="0"/>
              </a:rPr>
              <a:t>(Spelthorne Borough Council, 2018)</a:t>
            </a:r>
            <a:endParaRPr lang="en-GB" altLang="zh-CN" sz="1050" dirty="0">
              <a:solidFill>
                <a:schemeClr val="bg1">
                  <a:lumMod val="65000"/>
                </a:schemeClr>
              </a:solidFill>
              <a:latin typeface="Garamond Premr Pro" panose="02020402060506020403" pitchFamily="18" charset="0"/>
            </a:endParaRPr>
          </a:p>
          <a:p>
            <a:endParaRPr lang="en-US" sz="1050" dirty="0">
              <a:solidFill>
                <a:schemeClr val="bg1">
                  <a:lumMod val="65000"/>
                </a:schemeClr>
              </a:solidFill>
              <a:latin typeface="Garamond Premr Pro" panose="02020402060506020403" pitchFamily="18" charset="0"/>
            </a:endParaRPr>
          </a:p>
        </p:txBody>
      </p:sp>
      <p:sp>
        <p:nvSpPr>
          <p:cNvPr id="4" name="TextBox 3">
            <a:extLst>
              <a:ext uri="{FF2B5EF4-FFF2-40B4-BE49-F238E27FC236}">
                <a16:creationId xmlns:a16="http://schemas.microsoft.com/office/drawing/2014/main" id="{6468F3D6-86C3-1290-C48F-459CFC4E81BE}"/>
              </a:ext>
            </a:extLst>
          </p:cNvPr>
          <p:cNvSpPr txBox="1"/>
          <p:nvPr/>
        </p:nvSpPr>
        <p:spPr>
          <a:xfrm>
            <a:off x="4769830" y="3167279"/>
            <a:ext cx="3685322" cy="1223412"/>
          </a:xfrm>
          <a:prstGeom prst="rect">
            <a:avLst/>
          </a:prstGeom>
          <a:noFill/>
        </p:spPr>
        <p:txBody>
          <a:bodyPr wrap="square" rtlCol="0">
            <a:spAutoFit/>
          </a:bodyPr>
          <a:lstStyle/>
          <a:p>
            <a:r>
              <a:rPr lang="en-GB" sz="1050" b="1" dirty="0">
                <a:solidFill>
                  <a:schemeClr val="bg1">
                    <a:lumMod val="65000"/>
                  </a:schemeClr>
                </a:solidFill>
                <a:latin typeface="Garamond Premr Pro" panose="02020402060506020403" pitchFamily="18" charset="0"/>
              </a:rPr>
              <a:t>132,123.11 SQM Logistical Sprawl (Asphalt expansion) </a:t>
            </a:r>
          </a:p>
          <a:p>
            <a:r>
              <a:rPr lang="en-GB" sz="1050" b="1" dirty="0">
                <a:solidFill>
                  <a:schemeClr val="bg1">
                    <a:lumMod val="65000"/>
                  </a:schemeClr>
                </a:solidFill>
                <a:latin typeface="Garamond Premr Pro" panose="02020402060506020403" pitchFamily="18" charset="0"/>
              </a:rPr>
              <a:t>5.4 GWh/year (regulated demand, excluding tenant fit-out and unregulated loads)</a:t>
            </a:r>
          </a:p>
          <a:p>
            <a:r>
              <a:rPr lang="en-GB" sz="1050" b="1" dirty="0">
                <a:solidFill>
                  <a:schemeClr val="bg1">
                    <a:lumMod val="65000"/>
                  </a:schemeClr>
                </a:solidFill>
                <a:latin typeface="Garamond Premr Pro" panose="02020402060506020403" pitchFamily="18" charset="0"/>
              </a:rPr>
              <a:t>79+ Mature Trees Removed (as per Environmental Statement, 2018)</a:t>
            </a:r>
          </a:p>
          <a:p>
            <a:r>
              <a:rPr lang="en-GB" sz="1050" b="1" dirty="0">
                <a:solidFill>
                  <a:schemeClr val="bg1">
                    <a:lumMod val="65000"/>
                  </a:schemeClr>
                </a:solidFill>
                <a:latin typeface="Garamond Premr Pro" panose="02020402060506020403" pitchFamily="18" charset="0"/>
              </a:rPr>
              <a:t>£36,150 S106 (all transport fees; £0 ecological) vs. £322.7M/yr operational GVA</a:t>
            </a:r>
            <a:r>
              <a:rPr lang="en-GB" sz="1050" dirty="0">
                <a:solidFill>
                  <a:schemeClr val="bg1">
                    <a:lumMod val="65000"/>
                  </a:schemeClr>
                </a:solidFill>
                <a:latin typeface="Garamond Premr Pro" panose="02020402060506020403" pitchFamily="18" charset="0"/>
              </a:rPr>
              <a:t>)</a:t>
            </a:r>
          </a:p>
          <a:p>
            <a:endParaRPr lang="en-GB" sz="1050" b="1" dirty="0">
              <a:solidFill>
                <a:schemeClr val="bg1">
                  <a:lumMod val="65000"/>
                </a:schemeClr>
              </a:solidFill>
              <a:latin typeface="Garamond Premr Pro" panose="02020402060506020403" pitchFamily="18" charset="0"/>
            </a:endParaRPr>
          </a:p>
        </p:txBody>
      </p:sp>
    </p:spTree>
    <p:extLst>
      <p:ext uri="{BB962C8B-B14F-4D97-AF65-F5344CB8AC3E}">
        <p14:creationId xmlns:p14="http://schemas.microsoft.com/office/powerpoint/2010/main" val="2091064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D53A431-BC03-63C0-4560-29E64E57D5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E16ECA5-268B-BA81-BB74-73A99E7FFDB2}"/>
              </a:ext>
            </a:extLst>
          </p:cNvPr>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Disp" panose="02020402060506020403" pitchFamily="18" charset="0"/>
              </a:rPr>
              <a:t>Methodological Note </a:t>
            </a:r>
            <a:r>
              <a:rPr lang="en-GB" sz="2000" b="1" dirty="0">
                <a:solidFill>
                  <a:schemeClr val="bg1"/>
                </a:solidFill>
                <a:latin typeface="Garamond Premr Pro Disp" panose="02020402060506020403" pitchFamily="18" charset="0"/>
              </a:rPr>
              <a:t>(Data Scope &amp; Limits)</a:t>
            </a:r>
            <a:endParaRPr lang="en-GB" sz="2800" b="1" dirty="0">
              <a:solidFill>
                <a:schemeClr val="bg1"/>
              </a:solidFill>
              <a:latin typeface="Garamond Premr Pro Disp" panose="02020402060506020403" pitchFamily="18" charset="0"/>
            </a:endParaRPr>
          </a:p>
        </p:txBody>
      </p:sp>
      <p:sp>
        <p:nvSpPr>
          <p:cNvPr id="3" name="Text 1">
            <a:extLst>
              <a:ext uri="{FF2B5EF4-FFF2-40B4-BE49-F238E27FC236}">
                <a16:creationId xmlns:a16="http://schemas.microsoft.com/office/drawing/2014/main" id="{CEC12E58-DB65-BCD3-305F-839A679523C4}"/>
              </a:ext>
            </a:extLst>
          </p:cNvPr>
          <p:cNvSpPr/>
          <p:nvPr/>
        </p:nvSpPr>
        <p:spPr>
          <a:xfrm>
            <a:off x="609600" y="1325835"/>
            <a:ext cx="8083296" cy="381000"/>
          </a:xfrm>
          <a:prstGeom prst="rect">
            <a:avLst/>
          </a:prstGeom>
          <a:noFill/>
          <a:ln/>
        </p:spPr>
        <p:txBody>
          <a:bodyPr wrap="square" lIns="0" tIns="0" rIns="0" bIns="0" rtlCol="0" anchor="t"/>
          <a:lstStyle/>
          <a:p>
            <a:r>
              <a:rPr lang="en-GB" sz="1600" dirty="0">
                <a:solidFill>
                  <a:schemeClr val="bg1"/>
                </a:solidFill>
                <a:latin typeface="Garamond Premr Pro" panose="02020402060506020403" pitchFamily="18" charset="0"/>
              </a:rPr>
              <a:t>OSM extraction date: March 2026</a:t>
            </a:r>
          </a:p>
        </p:txBody>
      </p:sp>
      <p:sp>
        <p:nvSpPr>
          <p:cNvPr id="4" name="Text 2">
            <a:extLst>
              <a:ext uri="{FF2B5EF4-FFF2-40B4-BE49-F238E27FC236}">
                <a16:creationId xmlns:a16="http://schemas.microsoft.com/office/drawing/2014/main" id="{3517F780-82F4-E846-413D-E2FCE7E4C24C}"/>
              </a:ext>
            </a:extLst>
          </p:cNvPr>
          <p:cNvSpPr/>
          <p:nvPr/>
        </p:nvSpPr>
        <p:spPr>
          <a:xfrm>
            <a:off x="609600" y="1935435"/>
            <a:ext cx="8083296" cy="381000"/>
          </a:xfrm>
          <a:prstGeom prst="rect">
            <a:avLst/>
          </a:prstGeom>
          <a:noFill/>
          <a:ln/>
        </p:spPr>
        <p:txBody>
          <a:bodyPr wrap="square" lIns="0" tIns="0" rIns="0" bIns="0" rtlCol="0" anchor="t"/>
          <a:lstStyle/>
          <a:p>
            <a:r>
              <a:rPr lang="en-GB" sz="1600" dirty="0">
                <a:solidFill>
                  <a:schemeClr val="bg1"/>
                </a:solidFill>
                <a:latin typeface="Garamond Premr Pro" panose="02020402060506020403" pitchFamily="18" charset="0"/>
              </a:rPr>
              <a:t>Logistical sprawl defined as: parking, service roads, impermeable service yards</a:t>
            </a:r>
          </a:p>
        </p:txBody>
      </p:sp>
      <p:sp>
        <p:nvSpPr>
          <p:cNvPr id="5" name="Text 3">
            <a:extLst>
              <a:ext uri="{FF2B5EF4-FFF2-40B4-BE49-F238E27FC236}">
                <a16:creationId xmlns:a16="http://schemas.microsoft.com/office/drawing/2014/main" id="{692F9BE7-447A-69EB-84D7-66ACAD61E615}"/>
              </a:ext>
            </a:extLst>
          </p:cNvPr>
          <p:cNvSpPr/>
          <p:nvPr/>
        </p:nvSpPr>
        <p:spPr>
          <a:xfrm>
            <a:off x="609600" y="2545035"/>
            <a:ext cx="8083296" cy="381000"/>
          </a:xfrm>
          <a:prstGeom prst="rect">
            <a:avLst/>
          </a:prstGeom>
          <a:noFill/>
          <a:ln/>
        </p:spPr>
        <p:txBody>
          <a:bodyPr wrap="square" lIns="0" tIns="0" rIns="0" bIns="0" rtlCol="0" anchor="t"/>
          <a:lstStyle/>
          <a:p>
            <a:r>
              <a:rPr lang="en-GB" sz="1600" dirty="0">
                <a:solidFill>
                  <a:schemeClr val="bg1"/>
                </a:solidFill>
                <a:latin typeface="Garamond Premr Pro" panose="02020402060506020403" pitchFamily="18" charset="0"/>
              </a:rPr>
              <a:t>Power anchors identified via substation and high-capacity grid nodes tagged in OSM</a:t>
            </a:r>
          </a:p>
        </p:txBody>
      </p:sp>
      <p:sp>
        <p:nvSpPr>
          <p:cNvPr id="6" name="Text 3">
            <a:extLst>
              <a:ext uri="{FF2B5EF4-FFF2-40B4-BE49-F238E27FC236}">
                <a16:creationId xmlns:a16="http://schemas.microsoft.com/office/drawing/2014/main" id="{DE7EF2E7-0BD1-1895-2CA8-CF44A10DD7B5}"/>
              </a:ext>
            </a:extLst>
          </p:cNvPr>
          <p:cNvSpPr/>
          <p:nvPr/>
        </p:nvSpPr>
        <p:spPr>
          <a:xfrm>
            <a:off x="609600" y="3154635"/>
            <a:ext cx="8083296" cy="381000"/>
          </a:xfrm>
          <a:prstGeom prst="rect">
            <a:avLst/>
          </a:prstGeom>
          <a:noFill/>
          <a:ln/>
        </p:spPr>
        <p:txBody>
          <a:bodyPr wrap="square" lIns="0" tIns="0" rIns="0" bIns="0" rtlCol="0" anchor="t"/>
          <a:lstStyle/>
          <a:p>
            <a:r>
              <a:rPr lang="en-GB" sz="1600" dirty="0">
                <a:solidFill>
                  <a:schemeClr val="bg1"/>
                </a:solidFill>
                <a:latin typeface="Garamond Premr Pro" panose="02020402060506020403" pitchFamily="18" charset="0"/>
              </a:rPr>
              <a:t>NO2 projection based on AADT modelling from </a:t>
            </a:r>
            <a:r>
              <a:rPr lang="en-GB" sz="1600" dirty="0" err="1">
                <a:solidFill>
                  <a:schemeClr val="bg1"/>
                </a:solidFill>
                <a:latin typeface="Garamond Premr Pro" panose="02020402060506020403" pitchFamily="18" charset="0"/>
              </a:rPr>
              <a:t>i</a:t>
            </a:r>
            <a:r>
              <a:rPr lang="en-GB" sz="1600" dirty="0">
                <a:solidFill>
                  <a:schemeClr val="bg1"/>
                </a:solidFill>
                <a:latin typeface="Garamond Premr Pro" panose="02020402060506020403" pitchFamily="18" charset="0"/>
              </a:rPr>
              <a:t>-Transport (2018) baseline</a:t>
            </a:r>
          </a:p>
        </p:txBody>
      </p:sp>
      <p:sp>
        <p:nvSpPr>
          <p:cNvPr id="7" name="Text 3">
            <a:extLst>
              <a:ext uri="{FF2B5EF4-FFF2-40B4-BE49-F238E27FC236}">
                <a16:creationId xmlns:a16="http://schemas.microsoft.com/office/drawing/2014/main" id="{A43D764C-D83E-2004-347E-AEB12CA39DAC}"/>
              </a:ext>
            </a:extLst>
          </p:cNvPr>
          <p:cNvSpPr/>
          <p:nvPr/>
        </p:nvSpPr>
        <p:spPr>
          <a:xfrm>
            <a:off x="0" y="4953000"/>
            <a:ext cx="8083296" cy="381000"/>
          </a:xfrm>
          <a:prstGeom prst="rect">
            <a:avLst/>
          </a:prstGeom>
          <a:noFill/>
          <a:ln/>
        </p:spPr>
        <p:txBody>
          <a:bodyPr wrap="square" lIns="0" tIns="0" rIns="0" bIns="0" rtlCol="0" anchor="t"/>
          <a:lstStyle/>
          <a:p>
            <a:r>
              <a:rPr lang="en-GB" sz="1200" dirty="0">
                <a:solidFill>
                  <a:schemeClr val="bg1">
                    <a:lumMod val="50000"/>
                  </a:schemeClr>
                </a:solidFill>
                <a:latin typeface="Garamond Premr Pro" panose="02020402060506020403" pitchFamily="18" charset="0"/>
              </a:rPr>
              <a:t>OSM data accuracy ~85-95% for tagged infrastructure (per OSM wiki); projection error &lt;0.1% at EPSG:27700 scale.</a:t>
            </a:r>
          </a:p>
        </p:txBody>
      </p:sp>
    </p:spTree>
    <p:extLst>
      <p:ext uri="{BB962C8B-B14F-4D97-AF65-F5344CB8AC3E}">
        <p14:creationId xmlns:p14="http://schemas.microsoft.com/office/powerpoint/2010/main" val="2606837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296AF14-AC10-A9E0-70D5-EF44390B80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487CEC-487B-039F-E9BC-49A41DF7CC5E}"/>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panose="02020402060506020403" pitchFamily="18" charset="0"/>
                <a:ea typeface="Garamond" pitchFamily="34" charset="-122"/>
                <a:cs typeface="Garamond" pitchFamily="34" charset="-120"/>
              </a:rPr>
              <a:t>Problem</a:t>
            </a:r>
            <a:endParaRPr lang="en-US" sz="2700" b="1" dirty="0">
              <a:latin typeface="Garamond Premr Pro" panose="02020402060506020403" pitchFamily="18" charset="0"/>
            </a:endParaRPr>
          </a:p>
        </p:txBody>
      </p:sp>
      <p:sp>
        <p:nvSpPr>
          <p:cNvPr id="3" name="Text 1">
            <a:extLst>
              <a:ext uri="{FF2B5EF4-FFF2-40B4-BE49-F238E27FC236}">
                <a16:creationId xmlns:a16="http://schemas.microsoft.com/office/drawing/2014/main" id="{96AFAE08-577B-1E35-2263-3E4F4FF6DD80}"/>
              </a:ext>
            </a:extLst>
          </p:cNvPr>
          <p:cNvSpPr/>
          <p:nvPr/>
        </p:nvSpPr>
        <p:spPr>
          <a:xfrm>
            <a:off x="609600" y="1325835"/>
            <a:ext cx="8083296" cy="381000"/>
          </a:xfrm>
          <a:prstGeom prst="rect">
            <a:avLst/>
          </a:prstGeom>
          <a:noFill/>
          <a:ln/>
        </p:spPr>
        <p:txBody>
          <a:bodyPr wrap="square" lIns="0" tIns="0" rIns="0" bIns="0" rtlCol="0" anchor="t"/>
          <a:lstStyle/>
          <a:p>
            <a:r>
              <a:rPr lang="en-GB" sz="2500" dirty="0">
                <a:solidFill>
                  <a:schemeClr val="bg1"/>
                </a:solidFill>
                <a:latin typeface="Garamond Premr Pro" panose="02020402060506020403" pitchFamily="18" charset="0"/>
              </a:rPr>
              <a:t>The problem lies in the hidden material expansion behind claims of immateriality.</a:t>
            </a:r>
          </a:p>
        </p:txBody>
      </p:sp>
    </p:spTree>
    <p:extLst>
      <p:ext uri="{BB962C8B-B14F-4D97-AF65-F5344CB8AC3E}">
        <p14:creationId xmlns:p14="http://schemas.microsoft.com/office/powerpoint/2010/main" val="1240734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6AD65FA-9E0B-9834-D797-A0B180B2F4DD}"/>
              </a:ext>
            </a:extLst>
          </p:cNvPr>
          <p:cNvPicPr>
            <a:picLocks noChangeAspect="1"/>
          </p:cNvPicPr>
          <p:nvPr/>
        </p:nvPicPr>
        <p:blipFill>
          <a:blip r:embed="rId3">
            <a:alphaModFix amt="35000"/>
          </a:blip>
          <a:stretch>
            <a:fillRect/>
          </a:stretch>
        </p:blipFill>
        <p:spPr>
          <a:xfrm>
            <a:off x="52413" y="319129"/>
            <a:ext cx="9197670" cy="5143500"/>
          </a:xfrm>
          <a:prstGeom prst="rect">
            <a:avLst/>
          </a:prstGeom>
        </p:spPr>
      </p:pic>
      <p:sp>
        <p:nvSpPr>
          <p:cNvPr id="2" name="Text 0"/>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Disp" panose="02020402060506020403" pitchFamily="18" charset="0"/>
              </a:rPr>
              <a:t>Spatial-Ecological Imbalance</a:t>
            </a:r>
          </a:p>
        </p:txBody>
      </p:sp>
      <p:sp>
        <p:nvSpPr>
          <p:cNvPr id="3" name="Text 1"/>
          <p:cNvSpPr/>
          <p:nvPr/>
        </p:nvSpPr>
        <p:spPr>
          <a:xfrm>
            <a:off x="609600" y="1249635"/>
            <a:ext cx="8083296" cy="365745"/>
          </a:xfrm>
          <a:prstGeom prst="rect">
            <a:avLst/>
          </a:prstGeom>
          <a:noFill/>
          <a:ln/>
        </p:spPr>
        <p:txBody>
          <a:bodyPr wrap="square" lIns="0" tIns="0" rIns="0" bIns="0" rtlCol="0" anchor="t"/>
          <a:lstStyle/>
          <a:p>
            <a:pPr marL="0" indent="0">
              <a:lnSpc>
                <a:spcPts val="2880"/>
              </a:lnSpc>
              <a:buNone/>
            </a:pPr>
            <a:r>
              <a:rPr lang="en-US" sz="1800" dirty="0">
                <a:solidFill>
                  <a:schemeClr val="bg1">
                    <a:lumMod val="75000"/>
                  </a:schemeClr>
                </a:solidFill>
                <a:latin typeface="Garamond Premr Pro" panose="02020402060506020403" pitchFamily="18" charset="0"/>
                <a:ea typeface="Courier New" pitchFamily="34" charset="-122"/>
                <a:cs typeface="Courier New" pitchFamily="34" charset="-120"/>
              </a:rPr>
              <a:t>Aggregate Logistical Sprawl: 132,123.11 sqm</a:t>
            </a:r>
            <a:endParaRPr lang="en-US" sz="1800" dirty="0">
              <a:solidFill>
                <a:schemeClr val="bg1">
                  <a:lumMod val="75000"/>
                </a:schemeClr>
              </a:solidFill>
              <a:latin typeface="Garamond Premr Pro" panose="02020402060506020403" pitchFamily="18" charset="0"/>
            </a:endParaRPr>
          </a:p>
        </p:txBody>
      </p:sp>
      <p:sp>
        <p:nvSpPr>
          <p:cNvPr id="4" name="Text 2"/>
          <p:cNvSpPr/>
          <p:nvPr/>
        </p:nvSpPr>
        <p:spPr>
          <a:xfrm>
            <a:off x="609600" y="2285927"/>
            <a:ext cx="8083296" cy="365745"/>
          </a:xfrm>
          <a:prstGeom prst="rect">
            <a:avLst/>
          </a:prstGeom>
          <a:noFill/>
          <a:ln/>
        </p:spPr>
        <p:txBody>
          <a:bodyPr wrap="square" lIns="0" tIns="0" rIns="0" bIns="0" rtlCol="0" anchor="t"/>
          <a:lstStyle/>
          <a:p>
            <a:pPr marL="0" indent="0">
              <a:lnSpc>
                <a:spcPts val="2880"/>
              </a:lnSpc>
              <a:buNone/>
            </a:pPr>
            <a:r>
              <a:rPr lang="en-US" sz="1800" dirty="0">
                <a:solidFill>
                  <a:schemeClr val="bg1">
                    <a:lumMod val="75000"/>
                  </a:schemeClr>
                </a:solidFill>
                <a:latin typeface="Garamond Premr Pro" panose="02020402060506020403" pitchFamily="18" charset="0"/>
                <a:ea typeface="Courier New" pitchFamily="34" charset="-122"/>
                <a:cs typeface="Courier New" pitchFamily="34" charset="-120"/>
              </a:rPr>
              <a:t>Logistical sprawl (impervious): 13.21 Hectares</a:t>
            </a:r>
            <a:r>
              <a:rPr lang="zh-CN" altLang="en-US" sz="1800" baseline="30000" dirty="0">
                <a:solidFill>
                  <a:schemeClr val="bg1">
                    <a:lumMod val="75000"/>
                  </a:schemeClr>
                </a:solidFill>
                <a:latin typeface="Garamond Premr Pro" panose="02020402060506020403" pitchFamily="18" charset="0"/>
                <a:ea typeface="Courier New" pitchFamily="34" charset="-122"/>
                <a:cs typeface="Courier New" pitchFamily="34" charset="-120"/>
              </a:rPr>
              <a:t>*</a:t>
            </a:r>
            <a:endParaRPr lang="en-US" sz="1800" baseline="30000" dirty="0">
              <a:solidFill>
                <a:schemeClr val="bg1">
                  <a:lumMod val="75000"/>
                </a:schemeClr>
              </a:solidFill>
              <a:latin typeface="Garamond Premr Pro" panose="02020402060506020403" pitchFamily="18" charset="0"/>
            </a:endParaRPr>
          </a:p>
        </p:txBody>
      </p:sp>
      <p:sp>
        <p:nvSpPr>
          <p:cNvPr id="5" name="Text 3"/>
          <p:cNvSpPr/>
          <p:nvPr/>
        </p:nvSpPr>
        <p:spPr>
          <a:xfrm>
            <a:off x="609600" y="2804073"/>
            <a:ext cx="8083296" cy="365745"/>
          </a:xfrm>
          <a:prstGeom prst="rect">
            <a:avLst/>
          </a:prstGeom>
          <a:noFill/>
          <a:ln/>
        </p:spPr>
        <p:txBody>
          <a:bodyPr wrap="square" lIns="0" tIns="0" rIns="0" bIns="0" rtlCol="0" anchor="t"/>
          <a:lstStyle/>
          <a:p>
            <a:pPr marL="0" indent="0">
              <a:lnSpc>
                <a:spcPts val="2880"/>
              </a:lnSpc>
              <a:buNone/>
            </a:pPr>
            <a:r>
              <a:rPr lang="en-US" sz="1800" dirty="0">
                <a:solidFill>
                  <a:schemeClr val="bg1">
                    <a:lumMod val="75000"/>
                  </a:schemeClr>
                </a:solidFill>
                <a:latin typeface="Garamond Premr Pro" panose="02020402060506020403" pitchFamily="18" charset="0"/>
                <a:ea typeface="Courier New" pitchFamily="34" charset="-122"/>
                <a:cs typeface="Courier New" pitchFamily="34" charset="-120"/>
              </a:rPr>
              <a:t>Traffic Rebound (AADT): +703 Vehicles/Day</a:t>
            </a:r>
            <a:endParaRPr lang="en-US" sz="1800" dirty="0">
              <a:solidFill>
                <a:schemeClr val="bg1">
                  <a:lumMod val="75000"/>
                </a:schemeClr>
              </a:solidFill>
              <a:latin typeface="Garamond Premr Pro" panose="02020402060506020403" pitchFamily="18" charset="0"/>
            </a:endParaRPr>
          </a:p>
        </p:txBody>
      </p:sp>
      <p:sp>
        <p:nvSpPr>
          <p:cNvPr id="6" name="Text 4"/>
          <p:cNvSpPr/>
          <p:nvPr/>
        </p:nvSpPr>
        <p:spPr>
          <a:xfrm>
            <a:off x="52413" y="4800706"/>
            <a:ext cx="8776648" cy="308595"/>
          </a:xfrm>
          <a:prstGeom prst="rect">
            <a:avLst/>
          </a:prstGeom>
          <a:noFill/>
          <a:ln/>
        </p:spPr>
        <p:txBody>
          <a:bodyPr wrap="square" lIns="0" tIns="0" rIns="0" bIns="0" rtlCol="0" anchor="t"/>
          <a:lstStyle/>
          <a:p>
            <a:pPr marL="0" indent="0">
              <a:lnSpc>
                <a:spcPts val="2430"/>
              </a:lnSpc>
              <a:buNone/>
            </a:pPr>
            <a:r>
              <a:rPr lang="zh-CN" altLang="en-US" sz="1100" baseline="30000" dirty="0">
                <a:solidFill>
                  <a:schemeClr val="bg1">
                    <a:lumMod val="65000"/>
                  </a:schemeClr>
                </a:solidFill>
                <a:latin typeface="Garamond Premr Pro Capt" panose="02020402060506020403" pitchFamily="18" charset="0"/>
                <a:ea typeface="Garamond" pitchFamily="34" charset="-122"/>
                <a:cs typeface="Garamond" pitchFamily="34" charset="-120"/>
              </a:rPr>
              <a:t>*</a:t>
            </a:r>
            <a:r>
              <a:rPr lang="en-US" sz="1100" dirty="0">
                <a:solidFill>
                  <a:schemeClr val="bg1">
                    <a:lumMod val="65000"/>
                  </a:schemeClr>
                </a:solidFill>
                <a:latin typeface="Garamond Premr Pro Capt" panose="02020402060506020403" pitchFamily="18" charset="0"/>
                <a:ea typeface="Garamond" pitchFamily="34" charset="-122"/>
                <a:cs typeface="Garamond" pitchFamily="34" charset="-120"/>
              </a:rPr>
              <a:t>Equivalent to paving over 18.5 professional football pitches.</a:t>
            </a:r>
            <a:endParaRPr lang="en-US" sz="1100" dirty="0">
              <a:solidFill>
                <a:schemeClr val="bg1">
                  <a:lumMod val="65000"/>
                </a:schemeClr>
              </a:solidFill>
              <a:latin typeface="Garamond Premr Pro Capt" panose="02020402060506020403" pitchFamily="18" charset="0"/>
            </a:endParaRPr>
          </a:p>
        </p:txBody>
      </p:sp>
      <p:sp>
        <p:nvSpPr>
          <p:cNvPr id="7" name="Text 3">
            <a:extLst>
              <a:ext uri="{FF2B5EF4-FFF2-40B4-BE49-F238E27FC236}">
                <a16:creationId xmlns:a16="http://schemas.microsoft.com/office/drawing/2014/main" id="{4BBCEA24-E734-BC3D-2333-36A404AAC731}"/>
              </a:ext>
            </a:extLst>
          </p:cNvPr>
          <p:cNvSpPr/>
          <p:nvPr/>
        </p:nvSpPr>
        <p:spPr>
          <a:xfrm>
            <a:off x="609600" y="3322219"/>
            <a:ext cx="8083296" cy="365745"/>
          </a:xfrm>
          <a:prstGeom prst="rect">
            <a:avLst/>
          </a:prstGeom>
          <a:noFill/>
          <a:ln/>
        </p:spPr>
        <p:txBody>
          <a:bodyPr wrap="square" lIns="0" tIns="0" rIns="0" bIns="0" rtlCol="0" anchor="t"/>
          <a:lstStyle/>
          <a:p>
            <a:pPr>
              <a:lnSpc>
                <a:spcPts val="2880"/>
              </a:lnSpc>
            </a:pPr>
            <a:r>
              <a:rPr lang="en-GB" dirty="0">
                <a:solidFill>
                  <a:schemeClr val="bg1">
                    <a:lumMod val="75000"/>
                  </a:schemeClr>
                </a:solidFill>
                <a:latin typeface="Garamond Premr Pro" panose="02020402060506020403" pitchFamily="18" charset="0"/>
                <a:cs typeface="Courier New" pitchFamily="34" charset="-120"/>
              </a:rPr>
              <a:t>Atmospheric </a:t>
            </a:r>
            <a:r>
              <a:rPr lang="en-GB" dirty="0" err="1">
                <a:solidFill>
                  <a:schemeClr val="bg1">
                    <a:lumMod val="75000"/>
                  </a:schemeClr>
                </a:solidFill>
                <a:latin typeface="Garamond Premr Pro" panose="02020402060506020403" pitchFamily="18" charset="0"/>
                <a:cs typeface="Courier New" pitchFamily="34" charset="-120"/>
              </a:rPr>
              <a:t>Compromise</a:t>
            </a:r>
            <a:r>
              <a:rPr lang="en-GB" dirty="0">
                <a:solidFill>
                  <a:schemeClr val="bg1">
                    <a:lumMod val="75000"/>
                  </a:schemeClr>
                </a:solidFill>
                <a:latin typeface="Garamond Premr Pro" panose="02020402060506020403" pitchFamily="18" charset="0"/>
                <a:cs typeface="Courier New" pitchFamily="34" charset="-120"/>
              </a:rPr>
              <a:t>: NO2 +2.19 </a:t>
            </a:r>
            <a:r>
              <a:rPr lang="el-GR" dirty="0">
                <a:solidFill>
                  <a:schemeClr val="bg1">
                    <a:lumMod val="75000"/>
                  </a:schemeClr>
                </a:solidFill>
                <a:latin typeface="Garamond Premr Pro" panose="02020402060506020403" pitchFamily="18" charset="0"/>
                <a:cs typeface="Courier New" pitchFamily="34" charset="-120"/>
              </a:rPr>
              <a:t>μ</a:t>
            </a:r>
            <a:r>
              <a:rPr lang="en-GB" dirty="0">
                <a:solidFill>
                  <a:schemeClr val="bg1">
                    <a:lumMod val="75000"/>
                  </a:schemeClr>
                </a:solidFill>
                <a:latin typeface="Garamond Premr Pro" panose="02020402060506020403" pitchFamily="18" charset="0"/>
                <a:cs typeface="Courier New" pitchFamily="34" charset="-120"/>
              </a:rPr>
              <a:t>g/m³</a:t>
            </a:r>
            <a:endParaRPr lang="en-US" dirty="0">
              <a:solidFill>
                <a:schemeClr val="bg1">
                  <a:lumMod val="75000"/>
                </a:schemeClr>
              </a:solidFill>
              <a:latin typeface="Garamond Premr Pro" panose="02020402060506020403" pitchFamily="18" charset="0"/>
              <a:cs typeface="Courier New" pitchFamily="34" charset="-120"/>
            </a:endParaRPr>
          </a:p>
        </p:txBody>
      </p:sp>
      <p:sp>
        <p:nvSpPr>
          <p:cNvPr id="8" name="Text 1">
            <a:extLst>
              <a:ext uri="{FF2B5EF4-FFF2-40B4-BE49-F238E27FC236}">
                <a16:creationId xmlns:a16="http://schemas.microsoft.com/office/drawing/2014/main" id="{58344567-507F-1921-D583-5D02BF286700}"/>
              </a:ext>
            </a:extLst>
          </p:cNvPr>
          <p:cNvSpPr/>
          <p:nvPr/>
        </p:nvSpPr>
        <p:spPr>
          <a:xfrm>
            <a:off x="609600" y="1767781"/>
            <a:ext cx="8083296" cy="365745"/>
          </a:xfrm>
          <a:prstGeom prst="rect">
            <a:avLst/>
          </a:prstGeom>
          <a:noFill/>
          <a:ln/>
        </p:spPr>
        <p:txBody>
          <a:bodyPr wrap="square" lIns="0" tIns="0" rIns="0" bIns="0" rtlCol="0" anchor="t"/>
          <a:lstStyle/>
          <a:p>
            <a:pPr marL="0" indent="0">
              <a:lnSpc>
                <a:spcPts val="2880"/>
              </a:lnSpc>
              <a:buNone/>
            </a:pPr>
            <a:r>
              <a:rPr lang="en-US" sz="1800" dirty="0">
                <a:solidFill>
                  <a:schemeClr val="bg1">
                    <a:lumMod val="75000"/>
                  </a:schemeClr>
                </a:solidFill>
                <a:latin typeface="Garamond Premr Pro" panose="02020402060506020403" pitchFamily="18" charset="0"/>
                <a:ea typeface="Courier New" pitchFamily="34" charset="-122"/>
                <a:cs typeface="Courier New" pitchFamily="34" charset="-120"/>
              </a:rPr>
              <a:t>Parking Bays: 2845</a:t>
            </a:r>
            <a:endParaRPr lang="en-US" sz="1800" dirty="0">
              <a:solidFill>
                <a:schemeClr val="bg1">
                  <a:lumMod val="75000"/>
                </a:schemeClr>
              </a:solidFill>
              <a:latin typeface="Garamond Premr Pro" panose="02020402060506020403" pitchFamily="18" charset="0"/>
            </a:endParaRPr>
          </a:p>
        </p:txBody>
      </p:sp>
      <p:sp>
        <p:nvSpPr>
          <p:cNvPr id="9" name="Text 1">
            <a:extLst>
              <a:ext uri="{FF2B5EF4-FFF2-40B4-BE49-F238E27FC236}">
                <a16:creationId xmlns:a16="http://schemas.microsoft.com/office/drawing/2014/main" id="{1D6E0386-5C21-4914-C728-1C8B3A6720E3}"/>
              </a:ext>
            </a:extLst>
          </p:cNvPr>
          <p:cNvSpPr/>
          <p:nvPr/>
        </p:nvSpPr>
        <p:spPr>
          <a:xfrm>
            <a:off x="609600" y="3838467"/>
            <a:ext cx="8083296" cy="365745"/>
          </a:xfrm>
          <a:prstGeom prst="rect">
            <a:avLst/>
          </a:prstGeom>
          <a:noFill/>
          <a:ln/>
        </p:spPr>
        <p:txBody>
          <a:bodyPr wrap="square" lIns="0" tIns="0" rIns="0" bIns="0" rtlCol="0" anchor="t"/>
          <a:lstStyle/>
          <a:p>
            <a:pPr marL="0" indent="0">
              <a:lnSpc>
                <a:spcPts val="2880"/>
              </a:lnSpc>
              <a:buNone/>
            </a:pPr>
            <a:r>
              <a:rPr lang="en-US" sz="1800" dirty="0">
                <a:solidFill>
                  <a:schemeClr val="bg1">
                    <a:lumMod val="75000"/>
                  </a:schemeClr>
                </a:solidFill>
                <a:latin typeface="Garamond Premr Pro" panose="02020402060506020403" pitchFamily="18" charset="0"/>
                <a:ea typeface="Courier New" pitchFamily="34" charset="-122"/>
                <a:cs typeface="Courier New" pitchFamily="34" charset="-120"/>
              </a:rPr>
              <a:t>Power elements (OSM power=*): 17 (indicative lower bound)</a:t>
            </a:r>
            <a:endParaRPr lang="en-US" sz="1800" dirty="0">
              <a:solidFill>
                <a:schemeClr val="bg1">
                  <a:lumMod val="75000"/>
                </a:schemeClr>
              </a:solidFill>
              <a:latin typeface="Garamond Premr Pro" panose="02020402060506020403" pitchFamily="18" charset="0"/>
            </a:endParaRPr>
          </a:p>
        </p:txBody>
      </p:sp>
      <p:sp>
        <p:nvSpPr>
          <p:cNvPr id="11" name="TextBox 10">
            <a:extLst>
              <a:ext uri="{FF2B5EF4-FFF2-40B4-BE49-F238E27FC236}">
                <a16:creationId xmlns:a16="http://schemas.microsoft.com/office/drawing/2014/main" id="{B52BFC03-CC25-C38F-E1F7-C78D468BEF52}"/>
              </a:ext>
            </a:extLst>
          </p:cNvPr>
          <p:cNvSpPr txBox="1"/>
          <p:nvPr/>
        </p:nvSpPr>
        <p:spPr>
          <a:xfrm>
            <a:off x="4802696" y="2961133"/>
            <a:ext cx="3048000" cy="430887"/>
          </a:xfrm>
          <a:prstGeom prst="rect">
            <a:avLst/>
          </a:prstGeom>
          <a:noFill/>
        </p:spPr>
        <p:txBody>
          <a:bodyPr wrap="square" rtlCol="0">
            <a:spAutoFit/>
          </a:bodyPr>
          <a:lstStyle/>
          <a:p>
            <a:r>
              <a:rPr lang="en-GB" sz="1100" dirty="0">
                <a:solidFill>
                  <a:schemeClr val="bg1">
                    <a:lumMod val="75000"/>
                  </a:schemeClr>
                </a:solidFill>
                <a:latin typeface="Garamond Premr Pro" panose="02020402060506020403" pitchFamily="18" charset="0"/>
              </a:rPr>
              <a:t>(Source: </a:t>
            </a:r>
            <a:r>
              <a:rPr lang="en-GB" sz="1100" dirty="0" err="1">
                <a:solidFill>
                  <a:schemeClr val="bg1">
                    <a:lumMod val="75000"/>
                  </a:schemeClr>
                </a:solidFill>
                <a:latin typeface="Garamond Premr Pro" panose="02020402060506020403" pitchFamily="18" charset="0"/>
              </a:rPr>
              <a:t>i</a:t>
            </a:r>
            <a:r>
              <a:rPr lang="en-GB" sz="1100" dirty="0">
                <a:solidFill>
                  <a:schemeClr val="bg1">
                    <a:lumMod val="75000"/>
                  </a:schemeClr>
                </a:solidFill>
                <a:latin typeface="Garamond Premr Pro" panose="02020402060506020403" pitchFamily="18" charset="0"/>
              </a:rPr>
              <a:t>-Transport, 2018, Table 5.14)</a:t>
            </a:r>
          </a:p>
          <a:p>
            <a:endParaRPr lang="en-GB" sz="1100" dirty="0">
              <a:solidFill>
                <a:schemeClr val="bg1">
                  <a:lumMod val="75000"/>
                </a:schemeClr>
              </a:solidFill>
              <a:latin typeface="Garamond Premr Pro" panose="02020402060506020403" pitchFamily="18" charset="0"/>
            </a:endParaRPr>
          </a:p>
        </p:txBody>
      </p:sp>
      <p:sp>
        <p:nvSpPr>
          <p:cNvPr id="12" name="TextBox 11">
            <a:extLst>
              <a:ext uri="{FF2B5EF4-FFF2-40B4-BE49-F238E27FC236}">
                <a16:creationId xmlns:a16="http://schemas.microsoft.com/office/drawing/2014/main" id="{40CC9530-0600-F516-D98C-A2558A8D0B46}"/>
              </a:ext>
            </a:extLst>
          </p:cNvPr>
          <p:cNvSpPr txBox="1"/>
          <p:nvPr/>
        </p:nvSpPr>
        <p:spPr>
          <a:xfrm>
            <a:off x="4647545" y="3426354"/>
            <a:ext cx="3048000" cy="261610"/>
          </a:xfrm>
          <a:prstGeom prst="rect">
            <a:avLst/>
          </a:prstGeom>
          <a:noFill/>
        </p:spPr>
        <p:txBody>
          <a:bodyPr wrap="square" rtlCol="0">
            <a:spAutoFit/>
          </a:bodyPr>
          <a:lstStyle/>
          <a:p>
            <a:r>
              <a:rPr lang="en-GB" sz="1100" dirty="0">
                <a:solidFill>
                  <a:schemeClr val="bg1">
                    <a:lumMod val="75000"/>
                  </a:schemeClr>
                </a:solidFill>
                <a:latin typeface="Garamond Premr Pro" panose="02020402060506020403" pitchFamily="18" charset="0"/>
              </a:rPr>
              <a:t>(Source: Turley, ES Vol 1, Air Quality Assessment)</a:t>
            </a:r>
          </a:p>
        </p:txBody>
      </p:sp>
      <p:sp>
        <p:nvSpPr>
          <p:cNvPr id="13" name="TextBox 12">
            <a:extLst>
              <a:ext uri="{FF2B5EF4-FFF2-40B4-BE49-F238E27FC236}">
                <a16:creationId xmlns:a16="http://schemas.microsoft.com/office/drawing/2014/main" id="{A064B581-06B3-E542-927A-A0031B286134}"/>
              </a:ext>
            </a:extLst>
          </p:cNvPr>
          <p:cNvSpPr txBox="1"/>
          <p:nvPr/>
        </p:nvSpPr>
        <p:spPr>
          <a:xfrm>
            <a:off x="513806" y="4301151"/>
            <a:ext cx="8577781" cy="923330"/>
          </a:xfrm>
          <a:prstGeom prst="rect">
            <a:avLst/>
          </a:prstGeom>
          <a:noFill/>
        </p:spPr>
        <p:txBody>
          <a:bodyPr wrap="square" rtlCol="0">
            <a:spAutoFit/>
          </a:bodyPr>
          <a:lstStyle/>
          <a:p>
            <a:r>
              <a:rPr lang="en-GB" dirty="0">
                <a:solidFill>
                  <a:schemeClr val="bg1">
                    <a:lumMod val="65000"/>
                  </a:schemeClr>
                </a:solidFill>
                <a:latin typeface="Garamond Premr Pro" panose="02020402060506020403" pitchFamily="18" charset="0"/>
              </a:rPr>
              <a:t>This logistical sprawl constitutes the spatial fix demanded by digital capital to sustain accumulation cycles.</a:t>
            </a:r>
          </a:p>
          <a:p>
            <a:endParaRPr lang="en-GB" dirty="0">
              <a:solidFill>
                <a:schemeClr val="bg1">
                  <a:lumMod val="65000"/>
                </a:schemeClr>
              </a:solidFill>
              <a:latin typeface="Garamond Premr Pro" panose="020204020605060204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DBD0B17-60C8-0504-F411-BBA0B4E0F85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4407EAF-2439-AEF1-9BD7-59FDB6469D90}"/>
              </a:ext>
            </a:extLst>
          </p:cNvPr>
          <p:cNvPicPr>
            <a:picLocks noChangeAspect="1"/>
          </p:cNvPicPr>
          <p:nvPr/>
        </p:nvPicPr>
        <p:blipFill>
          <a:blip r:embed="rId3">
            <a:alphaModFix/>
          </a:blip>
          <a:stretch>
            <a:fillRect/>
          </a:stretch>
        </p:blipFill>
        <p:spPr>
          <a:xfrm>
            <a:off x="0" y="0"/>
            <a:ext cx="9197670" cy="5143500"/>
          </a:xfrm>
          <a:prstGeom prst="rect">
            <a:avLst/>
          </a:prstGeom>
        </p:spPr>
      </p:pic>
      <p:sp>
        <p:nvSpPr>
          <p:cNvPr id="8" name="TextBox 7">
            <a:extLst>
              <a:ext uri="{FF2B5EF4-FFF2-40B4-BE49-F238E27FC236}">
                <a16:creationId xmlns:a16="http://schemas.microsoft.com/office/drawing/2014/main" id="{AA5E80DA-B190-D31E-ECE4-16E299A4C2BE}"/>
              </a:ext>
            </a:extLst>
          </p:cNvPr>
          <p:cNvSpPr txBox="1"/>
          <p:nvPr/>
        </p:nvSpPr>
        <p:spPr>
          <a:xfrm>
            <a:off x="0" y="4866501"/>
            <a:ext cx="6187912" cy="276999"/>
          </a:xfrm>
          <a:prstGeom prst="rect">
            <a:avLst/>
          </a:prstGeom>
          <a:noFill/>
        </p:spPr>
        <p:txBody>
          <a:bodyPr wrap="none" rtlCol="0">
            <a:spAutoFit/>
          </a:bodyPr>
          <a:lstStyle/>
          <a:p>
            <a:r>
              <a:rPr lang="en-GB" sz="1200" dirty="0" err="1">
                <a:solidFill>
                  <a:schemeClr val="bg1"/>
                </a:solidFill>
                <a:highlight>
                  <a:srgbClr val="000000"/>
                </a:highlight>
                <a:latin typeface="Garamond Premr Pro" panose="02020402060506020403" pitchFamily="18" charset="0"/>
              </a:rPr>
              <a:t>Geovisualisation</a:t>
            </a:r>
            <a:r>
              <a:rPr lang="en-GB" sz="1200" dirty="0">
                <a:solidFill>
                  <a:schemeClr val="bg1"/>
                </a:solidFill>
                <a:highlight>
                  <a:srgbClr val="000000"/>
                </a:highlight>
                <a:latin typeface="Garamond Premr Pro" panose="02020402060506020403" pitchFamily="18" charset="0"/>
              </a:rPr>
              <a:t> of Shepperton expansion vectors. Data sourced from OSM_AUDIT_2025 repository.</a:t>
            </a:r>
          </a:p>
        </p:txBody>
      </p:sp>
    </p:spTree>
    <p:extLst>
      <p:ext uri="{BB962C8B-B14F-4D97-AF65-F5344CB8AC3E}">
        <p14:creationId xmlns:p14="http://schemas.microsoft.com/office/powerpoint/2010/main" val="1060980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89D20B6-01AB-714E-E176-A5B28F9CEF5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F91733D-A444-9267-4CF0-DC210620CE07}"/>
              </a:ext>
            </a:extLst>
          </p:cNvPr>
          <p:cNvPicPr>
            <a:picLocks noChangeAspect="1"/>
          </p:cNvPicPr>
          <p:nvPr/>
        </p:nvPicPr>
        <p:blipFill>
          <a:blip r:embed="rId3"/>
          <a:stretch>
            <a:fillRect/>
          </a:stretch>
        </p:blipFill>
        <p:spPr>
          <a:xfrm>
            <a:off x="0" y="0"/>
            <a:ext cx="4769556" cy="5143500"/>
          </a:xfrm>
          <a:prstGeom prst="rect">
            <a:avLst/>
          </a:prstGeom>
        </p:spPr>
      </p:pic>
      <p:sp>
        <p:nvSpPr>
          <p:cNvPr id="5" name="TextBox 4">
            <a:extLst>
              <a:ext uri="{FF2B5EF4-FFF2-40B4-BE49-F238E27FC236}">
                <a16:creationId xmlns:a16="http://schemas.microsoft.com/office/drawing/2014/main" id="{FF68F7D2-BDBC-73AB-09D9-64FD5ABCE92D}"/>
              </a:ext>
            </a:extLst>
          </p:cNvPr>
          <p:cNvSpPr txBox="1"/>
          <p:nvPr/>
        </p:nvSpPr>
        <p:spPr>
          <a:xfrm>
            <a:off x="4769555" y="1833086"/>
            <a:ext cx="4374445" cy="1785104"/>
          </a:xfrm>
          <a:prstGeom prst="rect">
            <a:avLst/>
          </a:prstGeom>
          <a:noFill/>
        </p:spPr>
        <p:txBody>
          <a:bodyPr wrap="square" rtlCol="0">
            <a:spAutoFit/>
          </a:bodyPr>
          <a:lstStyle/>
          <a:p>
            <a:r>
              <a:rPr lang="en-GB" sz="2000" dirty="0">
                <a:solidFill>
                  <a:schemeClr val="bg1"/>
                </a:solidFill>
                <a:latin typeface="Garamond Premr Pro" panose="02020402060506020403" pitchFamily="18" charset="0"/>
              </a:rPr>
              <a:t>For each mid-size production:</a:t>
            </a:r>
          </a:p>
          <a:p>
            <a:r>
              <a:rPr lang="en-GB" dirty="0">
                <a:solidFill>
                  <a:schemeClr val="bg1">
                    <a:lumMod val="65000"/>
                  </a:schemeClr>
                </a:solidFill>
                <a:latin typeface="Garamond Premr Pro" panose="02020402060506020403" pitchFamily="18" charset="0"/>
              </a:rPr>
              <a:t>Base Power Draw: 2x 1200 Amp + 2x 250 Amp Diesel Generators</a:t>
            </a:r>
          </a:p>
          <a:p>
            <a:r>
              <a:rPr lang="en-GB" dirty="0">
                <a:solidFill>
                  <a:schemeClr val="bg1">
                    <a:lumMod val="65000"/>
                  </a:schemeClr>
                </a:solidFill>
                <a:latin typeface="Garamond Premr Pro" panose="02020402060506020403" pitchFamily="18" charset="0"/>
              </a:rPr>
              <a:t>Combustion rate: 296 Litres of Diesel / Day</a:t>
            </a:r>
          </a:p>
          <a:p>
            <a:r>
              <a:rPr lang="en-GB" dirty="0">
                <a:solidFill>
                  <a:schemeClr val="bg1">
                    <a:lumMod val="65000"/>
                  </a:schemeClr>
                </a:solidFill>
                <a:latin typeface="Garamond Premr Pro" panose="02020402060506020403" pitchFamily="18" charset="0"/>
              </a:rPr>
              <a:t>Climate Cost: 52 Tonnes GHG Emissions</a:t>
            </a:r>
          </a:p>
          <a:p>
            <a:r>
              <a:rPr lang="en-GB" dirty="0">
                <a:solidFill>
                  <a:schemeClr val="bg1">
                    <a:lumMod val="65000"/>
                  </a:schemeClr>
                </a:solidFill>
                <a:latin typeface="Garamond Premr Pro" panose="02020402060506020403" pitchFamily="18" charset="0"/>
              </a:rPr>
              <a:t>(CMPA / Felder et al., 2022)</a:t>
            </a:r>
          </a:p>
        </p:txBody>
      </p:sp>
      <p:sp>
        <p:nvSpPr>
          <p:cNvPr id="6" name="TextBox 5">
            <a:extLst>
              <a:ext uri="{FF2B5EF4-FFF2-40B4-BE49-F238E27FC236}">
                <a16:creationId xmlns:a16="http://schemas.microsoft.com/office/drawing/2014/main" id="{C63E83E1-47CC-CFF7-6A3C-3F2DF3619268}"/>
              </a:ext>
            </a:extLst>
          </p:cNvPr>
          <p:cNvSpPr txBox="1"/>
          <p:nvPr/>
        </p:nvSpPr>
        <p:spPr>
          <a:xfrm>
            <a:off x="4769555" y="4866501"/>
            <a:ext cx="3745513" cy="276999"/>
          </a:xfrm>
          <a:prstGeom prst="rect">
            <a:avLst/>
          </a:prstGeom>
          <a:noFill/>
        </p:spPr>
        <p:txBody>
          <a:bodyPr wrap="none" rtlCol="0">
            <a:spAutoFit/>
          </a:bodyPr>
          <a:lstStyle/>
          <a:p>
            <a:r>
              <a:rPr lang="en-GB" sz="1200" b="1" dirty="0">
                <a:solidFill>
                  <a:schemeClr val="bg1"/>
                </a:solidFill>
                <a:highlight>
                  <a:srgbClr val="000000"/>
                </a:highlight>
                <a:latin typeface="Garamond Premr Pro" panose="02020402060506020403" pitchFamily="18" charset="0"/>
              </a:rPr>
              <a:t>Source:</a:t>
            </a:r>
            <a:r>
              <a:rPr lang="en-GB" sz="1200" dirty="0">
                <a:solidFill>
                  <a:schemeClr val="bg1"/>
                </a:solidFill>
                <a:highlight>
                  <a:srgbClr val="000000"/>
                </a:highlight>
                <a:latin typeface="Garamond Premr Pro" panose="02020402060506020403" pitchFamily="18" charset="0"/>
              </a:rPr>
              <a:t> Asset Location Search Map (Hydrock, 2018, p. 6).</a:t>
            </a:r>
          </a:p>
        </p:txBody>
      </p:sp>
    </p:spTree>
    <p:extLst>
      <p:ext uri="{BB962C8B-B14F-4D97-AF65-F5344CB8AC3E}">
        <p14:creationId xmlns:p14="http://schemas.microsoft.com/office/powerpoint/2010/main" val="3167870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9043EFF-C686-6964-B37C-4A69ACEE3C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E7394C1-358A-719A-0CC7-8CC7AE5005B4}"/>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panose="02020402060506020403" pitchFamily="18" charset="0"/>
                <a:ea typeface="Garamond" pitchFamily="34" charset="-122"/>
                <a:cs typeface="Garamond" pitchFamily="34" charset="-120"/>
              </a:rPr>
              <a:t>Implications</a:t>
            </a:r>
            <a:r>
              <a:rPr lang="en-GB" sz="2700" b="1" dirty="0">
                <a:solidFill>
                  <a:srgbClr val="FFFFFF"/>
                </a:solidFill>
                <a:latin typeface="Garamond Premr Pro" panose="02020402060506020403" pitchFamily="18" charset="0"/>
                <a:ea typeface="Garamond" pitchFamily="34" charset="-122"/>
                <a:cs typeface="Garamond" pitchFamily="34" charset="-120"/>
              </a:rPr>
              <a:t> (Preview)</a:t>
            </a:r>
            <a:endParaRPr lang="en-US" sz="2700" b="1" dirty="0">
              <a:latin typeface="Garamond Premr Pro" panose="02020402060506020403" pitchFamily="18" charset="0"/>
            </a:endParaRPr>
          </a:p>
        </p:txBody>
      </p:sp>
      <p:sp>
        <p:nvSpPr>
          <p:cNvPr id="3" name="Text 1">
            <a:extLst>
              <a:ext uri="{FF2B5EF4-FFF2-40B4-BE49-F238E27FC236}">
                <a16:creationId xmlns:a16="http://schemas.microsoft.com/office/drawing/2014/main" id="{11315545-DCB1-673C-C173-88EA0ABE8360}"/>
              </a:ext>
            </a:extLst>
          </p:cNvPr>
          <p:cNvSpPr/>
          <p:nvPr/>
        </p:nvSpPr>
        <p:spPr>
          <a:xfrm>
            <a:off x="609600" y="1325835"/>
            <a:ext cx="8083296" cy="381000"/>
          </a:xfrm>
          <a:prstGeom prst="rect">
            <a:avLst/>
          </a:prstGeom>
          <a:noFill/>
          <a:ln/>
        </p:spPr>
        <p:txBody>
          <a:bodyPr wrap="square" lIns="0" tIns="0" rIns="0" bIns="0" rtlCol="0" anchor="t"/>
          <a:lstStyle/>
          <a:p>
            <a:pPr fontAlgn="t">
              <a:lnSpc>
                <a:spcPct val="200000"/>
              </a:lnSpc>
            </a:pPr>
            <a:r>
              <a:rPr lang="en-GB" b="1" dirty="0">
                <a:solidFill>
                  <a:schemeClr val="bg1"/>
                </a:solidFill>
                <a:latin typeface="Garamond Premr Pro" panose="02020402060506020403" pitchFamily="18" charset="0"/>
              </a:rPr>
              <a:t>Environmental</a:t>
            </a:r>
            <a:r>
              <a:rPr lang="en-GB" dirty="0">
                <a:solidFill>
                  <a:schemeClr val="bg1"/>
                </a:solidFill>
                <a:latin typeface="Garamond Premr Pro" panose="02020402060506020403" pitchFamily="18" charset="0"/>
              </a:rPr>
              <a:t>: loss of biomass, NDVI collapse, heat accumulation </a:t>
            </a:r>
          </a:p>
          <a:p>
            <a:pPr fontAlgn="t">
              <a:lnSpc>
                <a:spcPct val="200000"/>
              </a:lnSpc>
            </a:pPr>
            <a:r>
              <a:rPr lang="en-GB" b="1" dirty="0">
                <a:solidFill>
                  <a:schemeClr val="bg1"/>
                </a:solidFill>
                <a:latin typeface="Garamond Premr Pro" panose="02020402060506020403" pitchFamily="18" charset="0"/>
              </a:rPr>
              <a:t>Economic</a:t>
            </a:r>
            <a:r>
              <a:rPr lang="en-GB" dirty="0">
                <a:solidFill>
                  <a:schemeClr val="bg1"/>
                </a:solidFill>
                <a:latin typeface="Garamond Premr Pro" panose="02020402060506020403" pitchFamily="18" charset="0"/>
              </a:rPr>
              <a:t>: 5.4 GWh/year new loads, escalation of local infrastructure cost </a:t>
            </a:r>
          </a:p>
          <a:p>
            <a:pPr fontAlgn="t">
              <a:lnSpc>
                <a:spcPct val="200000"/>
              </a:lnSpc>
            </a:pPr>
            <a:r>
              <a:rPr lang="en-GB" b="1" dirty="0">
                <a:solidFill>
                  <a:schemeClr val="bg1"/>
                </a:solidFill>
                <a:latin typeface="Garamond Premr Pro" panose="02020402060506020403" pitchFamily="18" charset="0"/>
              </a:rPr>
              <a:t>Governance</a:t>
            </a:r>
            <a:r>
              <a:rPr lang="en-GB" dirty="0">
                <a:solidFill>
                  <a:schemeClr val="bg1"/>
                </a:solidFill>
                <a:latin typeface="Garamond Premr Pro" panose="02020402060506020403" pitchFamily="18" charset="0"/>
              </a:rPr>
              <a:t>: discourse‑led legitimisation of expansion</a:t>
            </a:r>
          </a:p>
        </p:txBody>
      </p:sp>
    </p:spTree>
    <p:extLst>
      <p:ext uri="{BB962C8B-B14F-4D97-AF65-F5344CB8AC3E}">
        <p14:creationId xmlns:p14="http://schemas.microsoft.com/office/powerpoint/2010/main" val="2839036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B236B2B-676F-72CA-8C3D-BC8D52A4DA08}"/>
              </a:ext>
            </a:extLst>
          </p:cNvPr>
          <p:cNvPicPr>
            <a:picLocks noChangeAspect="1"/>
          </p:cNvPicPr>
          <p:nvPr/>
        </p:nvPicPr>
        <p:blipFill>
          <a:blip r:embed="rId3">
            <a:alphaModFix amt="35000"/>
          </a:blip>
          <a:stretch>
            <a:fillRect/>
          </a:stretch>
        </p:blipFill>
        <p:spPr>
          <a:xfrm>
            <a:off x="79247" y="318223"/>
            <a:ext cx="9144000" cy="5113487"/>
          </a:xfrm>
          <a:prstGeom prst="rect">
            <a:avLst/>
          </a:prstGeom>
        </p:spPr>
      </p:pic>
      <p:sp>
        <p:nvSpPr>
          <p:cNvPr id="3" name="Text 0"/>
          <p:cNvSpPr/>
          <p:nvPr/>
        </p:nvSpPr>
        <p:spPr>
          <a:xfrm>
            <a:off x="609600" y="609600"/>
            <a:ext cx="7924800" cy="822871"/>
          </a:xfrm>
          <a:prstGeom prst="rect">
            <a:avLst/>
          </a:prstGeom>
          <a:noFill/>
          <a:ln/>
        </p:spPr>
        <p:txBody>
          <a:bodyPr wrap="square" lIns="0" tIns="0" rIns="0" bIns="0" rtlCol="0" anchor="t"/>
          <a:lstStyle/>
          <a:p>
            <a:pPr>
              <a:lnSpc>
                <a:spcPts val="3240"/>
              </a:lnSpc>
            </a:pPr>
            <a:r>
              <a:rPr lang="en-GB" sz="2800" b="1" dirty="0">
                <a:solidFill>
                  <a:schemeClr val="bg1"/>
                </a:solidFill>
                <a:latin typeface="Garamond Premr Pro Disp" panose="02020402060506020403" pitchFamily="18" charset="0"/>
              </a:rPr>
              <a:t>Land, Flood Risk &amp; Ecological Loss</a:t>
            </a:r>
          </a:p>
          <a:p>
            <a:pPr>
              <a:lnSpc>
                <a:spcPts val="3240"/>
              </a:lnSpc>
            </a:pPr>
            <a:endParaRPr lang="en-US" sz="2800" b="1" dirty="0">
              <a:solidFill>
                <a:schemeClr val="bg1"/>
              </a:solidFill>
              <a:latin typeface="Garamond Premr Pro Disp" panose="02020402060506020403" pitchFamily="18" charset="0"/>
            </a:endParaRPr>
          </a:p>
        </p:txBody>
      </p:sp>
      <p:sp>
        <p:nvSpPr>
          <p:cNvPr id="4" name="Text 1"/>
          <p:cNvSpPr/>
          <p:nvPr/>
        </p:nvSpPr>
        <p:spPr>
          <a:xfrm>
            <a:off x="609599" y="1661071"/>
            <a:ext cx="8456579" cy="365745"/>
          </a:xfrm>
          <a:prstGeom prst="rect">
            <a:avLst/>
          </a:prstGeom>
          <a:noFill/>
          <a:ln/>
        </p:spPr>
        <p:txBody>
          <a:bodyPr wrap="square" lIns="0" tIns="0" rIns="0" bIns="0" rtlCol="0" anchor="t"/>
          <a:lstStyle/>
          <a:p>
            <a:pPr>
              <a:lnSpc>
                <a:spcPts val="2880"/>
              </a:lnSpc>
            </a:pPr>
            <a:r>
              <a:rPr lang="en-GB" dirty="0">
                <a:solidFill>
                  <a:schemeClr val="bg1">
                    <a:lumMod val="75000"/>
                  </a:schemeClr>
                </a:solidFill>
                <a:latin typeface="Garamond Premr Pro" panose="02020402060506020403" pitchFamily="18" charset="0"/>
                <a:cs typeface="Courier New" pitchFamily="34" charset="-120"/>
              </a:rPr>
              <a:t>High-Capacity Grid Dependence: 5.4 GWh/Year Regulated Energy Demand</a:t>
            </a:r>
            <a:endParaRPr lang="en-US" dirty="0">
              <a:solidFill>
                <a:schemeClr val="bg1">
                  <a:lumMod val="75000"/>
                </a:schemeClr>
              </a:solidFill>
              <a:latin typeface="Garamond Premr Pro" panose="02020402060506020403" pitchFamily="18" charset="0"/>
              <a:cs typeface="Courier New" pitchFamily="34" charset="-120"/>
            </a:endParaRPr>
          </a:p>
        </p:txBody>
      </p:sp>
      <p:sp>
        <p:nvSpPr>
          <p:cNvPr id="5" name="Text 2"/>
          <p:cNvSpPr/>
          <p:nvPr/>
        </p:nvSpPr>
        <p:spPr>
          <a:xfrm>
            <a:off x="609599" y="2255416"/>
            <a:ext cx="8534400" cy="365745"/>
          </a:xfrm>
          <a:prstGeom prst="rect">
            <a:avLst/>
          </a:prstGeom>
          <a:noFill/>
          <a:ln/>
        </p:spPr>
        <p:txBody>
          <a:bodyPr wrap="square" lIns="0" tIns="0" rIns="0" bIns="0" rtlCol="0" anchor="t"/>
          <a:lstStyle/>
          <a:p>
            <a:pPr>
              <a:lnSpc>
                <a:spcPts val="2880"/>
              </a:lnSpc>
            </a:pPr>
            <a:r>
              <a:rPr lang="en-GB" dirty="0">
                <a:solidFill>
                  <a:schemeClr val="bg1">
                    <a:lumMod val="75000"/>
                  </a:schemeClr>
                </a:solidFill>
                <a:latin typeface="Garamond Premr Pro" panose="02020402060506020403" pitchFamily="18" charset="0"/>
                <a:cs typeface="Courier New" pitchFamily="34" charset="-120"/>
              </a:rPr>
              <a:t>Hydrological Control : 39 Hectares in Flood Zone 2 </a:t>
            </a:r>
            <a:r>
              <a:rPr lang="en-GB" dirty="0" err="1">
                <a:solidFill>
                  <a:schemeClr val="bg1">
                    <a:lumMod val="75000"/>
                  </a:schemeClr>
                </a:solidFill>
                <a:latin typeface="Garamond Premr Pro" panose="02020402060506020403" pitchFamily="18" charset="0"/>
                <a:cs typeface="Courier New" pitchFamily="34" charset="-120"/>
              </a:rPr>
              <a:t>Hardsurfaced</a:t>
            </a:r>
            <a:endParaRPr lang="en-US" dirty="0">
              <a:solidFill>
                <a:schemeClr val="bg1">
                  <a:lumMod val="75000"/>
                </a:schemeClr>
              </a:solidFill>
              <a:latin typeface="Garamond Premr Pro" panose="02020402060506020403" pitchFamily="18" charset="0"/>
              <a:cs typeface="Courier New" pitchFamily="34" charset="-120"/>
            </a:endParaRPr>
          </a:p>
        </p:txBody>
      </p:sp>
      <p:sp>
        <p:nvSpPr>
          <p:cNvPr id="6" name="Text 3"/>
          <p:cNvSpPr/>
          <p:nvPr/>
        </p:nvSpPr>
        <p:spPr>
          <a:xfrm>
            <a:off x="609599" y="2773561"/>
            <a:ext cx="8083296" cy="365745"/>
          </a:xfrm>
          <a:prstGeom prst="rect">
            <a:avLst/>
          </a:prstGeom>
          <a:noFill/>
          <a:ln/>
        </p:spPr>
        <p:txBody>
          <a:bodyPr wrap="square" lIns="0" tIns="0" rIns="0" bIns="0" rtlCol="0" anchor="t"/>
          <a:lstStyle/>
          <a:p>
            <a:pPr marL="0" indent="0">
              <a:lnSpc>
                <a:spcPts val="2880"/>
              </a:lnSpc>
              <a:buNone/>
            </a:pPr>
            <a:r>
              <a:rPr lang="en-US" dirty="0">
                <a:solidFill>
                  <a:schemeClr val="bg1">
                    <a:lumMod val="75000"/>
                  </a:schemeClr>
                </a:solidFill>
                <a:latin typeface="Garamond Premr Pro" panose="02020402060506020403" pitchFamily="18" charset="0"/>
                <a:cs typeface="Courier New" pitchFamily="34" charset="-120"/>
              </a:rPr>
              <a:t>Physical Erasure: </a:t>
            </a:r>
            <a:r>
              <a:rPr lang="en-US" altLang="zh-CN" dirty="0">
                <a:solidFill>
                  <a:schemeClr val="bg1">
                    <a:lumMod val="75000"/>
                  </a:schemeClr>
                </a:solidFill>
                <a:latin typeface="Garamond Premr Pro" panose="02020402060506020403" pitchFamily="18" charset="0"/>
                <a:cs typeface="Courier New" pitchFamily="34" charset="-120"/>
              </a:rPr>
              <a:t>79+</a:t>
            </a:r>
            <a:r>
              <a:rPr lang="en-US" dirty="0">
                <a:solidFill>
                  <a:schemeClr val="bg1">
                    <a:lumMod val="75000"/>
                  </a:schemeClr>
                </a:solidFill>
                <a:latin typeface="Garamond Premr Pro" panose="02020402060506020403" pitchFamily="18" charset="0"/>
                <a:cs typeface="Courier New" pitchFamily="34" charset="-120"/>
              </a:rPr>
              <a:t> MATURE TREES REMOVED</a:t>
            </a:r>
          </a:p>
        </p:txBody>
      </p:sp>
      <p:sp>
        <p:nvSpPr>
          <p:cNvPr id="14" name="TextBox 13">
            <a:extLst>
              <a:ext uri="{FF2B5EF4-FFF2-40B4-BE49-F238E27FC236}">
                <a16:creationId xmlns:a16="http://schemas.microsoft.com/office/drawing/2014/main" id="{CDE003AB-8C79-B378-DFFE-BB23F50E71A0}"/>
              </a:ext>
            </a:extLst>
          </p:cNvPr>
          <p:cNvSpPr txBox="1"/>
          <p:nvPr/>
        </p:nvSpPr>
        <p:spPr>
          <a:xfrm>
            <a:off x="-1" y="4922764"/>
            <a:ext cx="4310795" cy="461665"/>
          </a:xfrm>
          <a:prstGeom prst="rect">
            <a:avLst/>
          </a:prstGeom>
          <a:noFill/>
        </p:spPr>
        <p:txBody>
          <a:bodyPr wrap="none" rtlCol="0">
            <a:spAutoFit/>
          </a:bodyPr>
          <a:lstStyle/>
          <a:p>
            <a:r>
              <a:rPr lang="en-GB" sz="1200" dirty="0">
                <a:solidFill>
                  <a:schemeClr val="bg1">
                    <a:lumMod val="65000"/>
                  </a:schemeClr>
                </a:solidFill>
                <a:latin typeface="Garamond Premr Pro Capt" panose="02020402060506020403" pitchFamily="18" charset="0"/>
              </a:rPr>
              <a:t>This reflects what political ecology calls a </a:t>
            </a:r>
            <a:r>
              <a:rPr lang="en-GB" sz="1200" i="1" dirty="0">
                <a:solidFill>
                  <a:schemeClr val="bg1">
                    <a:lumMod val="65000"/>
                  </a:schemeClr>
                </a:solidFill>
                <a:latin typeface="Garamond Premr Pro Capt" panose="02020402060506020403" pitchFamily="18" charset="0"/>
              </a:rPr>
              <a:t>violent discipline of nature.</a:t>
            </a:r>
          </a:p>
          <a:p>
            <a:endParaRPr lang="en-GB" sz="1200" i="1" dirty="0">
              <a:solidFill>
                <a:schemeClr val="bg1">
                  <a:lumMod val="65000"/>
                </a:schemeClr>
              </a:solidFill>
              <a:latin typeface="Garamond Premr Pro Capt" panose="02020402060506020403" pitchFamily="18" charset="0"/>
            </a:endParaRPr>
          </a:p>
        </p:txBody>
      </p:sp>
      <p:sp>
        <p:nvSpPr>
          <p:cNvPr id="2" name="TextBox 1">
            <a:extLst>
              <a:ext uri="{FF2B5EF4-FFF2-40B4-BE49-F238E27FC236}">
                <a16:creationId xmlns:a16="http://schemas.microsoft.com/office/drawing/2014/main" id="{D9B4EE26-38D4-21E9-ED4C-2763230455B7}"/>
              </a:ext>
            </a:extLst>
          </p:cNvPr>
          <p:cNvSpPr txBox="1"/>
          <p:nvPr/>
        </p:nvSpPr>
        <p:spPr>
          <a:xfrm>
            <a:off x="4487159" y="1938265"/>
            <a:ext cx="1580882" cy="307777"/>
          </a:xfrm>
          <a:prstGeom prst="rect">
            <a:avLst/>
          </a:prstGeom>
          <a:noFill/>
        </p:spPr>
        <p:txBody>
          <a:bodyPr wrap="none" rtlCol="0">
            <a:spAutoFit/>
          </a:bodyPr>
          <a:lstStyle/>
          <a:p>
            <a:r>
              <a:rPr lang="en-US" altLang="zh-CN" sz="1400" dirty="0">
                <a:solidFill>
                  <a:schemeClr val="bg1">
                    <a:lumMod val="65000"/>
                  </a:schemeClr>
                </a:solidFill>
                <a:latin typeface="Courier Prime" panose="02000409000000000000" pitchFamily="49" charset="77"/>
              </a:rPr>
              <a:t>5</a:t>
            </a:r>
            <a:r>
              <a:rPr lang="en-GB" altLang="zh-CN" sz="1400" dirty="0">
                <a:solidFill>
                  <a:schemeClr val="bg1">
                    <a:lumMod val="65000"/>
                  </a:schemeClr>
                </a:solidFill>
                <a:latin typeface="Courier Prime" panose="02000409000000000000" pitchFamily="49" charset="77"/>
              </a:rPr>
              <a:t>,</a:t>
            </a:r>
            <a:r>
              <a:rPr lang="en-US" altLang="zh-CN" sz="1400" dirty="0">
                <a:solidFill>
                  <a:schemeClr val="bg1">
                    <a:lumMod val="65000"/>
                  </a:schemeClr>
                </a:solidFill>
                <a:latin typeface="Courier Prime" panose="02000409000000000000" pitchFamily="49" charset="77"/>
              </a:rPr>
              <a:t>396</a:t>
            </a:r>
            <a:r>
              <a:rPr lang="en-GB" altLang="zh-CN" sz="1400" dirty="0">
                <a:solidFill>
                  <a:schemeClr val="bg1">
                    <a:lumMod val="65000"/>
                  </a:schemeClr>
                </a:solidFill>
                <a:latin typeface="Courier Prime" panose="02000409000000000000" pitchFamily="49" charset="77"/>
              </a:rPr>
              <a:t>,</a:t>
            </a:r>
            <a:r>
              <a:rPr lang="en-US" altLang="zh-CN" sz="1400" dirty="0">
                <a:solidFill>
                  <a:schemeClr val="bg1">
                    <a:lumMod val="65000"/>
                  </a:schemeClr>
                </a:solidFill>
                <a:latin typeface="Courier Prime" panose="02000409000000000000" pitchFamily="49" charset="77"/>
              </a:rPr>
              <a:t>561</a:t>
            </a:r>
            <a:r>
              <a:rPr lang="zh-CN" altLang="en-US" sz="1400" dirty="0">
                <a:solidFill>
                  <a:schemeClr val="bg1">
                    <a:lumMod val="65000"/>
                  </a:schemeClr>
                </a:solidFill>
                <a:latin typeface="Courier Prime" panose="02000409000000000000" pitchFamily="49" charset="77"/>
              </a:rPr>
              <a:t> </a:t>
            </a:r>
            <a:r>
              <a:rPr lang="en-US" altLang="zh-CN" sz="1400" dirty="0">
                <a:solidFill>
                  <a:schemeClr val="bg1">
                    <a:lumMod val="65000"/>
                  </a:schemeClr>
                </a:solidFill>
                <a:latin typeface="Courier Prime" panose="02000409000000000000" pitchFamily="49" charset="77"/>
              </a:rPr>
              <a:t>kWh</a:t>
            </a:r>
            <a:endParaRPr lang="en-GB" sz="1400" dirty="0">
              <a:solidFill>
                <a:schemeClr val="bg1">
                  <a:lumMod val="65000"/>
                </a:schemeClr>
              </a:solidFill>
              <a:latin typeface="Courier Prime" panose="02000409000000000000" pitchFamily="49"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E8372F9-F9C6-B854-9F96-57F8B4A0E63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E0076A7-D52D-2C00-1268-D1DB866EA3E7}"/>
              </a:ext>
            </a:extLst>
          </p:cNvPr>
          <p:cNvPicPr>
            <a:picLocks noChangeAspect="1"/>
          </p:cNvPicPr>
          <p:nvPr/>
        </p:nvPicPr>
        <p:blipFill>
          <a:blip r:embed="rId3">
            <a:alphaModFix/>
          </a:blip>
          <a:stretch>
            <a:fillRect/>
          </a:stretch>
        </p:blipFill>
        <p:spPr>
          <a:xfrm>
            <a:off x="1061485" y="-2762"/>
            <a:ext cx="7021030" cy="4696996"/>
          </a:xfrm>
          <a:prstGeom prst="rect">
            <a:avLst/>
          </a:prstGeom>
        </p:spPr>
      </p:pic>
      <p:sp>
        <p:nvSpPr>
          <p:cNvPr id="2" name="TextBox 1">
            <a:extLst>
              <a:ext uri="{FF2B5EF4-FFF2-40B4-BE49-F238E27FC236}">
                <a16:creationId xmlns:a16="http://schemas.microsoft.com/office/drawing/2014/main" id="{AFBB2AD8-B504-7DC8-17DB-92E4D92941BF}"/>
              </a:ext>
            </a:extLst>
          </p:cNvPr>
          <p:cNvSpPr txBox="1"/>
          <p:nvPr/>
        </p:nvSpPr>
        <p:spPr>
          <a:xfrm>
            <a:off x="0" y="4694234"/>
            <a:ext cx="9144000" cy="461665"/>
          </a:xfrm>
          <a:prstGeom prst="rect">
            <a:avLst/>
          </a:prstGeom>
          <a:noFill/>
        </p:spPr>
        <p:txBody>
          <a:bodyPr wrap="square" rtlCol="0">
            <a:spAutoFit/>
          </a:bodyPr>
          <a:lstStyle/>
          <a:p>
            <a:r>
              <a:rPr lang="en-GB" sz="1200" b="1" dirty="0">
                <a:solidFill>
                  <a:schemeClr val="bg1"/>
                </a:solidFill>
                <a:highlight>
                  <a:srgbClr val="000000"/>
                </a:highlight>
                <a:latin typeface="Garamond Premr Pro" panose="02020402060506020403" pitchFamily="18" charset="0"/>
              </a:rPr>
              <a:t>Table </a:t>
            </a:r>
            <a:r>
              <a:rPr lang="en-US" sz="1200" b="1" dirty="0">
                <a:solidFill>
                  <a:schemeClr val="bg1"/>
                </a:solidFill>
                <a:highlight>
                  <a:srgbClr val="000000"/>
                </a:highlight>
                <a:latin typeface="Garamond Premr Pro" panose="02020402060506020403" pitchFamily="18" charset="0"/>
              </a:rPr>
              <a:t>1</a:t>
            </a:r>
            <a:r>
              <a:rPr lang="en-GB" sz="1200" b="1" dirty="0">
                <a:solidFill>
                  <a:schemeClr val="bg1"/>
                </a:solidFill>
                <a:highlight>
                  <a:srgbClr val="000000"/>
                </a:highlight>
                <a:latin typeface="Garamond Premr Pro" panose="02020402060506020403" pitchFamily="18" charset="0"/>
              </a:rPr>
              <a:t>.</a:t>
            </a:r>
            <a:r>
              <a:rPr lang="en-GB" sz="1200" dirty="0">
                <a:solidFill>
                  <a:schemeClr val="bg1"/>
                </a:solidFill>
                <a:highlight>
                  <a:srgbClr val="000000"/>
                </a:highlight>
                <a:latin typeface="Garamond Premr Pro" panose="02020402060506020403" pitchFamily="18" charset="0"/>
              </a:rPr>
              <a:t> Summary of </a:t>
            </a:r>
            <a:r>
              <a:rPr lang="en-GB" sz="1200" dirty="0" err="1">
                <a:solidFill>
                  <a:schemeClr val="bg1"/>
                </a:solidFill>
                <a:highlight>
                  <a:srgbClr val="000000"/>
                </a:highlight>
                <a:latin typeface="Garamond Premr Pro" panose="02020402060506020403" pitchFamily="18" charset="0"/>
              </a:rPr>
              <a:t>arboricultural</a:t>
            </a:r>
            <a:r>
              <a:rPr lang="en-GB" sz="1200" dirty="0">
                <a:solidFill>
                  <a:schemeClr val="bg1"/>
                </a:solidFill>
                <a:highlight>
                  <a:srgbClr val="000000"/>
                </a:highlight>
                <a:latin typeface="Garamond Premr Pro" panose="02020402060506020403" pitchFamily="18" charset="0"/>
              </a:rPr>
              <a:t> impacts. Extracted from Spelthorne Borough Council Planning Dossier 18/01212/OUT (</a:t>
            </a:r>
            <a:r>
              <a:rPr lang="en-GB" sz="1200" dirty="0" err="1">
                <a:solidFill>
                  <a:schemeClr val="bg1"/>
                </a:solidFill>
                <a:highlight>
                  <a:srgbClr val="000000"/>
                </a:highlight>
                <a:latin typeface="Garamond Premr Pro" panose="02020402060506020403" pitchFamily="18" charset="0"/>
              </a:rPr>
              <a:t>Arboricultural</a:t>
            </a:r>
            <a:r>
              <a:rPr lang="en-GB" sz="1200" dirty="0">
                <a:solidFill>
                  <a:schemeClr val="bg1"/>
                </a:solidFill>
                <a:highlight>
                  <a:srgbClr val="000000"/>
                </a:highlight>
                <a:latin typeface="Garamond Premr Pro" panose="02020402060506020403" pitchFamily="18" charset="0"/>
              </a:rPr>
              <a:t> Implications Report, August 2018).</a:t>
            </a:r>
          </a:p>
        </p:txBody>
      </p:sp>
    </p:spTree>
    <p:extLst>
      <p:ext uri="{BB962C8B-B14F-4D97-AF65-F5344CB8AC3E}">
        <p14:creationId xmlns:p14="http://schemas.microsoft.com/office/powerpoint/2010/main" val="2918317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FB3E3F4-A226-2E97-0960-6C1419C7E4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693A18-646A-04C2-DC27-9373F0A3BBA8}"/>
              </a:ext>
            </a:extLst>
          </p:cNvPr>
          <p:cNvSpPr txBox="1"/>
          <p:nvPr/>
        </p:nvSpPr>
        <p:spPr>
          <a:xfrm>
            <a:off x="0" y="4835723"/>
            <a:ext cx="9144000" cy="276999"/>
          </a:xfrm>
          <a:prstGeom prst="rect">
            <a:avLst/>
          </a:prstGeom>
          <a:noFill/>
        </p:spPr>
        <p:txBody>
          <a:bodyPr wrap="square" rtlCol="0">
            <a:spAutoFit/>
          </a:bodyPr>
          <a:lstStyle/>
          <a:p>
            <a:r>
              <a:rPr lang="en-GB" sz="1200" b="1" dirty="0">
                <a:solidFill>
                  <a:schemeClr val="bg1"/>
                </a:solidFill>
                <a:highlight>
                  <a:srgbClr val="000000"/>
                </a:highlight>
                <a:latin typeface="Garamond Premr Pro" panose="02020402060506020403" pitchFamily="18" charset="0"/>
              </a:rPr>
              <a:t>Fig</a:t>
            </a:r>
            <a:r>
              <a:rPr lang="zh-CN" altLang="en-US" sz="1200" b="1" dirty="0">
                <a:solidFill>
                  <a:schemeClr val="bg1"/>
                </a:solidFill>
                <a:highlight>
                  <a:srgbClr val="000000"/>
                </a:highlight>
                <a:latin typeface="Garamond Premr Pro" panose="02020402060506020403" pitchFamily="18" charset="0"/>
              </a:rPr>
              <a:t> </a:t>
            </a:r>
            <a:r>
              <a:rPr lang="en-US" altLang="zh-CN" sz="1200" b="1" dirty="0">
                <a:solidFill>
                  <a:schemeClr val="bg1"/>
                </a:solidFill>
                <a:highlight>
                  <a:srgbClr val="000000"/>
                </a:highlight>
                <a:latin typeface="Garamond Premr Pro" panose="02020402060506020403" pitchFamily="18" charset="0"/>
              </a:rPr>
              <a:t>2</a:t>
            </a:r>
            <a:r>
              <a:rPr lang="en-US" altLang="zh-CN" sz="1200" dirty="0">
                <a:solidFill>
                  <a:schemeClr val="bg1"/>
                </a:solidFill>
                <a:highlight>
                  <a:srgbClr val="000000"/>
                </a:highlight>
                <a:latin typeface="Garamond Premr Pro" panose="02020402060506020403" pitchFamily="18" charset="0"/>
              </a:rPr>
              <a:t>: </a:t>
            </a:r>
            <a:r>
              <a:rPr lang="en-GB" sz="1200" dirty="0">
                <a:solidFill>
                  <a:schemeClr val="bg1"/>
                </a:solidFill>
                <a:highlight>
                  <a:srgbClr val="000000"/>
                </a:highlight>
                <a:latin typeface="Garamond Premr Pro" panose="02020402060506020403" pitchFamily="18" charset="0"/>
              </a:rPr>
              <a:t>SJA Trees (2018) Tree Protection Plan. Drawing No: SJA TPP 18158-02.</a:t>
            </a:r>
            <a:endParaRPr lang="en-GB" sz="1000" dirty="0">
              <a:solidFill>
                <a:schemeClr val="bg1"/>
              </a:solidFill>
              <a:highlight>
                <a:srgbClr val="C0C0C0"/>
              </a:highlight>
              <a:latin typeface="Garamond Premr Pro" panose="02020402060506020403" pitchFamily="18" charset="0"/>
            </a:endParaRPr>
          </a:p>
        </p:txBody>
      </p:sp>
      <p:pic>
        <p:nvPicPr>
          <p:cNvPr id="6" name="Picture 5">
            <a:extLst>
              <a:ext uri="{FF2B5EF4-FFF2-40B4-BE49-F238E27FC236}">
                <a16:creationId xmlns:a16="http://schemas.microsoft.com/office/drawing/2014/main" id="{27E4993A-A87A-B637-D38B-4A12431C1063}"/>
              </a:ext>
            </a:extLst>
          </p:cNvPr>
          <p:cNvPicPr>
            <a:picLocks noChangeAspect="1"/>
          </p:cNvPicPr>
          <p:nvPr/>
        </p:nvPicPr>
        <p:blipFill>
          <a:blip r:embed="rId3"/>
          <a:stretch>
            <a:fillRect/>
          </a:stretch>
        </p:blipFill>
        <p:spPr>
          <a:xfrm>
            <a:off x="479029" y="0"/>
            <a:ext cx="7772400" cy="4883657"/>
          </a:xfrm>
          <a:prstGeom prst="rect">
            <a:avLst/>
          </a:prstGeom>
        </p:spPr>
      </p:pic>
    </p:spTree>
    <p:extLst>
      <p:ext uri="{BB962C8B-B14F-4D97-AF65-F5344CB8AC3E}">
        <p14:creationId xmlns:p14="http://schemas.microsoft.com/office/powerpoint/2010/main" val="3011338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530352" y="591033"/>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Institutional Complicity &amp; Moral Licensing</a:t>
            </a:r>
            <a:endParaRPr lang="en-US" sz="2700" b="1" dirty="0">
              <a:latin typeface="Garamond Premr Pro Disp" panose="02020402060506020403" pitchFamily="18" charset="0"/>
            </a:endParaRPr>
          </a:p>
        </p:txBody>
      </p:sp>
      <p:sp>
        <p:nvSpPr>
          <p:cNvPr id="4" name="Text 1"/>
          <p:cNvSpPr/>
          <p:nvPr/>
        </p:nvSpPr>
        <p:spPr>
          <a:xfrm>
            <a:off x="530352" y="1749251"/>
            <a:ext cx="8083296" cy="690563"/>
          </a:xfrm>
          <a:prstGeom prst="rect">
            <a:avLst/>
          </a:prstGeom>
          <a:noFill/>
          <a:ln/>
        </p:spPr>
        <p:txBody>
          <a:bodyPr wrap="square" lIns="0" tIns="0" rIns="0" bIns="0" rtlCol="0" anchor="t"/>
          <a:lstStyle/>
          <a:p>
            <a:pPr marL="0" indent="0" algn="ctr">
              <a:lnSpc>
                <a:spcPts val="4320"/>
              </a:lnSpc>
              <a:buNone/>
            </a:pPr>
            <a:r>
              <a:rPr lang="en-US" sz="4800" b="1" dirty="0">
                <a:solidFill>
                  <a:srgbClr val="FFFFFF"/>
                </a:solidFill>
                <a:latin typeface="Courier Prime" panose="02000409000000000000" pitchFamily="49" charset="77"/>
                <a:ea typeface="Courier New" pitchFamily="34" charset="-122"/>
                <a:cs typeface="Courier New" pitchFamily="34" charset="-120"/>
              </a:rPr>
              <a:t>£322.7M / yr</a:t>
            </a:r>
            <a:endParaRPr lang="en-US" sz="4800" b="1" dirty="0">
              <a:latin typeface="Courier Prime" panose="02000409000000000000" pitchFamily="49" charset="77"/>
            </a:endParaRPr>
          </a:p>
        </p:txBody>
      </p:sp>
      <p:sp>
        <p:nvSpPr>
          <p:cNvPr id="5" name="Text 2"/>
          <p:cNvSpPr/>
          <p:nvPr/>
        </p:nvSpPr>
        <p:spPr>
          <a:xfrm>
            <a:off x="530352" y="2391897"/>
            <a:ext cx="8083296" cy="342900"/>
          </a:xfrm>
          <a:prstGeom prst="rect">
            <a:avLst/>
          </a:prstGeom>
          <a:noFill/>
          <a:ln/>
        </p:spPr>
        <p:txBody>
          <a:bodyPr wrap="square" lIns="0" tIns="0" rIns="0" bIns="0" rtlCol="0" anchor="t"/>
          <a:lstStyle/>
          <a:p>
            <a:pPr marL="0" indent="0" algn="ctr">
              <a:lnSpc>
                <a:spcPts val="2700"/>
              </a:lnSpc>
              <a:buNone/>
            </a:pPr>
            <a:r>
              <a:rPr lang="en-US" sz="1600" dirty="0">
                <a:solidFill>
                  <a:schemeClr val="bg1">
                    <a:lumMod val="75000"/>
                  </a:schemeClr>
                </a:solidFill>
                <a:latin typeface="Garamond Premr Pro" panose="02020402060506020403" pitchFamily="18" charset="0"/>
                <a:ea typeface="Garamond" pitchFamily="34" charset="-122"/>
                <a:cs typeface="Garamond" pitchFamily="34" charset="-120"/>
              </a:rPr>
              <a:t>Operational GVA per annum (Capital Fix)</a:t>
            </a:r>
          </a:p>
          <a:p>
            <a:pPr algn="ctr">
              <a:lnSpc>
                <a:spcPts val="2700"/>
              </a:lnSpc>
            </a:pPr>
            <a:r>
              <a:rPr lang="en-GB" sz="1600" i="1" dirty="0">
                <a:solidFill>
                  <a:schemeClr val="bg1">
                    <a:lumMod val="75000"/>
                  </a:schemeClr>
                </a:solidFill>
                <a:latin typeface="Garamond Premr Pro" panose="02020402060506020403" pitchFamily="18" charset="0"/>
              </a:rPr>
              <a:t>(Turley Economics, 2018, para 33; Table 6.2’s £392M is the 4-yr construction-period total, not annual)</a:t>
            </a:r>
            <a:r>
              <a:rPr lang="en-GB" sz="1600" dirty="0">
                <a:solidFill>
                  <a:schemeClr val="bg1">
                    <a:lumMod val="75000"/>
                  </a:schemeClr>
                </a:solidFill>
                <a:latin typeface="Garamond Premr Pro" panose="02020402060506020403" pitchFamily="18" charset="0"/>
              </a:rPr>
              <a:t> </a:t>
            </a:r>
            <a:endParaRPr lang="en-US" sz="1600" dirty="0">
              <a:solidFill>
                <a:schemeClr val="bg1">
                  <a:lumMod val="75000"/>
                </a:schemeClr>
              </a:solidFill>
              <a:latin typeface="Garamond Premr Pro" panose="02020402060506020403" pitchFamily="18" charset="0"/>
            </a:endParaRPr>
          </a:p>
        </p:txBody>
      </p:sp>
      <p:sp>
        <p:nvSpPr>
          <p:cNvPr id="6" name="Text 3"/>
          <p:cNvSpPr/>
          <p:nvPr/>
        </p:nvSpPr>
        <p:spPr>
          <a:xfrm>
            <a:off x="530352" y="3392314"/>
            <a:ext cx="8083296" cy="257175"/>
          </a:xfrm>
          <a:prstGeom prst="rect">
            <a:avLst/>
          </a:prstGeom>
          <a:noFill/>
          <a:ln/>
        </p:spPr>
        <p:txBody>
          <a:bodyPr wrap="square" lIns="0" tIns="0" rIns="0" bIns="0" rtlCol="0" anchor="t"/>
          <a:lstStyle/>
          <a:p>
            <a:pPr marL="0" indent="0" algn="ctr">
              <a:lnSpc>
                <a:spcPts val="1620"/>
              </a:lnSpc>
              <a:buNone/>
            </a:pPr>
            <a:r>
              <a:rPr lang="en-US" sz="1400" dirty="0">
                <a:solidFill>
                  <a:srgbClr val="FF0000"/>
                </a:solidFill>
                <a:latin typeface="Courier Prime" panose="02000409000000000000" pitchFamily="49" charset="77"/>
                <a:ea typeface="Courier New" pitchFamily="34" charset="-122"/>
                <a:cs typeface="Courier New" pitchFamily="34" charset="-120"/>
              </a:rPr>
              <a:t>£36,150</a:t>
            </a:r>
            <a:r>
              <a:rPr lang="en-US" sz="1400" baseline="30000" dirty="0">
                <a:solidFill>
                  <a:srgbClr val="FF0000"/>
                </a:solidFill>
                <a:latin typeface="Courier Prime" panose="02000409000000000000" pitchFamily="49" charset="77"/>
                <a:ea typeface="Courier New" pitchFamily="34" charset="-122"/>
                <a:cs typeface="Courier New" pitchFamily="34" charset="-120"/>
              </a:rPr>
              <a:t>*</a:t>
            </a:r>
            <a:endParaRPr lang="en-US" sz="1400" baseline="30000" dirty="0">
              <a:solidFill>
                <a:srgbClr val="FF0000"/>
              </a:solidFill>
              <a:latin typeface="Courier Prime" panose="02000409000000000000" pitchFamily="49" charset="77"/>
            </a:endParaRPr>
          </a:p>
        </p:txBody>
      </p:sp>
      <p:sp>
        <p:nvSpPr>
          <p:cNvPr id="7" name="Text 4"/>
          <p:cNvSpPr/>
          <p:nvPr/>
        </p:nvSpPr>
        <p:spPr>
          <a:xfrm>
            <a:off x="530352" y="3649489"/>
            <a:ext cx="8083296" cy="308595"/>
          </a:xfrm>
          <a:prstGeom prst="rect">
            <a:avLst/>
          </a:prstGeom>
          <a:noFill/>
          <a:ln/>
        </p:spPr>
        <p:txBody>
          <a:bodyPr wrap="square" lIns="0" tIns="0" rIns="0" bIns="0" rtlCol="0" anchor="t"/>
          <a:lstStyle/>
          <a:p>
            <a:pPr marL="0" indent="0" algn="ctr">
              <a:lnSpc>
                <a:spcPts val="2430"/>
              </a:lnSpc>
              <a:buNone/>
            </a:pPr>
            <a:r>
              <a:rPr lang="en-US" sz="1200" dirty="0">
                <a:solidFill>
                  <a:schemeClr val="bg1">
                    <a:lumMod val="75000"/>
                  </a:schemeClr>
                </a:solidFill>
                <a:latin typeface="Garamond Premr Pro" panose="02020402060506020403" pitchFamily="18" charset="0"/>
                <a:ea typeface="Garamond" pitchFamily="34" charset="-122"/>
                <a:cs typeface="Garamond" pitchFamily="34" charset="-120"/>
              </a:rPr>
              <a:t>Total S106 — entirely transport fees; £0 ecological</a:t>
            </a:r>
          </a:p>
          <a:p>
            <a:pPr algn="ctr">
              <a:lnSpc>
                <a:spcPts val="2430"/>
              </a:lnSpc>
            </a:pPr>
            <a:r>
              <a:rPr lang="en-GB" sz="1200" i="1" dirty="0">
                <a:solidFill>
                  <a:schemeClr val="bg1">
                    <a:lumMod val="75000"/>
                  </a:schemeClr>
                </a:solidFill>
                <a:latin typeface="Garamond Premr Pro" panose="02020402060506020403" pitchFamily="18" charset="0"/>
              </a:rPr>
              <a:t>(Spelthorne Borough Council, 2019</a:t>
            </a:r>
            <a:r>
              <a:rPr lang="en-US" altLang="zh-CN" sz="1200" i="1" dirty="0">
                <a:solidFill>
                  <a:schemeClr val="bg1">
                    <a:lumMod val="75000"/>
                  </a:schemeClr>
                </a:solidFill>
                <a:latin typeface="Garamond Premr Pro" panose="02020402060506020403" pitchFamily="18" charset="0"/>
              </a:rPr>
              <a:t>)</a:t>
            </a:r>
            <a:endParaRPr lang="en-US" sz="1200" i="1" dirty="0">
              <a:solidFill>
                <a:schemeClr val="bg1">
                  <a:lumMod val="75000"/>
                </a:schemeClr>
              </a:solidFill>
              <a:latin typeface="Garamond Premr Pro" panose="02020402060506020403" pitchFamily="18" charset="0"/>
            </a:endParaRPr>
          </a:p>
        </p:txBody>
      </p:sp>
      <p:sp>
        <p:nvSpPr>
          <p:cNvPr id="2" name="Text 4">
            <a:extLst>
              <a:ext uri="{FF2B5EF4-FFF2-40B4-BE49-F238E27FC236}">
                <a16:creationId xmlns:a16="http://schemas.microsoft.com/office/drawing/2014/main" id="{24A7574A-AEC8-BEC9-7CEF-E5DA799BD2C0}"/>
              </a:ext>
            </a:extLst>
          </p:cNvPr>
          <p:cNvSpPr/>
          <p:nvPr/>
        </p:nvSpPr>
        <p:spPr>
          <a:xfrm>
            <a:off x="530352" y="4215259"/>
            <a:ext cx="8083296" cy="308595"/>
          </a:xfrm>
          <a:prstGeom prst="rect">
            <a:avLst/>
          </a:prstGeom>
          <a:noFill/>
          <a:ln/>
        </p:spPr>
        <p:txBody>
          <a:bodyPr wrap="square" lIns="0" tIns="0" rIns="0" bIns="0" rtlCol="0" anchor="t"/>
          <a:lstStyle/>
          <a:p>
            <a:pPr algn="ctr">
              <a:lnSpc>
                <a:spcPts val="2430"/>
              </a:lnSpc>
            </a:pPr>
            <a:r>
              <a:rPr lang="en-US" altLang="zh-CN" sz="1350" dirty="0">
                <a:solidFill>
                  <a:srgbClr val="CCCCCC"/>
                </a:solidFill>
                <a:latin typeface="Garamond Premr Pro Capt" panose="02020402060506020403" pitchFamily="18" charset="0"/>
                <a:ea typeface="Garamond" pitchFamily="34" charset="-122"/>
                <a:cs typeface="Garamond" pitchFamily="34" charset="-120"/>
              </a:rPr>
              <a:t>(transport admin only)</a:t>
            </a:r>
            <a:endParaRPr lang="en-US" sz="1350" dirty="0">
              <a:latin typeface="Garamond Premr Pro Capt" panose="02020402060506020403" pitchFamily="18" charset="0"/>
            </a:endParaRPr>
          </a:p>
        </p:txBody>
      </p:sp>
      <p:sp>
        <p:nvSpPr>
          <p:cNvPr id="8" name="TextBox 7">
            <a:extLst>
              <a:ext uri="{FF2B5EF4-FFF2-40B4-BE49-F238E27FC236}">
                <a16:creationId xmlns:a16="http://schemas.microsoft.com/office/drawing/2014/main" id="{19B8FE85-C764-C0F4-1442-C59AB1A8EA69}"/>
              </a:ext>
            </a:extLst>
          </p:cNvPr>
          <p:cNvSpPr txBox="1"/>
          <p:nvPr/>
        </p:nvSpPr>
        <p:spPr>
          <a:xfrm>
            <a:off x="-58057" y="4866501"/>
            <a:ext cx="9144000" cy="276999"/>
          </a:xfrm>
          <a:prstGeom prst="rect">
            <a:avLst/>
          </a:prstGeom>
          <a:noFill/>
        </p:spPr>
        <p:txBody>
          <a:bodyPr wrap="square" rtlCol="0">
            <a:spAutoFit/>
          </a:bodyPr>
          <a:lstStyle/>
          <a:p>
            <a:r>
              <a:rPr lang="en-GB" b="1" baseline="30000" dirty="0">
                <a:solidFill>
                  <a:schemeClr val="bg1"/>
                </a:solidFill>
                <a:highlight>
                  <a:srgbClr val="000000"/>
                </a:highlight>
                <a:latin typeface="Garamond Premr Pro Capt" panose="02020402060506020403" pitchFamily="18" charset="0"/>
              </a:rPr>
              <a:t>*£36,150 = Travel Plan £6,150 + Parking Review £10,000 + Signage £20,000. No ecological compensation for 39 ha greenbelt.</a:t>
            </a:r>
            <a:endParaRPr lang="en-GB" sz="1200" b="1" baseline="30000" dirty="0">
              <a:solidFill>
                <a:schemeClr val="bg1"/>
              </a:solidFill>
              <a:highlight>
                <a:srgbClr val="C0C0C0"/>
              </a:highlight>
              <a:latin typeface="Garamond Premr Pro Capt" panose="020204020605060204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43133AF-68CF-DEE8-C930-DA90FBB1F51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F677FF8-92D8-3DB0-3675-7E3F950B1BAA}"/>
              </a:ext>
            </a:extLst>
          </p:cNvPr>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panose="02020402060506020403" pitchFamily="18" charset="0"/>
              </a:rPr>
              <a:t>Feasibility</a:t>
            </a:r>
          </a:p>
        </p:txBody>
      </p:sp>
      <p:sp>
        <p:nvSpPr>
          <p:cNvPr id="4" name="Text 2">
            <a:extLst>
              <a:ext uri="{FF2B5EF4-FFF2-40B4-BE49-F238E27FC236}">
                <a16:creationId xmlns:a16="http://schemas.microsoft.com/office/drawing/2014/main" id="{4F0723EE-27EF-CF24-982B-A21702FB17C2}"/>
              </a:ext>
            </a:extLst>
          </p:cNvPr>
          <p:cNvSpPr/>
          <p:nvPr/>
        </p:nvSpPr>
        <p:spPr>
          <a:xfrm>
            <a:off x="565516" y="1107938"/>
            <a:ext cx="8083296" cy="342900"/>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Uses already available spatial data (OSM)</a:t>
            </a:r>
          </a:p>
        </p:txBody>
      </p:sp>
      <p:sp>
        <p:nvSpPr>
          <p:cNvPr id="5" name="Text 3">
            <a:extLst>
              <a:ext uri="{FF2B5EF4-FFF2-40B4-BE49-F238E27FC236}">
                <a16:creationId xmlns:a16="http://schemas.microsoft.com/office/drawing/2014/main" id="{685F0AE9-CB1C-CEBA-073D-DC79FFDE82B0}"/>
              </a:ext>
            </a:extLst>
          </p:cNvPr>
          <p:cNvSpPr/>
          <p:nvPr/>
        </p:nvSpPr>
        <p:spPr>
          <a:xfrm>
            <a:off x="565515" y="2387092"/>
            <a:ext cx="8083296" cy="342900"/>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Can be integrated into existing EIA processes</a:t>
            </a:r>
          </a:p>
        </p:txBody>
      </p:sp>
      <p:sp>
        <p:nvSpPr>
          <p:cNvPr id="6" name="Text 4">
            <a:extLst>
              <a:ext uri="{FF2B5EF4-FFF2-40B4-BE49-F238E27FC236}">
                <a16:creationId xmlns:a16="http://schemas.microsoft.com/office/drawing/2014/main" id="{B66AF0BD-4C03-3526-F778-101F265DA54A}"/>
              </a:ext>
            </a:extLst>
          </p:cNvPr>
          <p:cNvSpPr/>
          <p:nvPr/>
        </p:nvSpPr>
        <p:spPr>
          <a:xfrm>
            <a:off x="565515" y="3831759"/>
            <a:ext cx="8083296" cy="342900"/>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Scalable across UK production hubs</a:t>
            </a:r>
          </a:p>
        </p:txBody>
      </p:sp>
      <p:sp>
        <p:nvSpPr>
          <p:cNvPr id="9" name="TextBox 8">
            <a:extLst>
              <a:ext uri="{FF2B5EF4-FFF2-40B4-BE49-F238E27FC236}">
                <a16:creationId xmlns:a16="http://schemas.microsoft.com/office/drawing/2014/main" id="{487EF066-45D8-B297-F874-4E5976F114FD}"/>
              </a:ext>
            </a:extLst>
          </p:cNvPr>
          <p:cNvSpPr txBox="1"/>
          <p:nvPr/>
        </p:nvSpPr>
        <p:spPr>
          <a:xfrm>
            <a:off x="521432" y="1427743"/>
            <a:ext cx="8083296" cy="954107"/>
          </a:xfrm>
          <a:prstGeom prst="rect">
            <a:avLst/>
          </a:prstGeom>
          <a:noFill/>
        </p:spPr>
        <p:txBody>
          <a:bodyPr wrap="square" rtlCol="0">
            <a:spAutoFit/>
          </a:bodyPr>
          <a:lstStyle/>
          <a:p>
            <a:r>
              <a:rPr lang="en-GB" sz="1400" dirty="0">
                <a:solidFill>
                  <a:schemeClr val="bg1">
                    <a:lumMod val="75000"/>
                  </a:schemeClr>
                </a:solidFill>
                <a:latin typeface="Garamond Premr Pro" panose="02020402060506020403" pitchFamily="18" charset="0"/>
              </a:rPr>
              <a:t>The audit methodology leverages open-source Volunteered Geographic Information, specifically OpenStreetMap via the Overpass API, to extract hard spatial metrics. This circumvents the industry</a:t>
            </a:r>
            <a:r>
              <a:rPr lang="zh-CN" altLang="en-US" sz="1400" dirty="0">
                <a:solidFill>
                  <a:schemeClr val="bg1">
                    <a:lumMod val="75000"/>
                  </a:schemeClr>
                </a:solidFill>
                <a:latin typeface="Garamond Premr Pro" panose="02020402060506020403" pitchFamily="18" charset="0"/>
              </a:rPr>
              <a:t>’</a:t>
            </a:r>
            <a:r>
              <a:rPr lang="en-GB" sz="1400" dirty="0">
                <a:solidFill>
                  <a:schemeClr val="bg1">
                    <a:lumMod val="75000"/>
                  </a:schemeClr>
                </a:solidFill>
                <a:latin typeface="Garamond Premr Pro" panose="02020402060506020403" pitchFamily="18" charset="0"/>
              </a:rPr>
              <a:t>s </a:t>
            </a:r>
            <a:r>
              <a:rPr lang="zh-CN" altLang="en-US" sz="1400" dirty="0">
                <a:solidFill>
                  <a:schemeClr val="bg1">
                    <a:lumMod val="75000"/>
                  </a:schemeClr>
                </a:solidFill>
                <a:latin typeface="Garamond Premr Pro" panose="02020402060506020403" pitchFamily="18" charset="0"/>
              </a:rPr>
              <a:t>‘</a:t>
            </a:r>
            <a:r>
              <a:rPr lang="en-GB" sz="1400" dirty="0">
                <a:solidFill>
                  <a:schemeClr val="bg1">
                    <a:lumMod val="75000"/>
                  </a:schemeClr>
                </a:solidFill>
                <a:latin typeface="Garamond Premr Pro" panose="02020402060506020403" pitchFamily="18" charset="0"/>
              </a:rPr>
              <a:t>selective visibility</a:t>
            </a:r>
            <a:r>
              <a:rPr lang="zh-CN" altLang="en-US" sz="1400" dirty="0">
                <a:solidFill>
                  <a:schemeClr val="bg1">
                    <a:lumMod val="75000"/>
                  </a:schemeClr>
                </a:solidFill>
                <a:latin typeface="Garamond Premr Pro" panose="02020402060506020403" pitchFamily="18" charset="0"/>
              </a:rPr>
              <a:t>’</a:t>
            </a:r>
            <a:r>
              <a:rPr lang="en-GB" sz="1400" dirty="0">
                <a:solidFill>
                  <a:schemeClr val="bg1">
                    <a:lumMod val="75000"/>
                  </a:schemeClr>
                </a:solidFill>
                <a:latin typeface="Garamond Premr Pro" panose="02020402060506020403" pitchFamily="18" charset="0"/>
              </a:rPr>
              <a:t> by utilising publicly accessible geographic data to quantify physical infrastructure, such as high-voltage nodes and logistical sprawl, without relying on proprietary corporate disclosures.</a:t>
            </a:r>
            <a:endParaRPr lang="en-GB" sz="1050" dirty="0">
              <a:solidFill>
                <a:schemeClr val="bg1">
                  <a:lumMod val="75000"/>
                </a:schemeClr>
              </a:solidFill>
              <a:latin typeface="Garamond Premr Pro" panose="02020402060506020403" pitchFamily="18" charset="0"/>
            </a:endParaRPr>
          </a:p>
        </p:txBody>
      </p:sp>
      <p:sp>
        <p:nvSpPr>
          <p:cNvPr id="11" name="TextBox 10">
            <a:extLst>
              <a:ext uri="{FF2B5EF4-FFF2-40B4-BE49-F238E27FC236}">
                <a16:creationId xmlns:a16="http://schemas.microsoft.com/office/drawing/2014/main" id="{3F10EC1E-2C78-7160-2E20-152793B042CC}"/>
              </a:ext>
            </a:extLst>
          </p:cNvPr>
          <p:cNvSpPr txBox="1"/>
          <p:nvPr/>
        </p:nvSpPr>
        <p:spPr>
          <a:xfrm>
            <a:off x="521432" y="2647475"/>
            <a:ext cx="7448550" cy="1200329"/>
          </a:xfrm>
          <a:prstGeom prst="rect">
            <a:avLst/>
          </a:prstGeom>
          <a:noFill/>
        </p:spPr>
        <p:txBody>
          <a:bodyPr wrap="square" rtlCol="0">
            <a:spAutoFit/>
          </a:bodyPr>
          <a:lstStyle/>
          <a:p>
            <a:r>
              <a:rPr lang="en-GB" sz="1400" dirty="0">
                <a:solidFill>
                  <a:schemeClr val="bg1">
                    <a:lumMod val="75000"/>
                  </a:schemeClr>
                </a:solidFill>
                <a:latin typeface="Garamond Premr Pro" panose="02020402060506020403" pitchFamily="18" charset="0"/>
              </a:rPr>
              <a:t>This forensic framework is highly feasible as it directly interfaces with the statutory frameworks already mandated by the EIA Regulations 2017. By applying Natural Language Processing and spatial quantification to standard planning dossiers, local authorities can systematically reverse-read institutional euphemisms to expose the exact material costs, such as energy demand and habitat erasure, already documented within developer submissions. (Spelthorne Borough Council, 2018; Turley, 2018)</a:t>
            </a:r>
          </a:p>
        </p:txBody>
      </p:sp>
      <p:sp>
        <p:nvSpPr>
          <p:cNvPr id="12" name="TextBox 11">
            <a:extLst>
              <a:ext uri="{FF2B5EF4-FFF2-40B4-BE49-F238E27FC236}">
                <a16:creationId xmlns:a16="http://schemas.microsoft.com/office/drawing/2014/main" id="{AC97A65A-D188-D433-7D3D-135D8FDC005A}"/>
              </a:ext>
            </a:extLst>
          </p:cNvPr>
          <p:cNvSpPr txBox="1"/>
          <p:nvPr/>
        </p:nvSpPr>
        <p:spPr>
          <a:xfrm>
            <a:off x="530351" y="4087692"/>
            <a:ext cx="8083297" cy="954107"/>
          </a:xfrm>
          <a:prstGeom prst="rect">
            <a:avLst/>
          </a:prstGeom>
          <a:noFill/>
        </p:spPr>
        <p:txBody>
          <a:bodyPr wrap="square" rtlCol="0">
            <a:spAutoFit/>
          </a:bodyPr>
          <a:lstStyle/>
          <a:p>
            <a:r>
              <a:rPr lang="en-GB" sz="1400" dirty="0">
                <a:solidFill>
                  <a:schemeClr val="bg1">
                    <a:lumMod val="75000"/>
                  </a:schemeClr>
                </a:solidFill>
                <a:latin typeface="Garamond Premr Pro" panose="02020402060506020403" pitchFamily="18" charset="0"/>
              </a:rPr>
              <a:t>Because the spatial projection utilises the standardised British National Grid (EPSG:27700), this algorithmic audit is universally scalable across the entire UK screen sector. It can be systematically deployed to quantify the cumulative spatial fix and metabolic rift across expanding </a:t>
            </a:r>
            <a:r>
              <a:rPr lang="en-GB" sz="1400" dirty="0" err="1">
                <a:solidFill>
                  <a:schemeClr val="bg1">
                    <a:lumMod val="75000"/>
                  </a:schemeClr>
                </a:solidFill>
                <a:latin typeface="Garamond Premr Pro" panose="02020402060506020403" pitchFamily="18" charset="0"/>
              </a:rPr>
              <a:t>megahubs</a:t>
            </a:r>
            <a:r>
              <a:rPr lang="en-GB" sz="1400" dirty="0">
                <a:solidFill>
                  <a:schemeClr val="bg1">
                    <a:lumMod val="75000"/>
                  </a:schemeClr>
                </a:solidFill>
                <a:latin typeface="Garamond Premr Pro" panose="02020402060506020403" pitchFamily="18" charset="0"/>
              </a:rPr>
              <a:t>, tracking continuous capital territorialisation from Shepperton down to the </a:t>
            </a:r>
            <a:r>
              <a:rPr lang="en-GB" sz="1400" dirty="0" err="1">
                <a:solidFill>
                  <a:schemeClr val="bg1">
                    <a:lumMod val="75000"/>
                  </a:schemeClr>
                </a:solidFill>
                <a:latin typeface="Garamond Premr Pro" panose="02020402060506020403" pitchFamily="18" charset="0"/>
              </a:rPr>
              <a:t>Longcross</a:t>
            </a:r>
            <a:r>
              <a:rPr lang="en-GB" sz="1400" dirty="0">
                <a:solidFill>
                  <a:schemeClr val="bg1">
                    <a:lumMod val="75000"/>
                  </a:schemeClr>
                </a:solidFill>
                <a:latin typeface="Garamond Premr Pro" panose="02020402060506020403" pitchFamily="18" charset="0"/>
              </a:rPr>
              <a:t> and Leavesden clusters. (PwC, 2018; Greene and Joseph, 2015)</a:t>
            </a:r>
          </a:p>
        </p:txBody>
      </p:sp>
    </p:spTree>
    <p:extLst>
      <p:ext uri="{BB962C8B-B14F-4D97-AF65-F5344CB8AC3E}">
        <p14:creationId xmlns:p14="http://schemas.microsoft.com/office/powerpoint/2010/main" val="1393783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9BDAE76-37AB-9BAC-5A42-A49220BDA58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C27205-1340-2693-E8C0-1153FA191247}"/>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GB" sz="2800" b="1" dirty="0">
                <a:solidFill>
                  <a:schemeClr val="bg1"/>
                </a:solidFill>
                <a:latin typeface="Garamond Premr Pro Disp" panose="02020402060506020403" pitchFamily="18" charset="0"/>
              </a:rPr>
              <a:t>Epistemological Limits &amp; Future Trajectories</a:t>
            </a:r>
            <a:endParaRPr lang="en-US" sz="2700" b="1" dirty="0">
              <a:solidFill>
                <a:schemeClr val="bg1"/>
              </a:solidFill>
              <a:latin typeface="Garamond Premr Pro Disp" panose="02020402060506020403" pitchFamily="18" charset="0"/>
            </a:endParaRPr>
          </a:p>
        </p:txBody>
      </p:sp>
      <p:sp>
        <p:nvSpPr>
          <p:cNvPr id="4" name="TextBox 3">
            <a:extLst>
              <a:ext uri="{FF2B5EF4-FFF2-40B4-BE49-F238E27FC236}">
                <a16:creationId xmlns:a16="http://schemas.microsoft.com/office/drawing/2014/main" id="{5721F11A-B206-5B5F-7BA1-33BAB8248979}"/>
              </a:ext>
            </a:extLst>
          </p:cNvPr>
          <p:cNvSpPr txBox="1"/>
          <p:nvPr/>
        </p:nvSpPr>
        <p:spPr>
          <a:xfrm>
            <a:off x="762922" y="981426"/>
            <a:ext cx="3910045"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1. Geospatial: Time-Series Remote Sensing</a:t>
            </a:r>
          </a:p>
        </p:txBody>
      </p:sp>
      <p:sp>
        <p:nvSpPr>
          <p:cNvPr id="5" name="TextBox 4">
            <a:extLst>
              <a:ext uri="{FF2B5EF4-FFF2-40B4-BE49-F238E27FC236}">
                <a16:creationId xmlns:a16="http://schemas.microsoft.com/office/drawing/2014/main" id="{FED02162-95D7-1223-CBAD-3DE99CD10323}"/>
              </a:ext>
            </a:extLst>
          </p:cNvPr>
          <p:cNvSpPr txBox="1"/>
          <p:nvPr/>
        </p:nvSpPr>
        <p:spPr>
          <a:xfrm>
            <a:off x="762590" y="2031803"/>
            <a:ext cx="3701654"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2. Thermodynamic: Micro-Attribution</a:t>
            </a:r>
          </a:p>
        </p:txBody>
      </p:sp>
      <p:sp>
        <p:nvSpPr>
          <p:cNvPr id="6" name="TextBox 5">
            <a:extLst>
              <a:ext uri="{FF2B5EF4-FFF2-40B4-BE49-F238E27FC236}">
                <a16:creationId xmlns:a16="http://schemas.microsoft.com/office/drawing/2014/main" id="{60E7953E-36C7-51E4-10D1-5C363C843F48}"/>
              </a:ext>
            </a:extLst>
          </p:cNvPr>
          <p:cNvSpPr txBox="1"/>
          <p:nvPr/>
        </p:nvSpPr>
        <p:spPr>
          <a:xfrm>
            <a:off x="762922" y="3074076"/>
            <a:ext cx="3676391"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3. Algorithmic: The "Hypocrisy Index"</a:t>
            </a:r>
          </a:p>
        </p:txBody>
      </p:sp>
      <p:sp>
        <p:nvSpPr>
          <p:cNvPr id="7" name="TextBox 6">
            <a:extLst>
              <a:ext uri="{FF2B5EF4-FFF2-40B4-BE49-F238E27FC236}">
                <a16:creationId xmlns:a16="http://schemas.microsoft.com/office/drawing/2014/main" id="{21C65660-0667-0A89-4FF5-32E51E9CB349}"/>
              </a:ext>
            </a:extLst>
          </p:cNvPr>
          <p:cNvSpPr txBox="1"/>
          <p:nvPr/>
        </p:nvSpPr>
        <p:spPr>
          <a:xfrm>
            <a:off x="762922" y="4164568"/>
            <a:ext cx="3527312"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4. Logistical: Telemetric Falsification</a:t>
            </a:r>
          </a:p>
        </p:txBody>
      </p:sp>
      <p:sp>
        <p:nvSpPr>
          <p:cNvPr id="8" name="TextBox 7">
            <a:extLst>
              <a:ext uri="{FF2B5EF4-FFF2-40B4-BE49-F238E27FC236}">
                <a16:creationId xmlns:a16="http://schemas.microsoft.com/office/drawing/2014/main" id="{CE178F9C-8D3F-37F7-C56B-FE14E0FF0B5E}"/>
              </a:ext>
            </a:extLst>
          </p:cNvPr>
          <p:cNvSpPr txBox="1"/>
          <p:nvPr/>
        </p:nvSpPr>
        <p:spPr>
          <a:xfrm>
            <a:off x="596275" y="1319253"/>
            <a:ext cx="7239482" cy="646331"/>
          </a:xfrm>
          <a:prstGeom prst="rect">
            <a:avLst/>
          </a:prstGeom>
          <a:noFill/>
        </p:spPr>
        <p:txBody>
          <a:bodyPr wrap="none" rtlCol="0">
            <a:spAutoFit/>
          </a:bodyPr>
          <a:lstStyle/>
          <a:p>
            <a:r>
              <a:rPr lang="en-GB" dirty="0">
                <a:solidFill>
                  <a:schemeClr val="bg1">
                    <a:lumMod val="65000"/>
                  </a:schemeClr>
                </a:solidFill>
                <a:latin typeface="Garamond Premr Pro" panose="02020402060506020403" pitchFamily="18" charset="0"/>
              </a:rPr>
              <a:t>Limit: OSM latency (Jan  ‘26) and static mapping.</a:t>
            </a:r>
          </a:p>
          <a:p>
            <a:r>
              <a:rPr lang="en-GB" dirty="0">
                <a:solidFill>
                  <a:schemeClr val="bg1">
                    <a:lumMod val="65000"/>
                  </a:schemeClr>
                </a:solidFill>
                <a:latin typeface="Garamond Premr Pro" panose="02020402060506020403" pitchFamily="18" charset="0"/>
              </a:rPr>
              <a:t>Why</a:t>
            </a:r>
            <a:r>
              <a:rPr lang="zh-CN" altLang="en-US" dirty="0">
                <a:solidFill>
                  <a:schemeClr val="bg1">
                    <a:lumMod val="65000"/>
                  </a:schemeClr>
                </a:solidFill>
                <a:latin typeface="Garamond Premr Pro" panose="02020402060506020403" pitchFamily="18" charset="0"/>
              </a:rPr>
              <a:t> </a:t>
            </a:r>
            <a:r>
              <a:rPr lang="en-US" altLang="zh-CN" dirty="0">
                <a:solidFill>
                  <a:schemeClr val="bg1">
                    <a:lumMod val="65000"/>
                  </a:schemeClr>
                </a:solidFill>
                <a:latin typeface="Garamond Premr Pro" panose="02020402060506020403" pitchFamily="18" charset="0"/>
              </a:rPr>
              <a:t>Not</a:t>
            </a:r>
            <a:r>
              <a:rPr lang="en-GB" dirty="0">
                <a:solidFill>
                  <a:schemeClr val="bg1">
                    <a:lumMod val="65000"/>
                  </a:schemeClr>
                </a:solidFill>
                <a:latin typeface="Garamond Premr Pro" panose="02020402060506020403" pitchFamily="18" charset="0"/>
              </a:rPr>
              <a:t>: Deploy Google Earth Engine </a:t>
            </a:r>
            <a:r>
              <a:rPr lang="en-US" altLang="zh-CN" dirty="0">
                <a:solidFill>
                  <a:schemeClr val="bg1">
                    <a:lumMod val="65000"/>
                  </a:schemeClr>
                </a:solidFill>
                <a:latin typeface="Garamond Premr Pro" panose="02020402060506020403" pitchFamily="18" charset="0"/>
              </a:rPr>
              <a:t>&amp;</a:t>
            </a:r>
            <a:r>
              <a:rPr lang="zh-CN" altLang="en-US" dirty="0">
                <a:solidFill>
                  <a:schemeClr val="bg1">
                    <a:lumMod val="65000"/>
                  </a:schemeClr>
                </a:solidFill>
                <a:latin typeface="Garamond Premr Pro" panose="02020402060506020403" pitchFamily="18" charset="0"/>
              </a:rPr>
              <a:t> </a:t>
            </a:r>
            <a:r>
              <a:rPr lang="en-US" altLang="zh-CN" dirty="0">
                <a:solidFill>
                  <a:schemeClr val="bg1">
                    <a:lumMod val="65000"/>
                  </a:schemeClr>
                </a:solidFill>
                <a:latin typeface="Garamond Premr Pro" panose="02020402060506020403" pitchFamily="18" charset="0"/>
              </a:rPr>
              <a:t>Sentinel</a:t>
            </a:r>
            <a:r>
              <a:rPr lang="zh-CN" altLang="en-US" dirty="0">
                <a:solidFill>
                  <a:schemeClr val="bg1">
                    <a:lumMod val="65000"/>
                  </a:schemeClr>
                </a:solidFill>
                <a:latin typeface="Garamond Premr Pro" panose="02020402060506020403" pitchFamily="18" charset="0"/>
              </a:rPr>
              <a:t> </a:t>
            </a:r>
            <a:r>
              <a:rPr lang="en-US" altLang="zh-CN" dirty="0">
                <a:solidFill>
                  <a:schemeClr val="bg1">
                    <a:lumMod val="65000"/>
                  </a:schemeClr>
                </a:solidFill>
                <a:latin typeface="Garamond Premr Pro" panose="02020402060506020403" pitchFamily="18" charset="0"/>
              </a:rPr>
              <a:t>2</a:t>
            </a:r>
            <a:r>
              <a:rPr lang="zh-CN" altLang="en-US" dirty="0">
                <a:solidFill>
                  <a:schemeClr val="bg1">
                    <a:lumMod val="65000"/>
                  </a:schemeClr>
                </a:solidFill>
                <a:latin typeface="Garamond Premr Pro" panose="02020402060506020403" pitchFamily="18" charset="0"/>
              </a:rPr>
              <a:t> </a:t>
            </a:r>
            <a:r>
              <a:rPr lang="en-US" altLang="zh-CN" dirty="0">
                <a:solidFill>
                  <a:schemeClr val="bg1">
                    <a:lumMod val="65000"/>
                  </a:schemeClr>
                </a:solidFill>
                <a:latin typeface="Garamond Premr Pro" panose="02020402060506020403" pitchFamily="18" charset="0"/>
              </a:rPr>
              <a:t>data</a:t>
            </a:r>
            <a:r>
              <a:rPr lang="zh-CN" altLang="en-US" dirty="0">
                <a:solidFill>
                  <a:schemeClr val="bg1">
                    <a:lumMod val="65000"/>
                  </a:schemeClr>
                </a:solidFill>
                <a:latin typeface="Garamond Premr Pro" panose="02020402060506020403" pitchFamily="18" charset="0"/>
              </a:rPr>
              <a:t> </a:t>
            </a:r>
            <a:r>
              <a:rPr lang="en-GB" dirty="0">
                <a:solidFill>
                  <a:schemeClr val="bg1">
                    <a:lumMod val="65000"/>
                  </a:schemeClr>
                </a:solidFill>
                <a:latin typeface="Garamond Premr Pro" panose="02020402060506020403" pitchFamily="18" charset="0"/>
              </a:rPr>
              <a:t>for NDVI verification.</a:t>
            </a:r>
          </a:p>
        </p:txBody>
      </p:sp>
      <p:sp>
        <p:nvSpPr>
          <p:cNvPr id="9" name="TextBox 8">
            <a:extLst>
              <a:ext uri="{FF2B5EF4-FFF2-40B4-BE49-F238E27FC236}">
                <a16:creationId xmlns:a16="http://schemas.microsoft.com/office/drawing/2014/main" id="{AD1936A6-8114-8CA8-2702-15BBA5251E7F}"/>
              </a:ext>
            </a:extLst>
          </p:cNvPr>
          <p:cNvSpPr txBox="1"/>
          <p:nvPr/>
        </p:nvSpPr>
        <p:spPr>
          <a:xfrm>
            <a:off x="609600" y="2361526"/>
            <a:ext cx="5698163" cy="646331"/>
          </a:xfrm>
          <a:prstGeom prst="rect">
            <a:avLst/>
          </a:prstGeom>
          <a:noFill/>
        </p:spPr>
        <p:txBody>
          <a:bodyPr wrap="none" rtlCol="0">
            <a:spAutoFit/>
          </a:bodyPr>
          <a:lstStyle/>
          <a:p>
            <a:r>
              <a:rPr lang="en-GB" dirty="0">
                <a:solidFill>
                  <a:schemeClr val="bg1">
                    <a:lumMod val="65000"/>
                  </a:schemeClr>
                </a:solidFill>
                <a:latin typeface="Garamond Premr Pro" panose="02020402060506020403" pitchFamily="18" charset="0"/>
              </a:rPr>
              <a:t>Limit: Macro-grid aggregation.</a:t>
            </a:r>
          </a:p>
          <a:p>
            <a:r>
              <a:rPr lang="en-GB" dirty="0">
                <a:solidFill>
                  <a:schemeClr val="bg1">
                    <a:lumMod val="65000"/>
                  </a:schemeClr>
                </a:solidFill>
                <a:latin typeface="Garamond Premr Pro" panose="02020402060506020403" pitchFamily="18" charset="0"/>
              </a:rPr>
              <a:t>Why Not: HVAC &amp; server cooling load regression modelling.</a:t>
            </a:r>
          </a:p>
        </p:txBody>
      </p:sp>
      <p:sp>
        <p:nvSpPr>
          <p:cNvPr id="10" name="TextBox 9">
            <a:extLst>
              <a:ext uri="{FF2B5EF4-FFF2-40B4-BE49-F238E27FC236}">
                <a16:creationId xmlns:a16="http://schemas.microsoft.com/office/drawing/2014/main" id="{2C3EF011-4356-847C-8FCA-7641B6B7C978}"/>
              </a:ext>
            </a:extLst>
          </p:cNvPr>
          <p:cNvSpPr txBox="1"/>
          <p:nvPr/>
        </p:nvSpPr>
        <p:spPr>
          <a:xfrm>
            <a:off x="609600" y="4484676"/>
            <a:ext cx="6707285" cy="646331"/>
          </a:xfrm>
          <a:prstGeom prst="rect">
            <a:avLst/>
          </a:prstGeom>
          <a:noFill/>
        </p:spPr>
        <p:txBody>
          <a:bodyPr wrap="none" rtlCol="0">
            <a:spAutoFit/>
          </a:bodyPr>
          <a:lstStyle/>
          <a:p>
            <a:r>
              <a:rPr lang="en-GB" dirty="0">
                <a:solidFill>
                  <a:schemeClr val="bg1">
                    <a:lumMod val="65000"/>
                  </a:schemeClr>
                </a:solidFill>
                <a:latin typeface="Garamond Premr Pro" panose="02020402060506020403" pitchFamily="18" charset="0"/>
              </a:rPr>
              <a:t>Limit: Reliance on 2018 EIA predictive models.</a:t>
            </a:r>
          </a:p>
          <a:p>
            <a:r>
              <a:rPr lang="en-GB" dirty="0">
                <a:solidFill>
                  <a:schemeClr val="bg1">
                    <a:lumMod val="65000"/>
                  </a:schemeClr>
                </a:solidFill>
                <a:latin typeface="Garamond Premr Pro" panose="02020402060506020403" pitchFamily="18" charset="0"/>
              </a:rPr>
              <a:t>Why Not: Live Traffic API monitoring (TomTom/Google Maps Traffic).</a:t>
            </a:r>
          </a:p>
        </p:txBody>
      </p:sp>
      <p:sp>
        <p:nvSpPr>
          <p:cNvPr id="11" name="TextBox 10">
            <a:extLst>
              <a:ext uri="{FF2B5EF4-FFF2-40B4-BE49-F238E27FC236}">
                <a16:creationId xmlns:a16="http://schemas.microsoft.com/office/drawing/2014/main" id="{C01BD47B-750D-71D7-EDE9-78B512CFB247}"/>
              </a:ext>
            </a:extLst>
          </p:cNvPr>
          <p:cNvSpPr txBox="1"/>
          <p:nvPr/>
        </p:nvSpPr>
        <p:spPr>
          <a:xfrm>
            <a:off x="609932" y="3395695"/>
            <a:ext cx="5855706" cy="646331"/>
          </a:xfrm>
          <a:prstGeom prst="rect">
            <a:avLst/>
          </a:prstGeom>
          <a:noFill/>
        </p:spPr>
        <p:txBody>
          <a:bodyPr wrap="none" rtlCol="0">
            <a:spAutoFit/>
          </a:bodyPr>
          <a:lstStyle/>
          <a:p>
            <a:r>
              <a:rPr lang="en-GB" dirty="0">
                <a:solidFill>
                  <a:schemeClr val="bg1">
                    <a:lumMod val="65000"/>
                  </a:schemeClr>
                </a:solidFill>
                <a:latin typeface="Garamond Premr Pro" panose="02020402060506020403" pitchFamily="18" charset="0"/>
              </a:rPr>
              <a:t>Limit: Manual CDA bottleneck.</a:t>
            </a:r>
          </a:p>
          <a:p>
            <a:r>
              <a:rPr lang="en-GB" dirty="0">
                <a:solidFill>
                  <a:schemeClr val="bg1">
                    <a:lumMod val="65000"/>
                  </a:schemeClr>
                </a:solidFill>
                <a:latin typeface="Garamond Premr Pro" panose="02020402060506020403" pitchFamily="18" charset="0"/>
              </a:rPr>
              <a:t>Why Not: Automated NLP scraping of corporate ESG reports.</a:t>
            </a:r>
          </a:p>
        </p:txBody>
      </p:sp>
    </p:spTree>
    <p:extLst>
      <p:ext uri="{BB962C8B-B14F-4D97-AF65-F5344CB8AC3E}">
        <p14:creationId xmlns:p14="http://schemas.microsoft.com/office/powerpoint/2010/main" val="236859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BB01C67-D106-A5B5-2607-574414AE4FB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370D31E-E1F3-60C7-D0FF-817C92D9E7C5}"/>
              </a:ext>
            </a:extLst>
          </p:cNvPr>
          <p:cNvSpPr/>
          <p:nvPr/>
        </p:nvSpPr>
        <p:spPr>
          <a:xfrm>
            <a:off x="398834" y="1249635"/>
            <a:ext cx="8307421" cy="304800"/>
          </a:xfrm>
          <a:prstGeom prst="rect">
            <a:avLst/>
          </a:prstGeom>
          <a:noFill/>
          <a:ln/>
        </p:spPr>
        <p:txBody>
          <a:bodyPr wrap="square" lIns="0" tIns="0" rIns="0" bIns="0" rtlCol="0" anchor="t"/>
          <a:lstStyle/>
          <a:p>
            <a:pPr algn="ctr">
              <a:lnSpc>
                <a:spcPct val="150000"/>
              </a:lnSpc>
            </a:pPr>
            <a:r>
              <a:rPr lang="en-GB" sz="3600" b="1" dirty="0">
                <a:solidFill>
                  <a:schemeClr val="bg1"/>
                </a:solidFill>
                <a:latin typeface="Garamond Premr Pro Disp" panose="02020402060506020403" pitchFamily="18" charset="0"/>
              </a:rPr>
              <a:t>So Why Not…</a:t>
            </a:r>
            <a:endParaRPr lang="en-US" sz="3200" b="1" dirty="0">
              <a:solidFill>
                <a:schemeClr val="bg1"/>
              </a:solidFill>
              <a:latin typeface="Garamond Premr Pro Disp" panose="02020402060506020403" pitchFamily="18" charset="0"/>
            </a:endParaRPr>
          </a:p>
        </p:txBody>
      </p:sp>
    </p:spTree>
    <p:extLst>
      <p:ext uri="{BB962C8B-B14F-4D97-AF65-F5344CB8AC3E}">
        <p14:creationId xmlns:p14="http://schemas.microsoft.com/office/powerpoint/2010/main" val="2290466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8CACF36-B150-AC25-75E8-6CE6827C286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38054B6-A6DE-6877-C937-8CA59C660DC3}"/>
              </a:ext>
            </a:extLst>
          </p:cNvPr>
          <p:cNvSpPr/>
          <p:nvPr/>
        </p:nvSpPr>
        <p:spPr>
          <a:xfrm>
            <a:off x="530350" y="472020"/>
            <a:ext cx="8083296" cy="1097161"/>
          </a:xfrm>
          <a:prstGeom prst="rect">
            <a:avLst/>
          </a:prstGeom>
          <a:noFill/>
          <a:ln/>
        </p:spPr>
        <p:txBody>
          <a:bodyPr wrap="square" lIns="0" tIns="0" rIns="0" bIns="0" rtlCol="0" anchor="t"/>
          <a:lstStyle/>
          <a:p>
            <a:pPr marL="0" indent="0" algn="ctr">
              <a:lnSpc>
                <a:spcPts val="4320"/>
              </a:lnSpc>
              <a:buNone/>
            </a:pPr>
            <a:r>
              <a:rPr lang="en-US" sz="3600" b="1" dirty="0">
                <a:solidFill>
                  <a:srgbClr val="FFFFFF"/>
                </a:solidFill>
                <a:latin typeface="Garamond Premr Pro Disp" panose="02020402060506020403" pitchFamily="18" charset="0"/>
                <a:ea typeface="Garamond" pitchFamily="34" charset="-122"/>
                <a:cs typeface="Garamond" pitchFamily="34" charset="-120"/>
              </a:rPr>
              <a:t>Part II:</a:t>
            </a:r>
          </a:p>
          <a:p>
            <a:pPr marL="0" indent="0" algn="ctr">
              <a:lnSpc>
                <a:spcPts val="4320"/>
              </a:lnSpc>
              <a:buNone/>
            </a:pPr>
            <a:r>
              <a:rPr lang="en-US" sz="3600" b="1" dirty="0">
                <a:solidFill>
                  <a:srgbClr val="FFFFFF"/>
                </a:solidFill>
                <a:latin typeface="Garamond Premr Pro Disp" panose="02020402060506020403" pitchFamily="18" charset="0"/>
                <a:ea typeface="Garamond" pitchFamily="34" charset="-122"/>
                <a:cs typeface="Garamond" pitchFamily="34" charset="-120"/>
              </a:rPr>
              <a:t>Earth Observation &amp; Metabolic Quantification</a:t>
            </a:r>
            <a:endParaRPr lang="en-US" sz="3600" b="1" dirty="0">
              <a:latin typeface="Garamond Premr Pro Disp" panose="02020402060506020403" pitchFamily="18" charset="0"/>
            </a:endParaRPr>
          </a:p>
        </p:txBody>
      </p:sp>
      <p:sp>
        <p:nvSpPr>
          <p:cNvPr id="5" name="Text 1">
            <a:extLst>
              <a:ext uri="{FF2B5EF4-FFF2-40B4-BE49-F238E27FC236}">
                <a16:creationId xmlns:a16="http://schemas.microsoft.com/office/drawing/2014/main" id="{EC3F0DEC-5BFF-7489-0683-5CCA73218127}"/>
              </a:ext>
            </a:extLst>
          </p:cNvPr>
          <p:cNvSpPr/>
          <p:nvPr/>
        </p:nvSpPr>
        <p:spPr>
          <a:xfrm>
            <a:off x="530351" y="2145028"/>
            <a:ext cx="8083296" cy="261937"/>
          </a:xfrm>
          <a:prstGeom prst="rect">
            <a:avLst/>
          </a:prstGeom>
          <a:noFill/>
          <a:ln/>
        </p:spPr>
        <p:txBody>
          <a:bodyPr wrap="square" lIns="0" tIns="0" rIns="0" bIns="0" rtlCol="0" anchor="t"/>
          <a:lstStyle/>
          <a:p>
            <a:pPr marL="0" indent="0" algn="ctr">
              <a:lnSpc>
                <a:spcPts val="1620"/>
              </a:lnSpc>
              <a:buNone/>
            </a:pPr>
            <a:r>
              <a:rPr lang="en-US" sz="1800" dirty="0">
                <a:solidFill>
                  <a:srgbClr val="CCCCCC"/>
                </a:solidFill>
                <a:latin typeface="Garamond Premr Pro" panose="02020402060506020403" pitchFamily="18" charset="0"/>
                <a:ea typeface="Garamond" pitchFamily="34" charset="-122"/>
                <a:cs typeface="Garamond" pitchFamily="34" charset="-120"/>
              </a:rPr>
              <a:t>Empirical Quantification of Biophysical Erasure and </a:t>
            </a:r>
            <a:r>
              <a:rPr lang="en-US" sz="1800" dirty="0" err="1">
                <a:solidFill>
                  <a:srgbClr val="CCCCCC"/>
                </a:solidFill>
                <a:latin typeface="Garamond Premr Pro" panose="02020402060506020403" pitchFamily="18" charset="0"/>
                <a:ea typeface="Garamond" pitchFamily="34" charset="-122"/>
                <a:cs typeface="Garamond" pitchFamily="34" charset="-120"/>
              </a:rPr>
              <a:t>Localised</a:t>
            </a:r>
            <a:r>
              <a:rPr lang="en-US" sz="1800" dirty="0">
                <a:solidFill>
                  <a:srgbClr val="CCCCCC"/>
                </a:solidFill>
                <a:latin typeface="Garamond Premr Pro" panose="02020402060506020403" pitchFamily="18" charset="0"/>
                <a:ea typeface="Garamond" pitchFamily="34" charset="-122"/>
                <a:cs typeface="Garamond" pitchFamily="34" charset="-120"/>
              </a:rPr>
              <a:t> Thermal Anomalies</a:t>
            </a:r>
            <a:endParaRPr lang="en-US" sz="1800" dirty="0">
              <a:latin typeface="Garamond Premr Pro" panose="02020402060506020403" pitchFamily="18" charset="0"/>
            </a:endParaRPr>
          </a:p>
        </p:txBody>
      </p:sp>
      <p:sp>
        <p:nvSpPr>
          <p:cNvPr id="7" name="TextBox 6">
            <a:extLst>
              <a:ext uri="{FF2B5EF4-FFF2-40B4-BE49-F238E27FC236}">
                <a16:creationId xmlns:a16="http://schemas.microsoft.com/office/drawing/2014/main" id="{AC22F037-77CD-A6C8-1105-4BF28074FB09}"/>
              </a:ext>
            </a:extLst>
          </p:cNvPr>
          <p:cNvSpPr txBox="1"/>
          <p:nvPr/>
        </p:nvSpPr>
        <p:spPr>
          <a:xfrm>
            <a:off x="4110976" y="3348830"/>
            <a:ext cx="922047" cy="369332"/>
          </a:xfrm>
          <a:prstGeom prst="rect">
            <a:avLst/>
          </a:prstGeom>
          <a:noFill/>
        </p:spPr>
        <p:txBody>
          <a:bodyPr wrap="none" rtlCol="0">
            <a:spAutoFit/>
          </a:bodyPr>
          <a:lstStyle/>
          <a:p>
            <a:r>
              <a:rPr lang="en-GB" dirty="0">
                <a:solidFill>
                  <a:schemeClr val="bg1">
                    <a:lumMod val="65000"/>
                  </a:schemeClr>
                </a:solidFill>
                <a:latin typeface="Garamond Premr Pro Lt Disp" panose="02020302060506020403" pitchFamily="18" charset="0"/>
              </a:rPr>
              <a:t>Hanpu</a:t>
            </a:r>
            <a:r>
              <a:rPr lang="zh-CN" altLang="en-US" dirty="0">
                <a:solidFill>
                  <a:schemeClr val="bg1">
                    <a:lumMod val="65000"/>
                  </a:schemeClr>
                </a:solidFill>
                <a:latin typeface="Garamond Premr Pro Lt Disp" panose="02020302060506020403" pitchFamily="18" charset="0"/>
              </a:rPr>
              <a:t> </a:t>
            </a:r>
            <a:r>
              <a:rPr lang="en-US" altLang="zh-CN" dirty="0">
                <a:solidFill>
                  <a:schemeClr val="bg1">
                    <a:lumMod val="65000"/>
                  </a:schemeClr>
                </a:solidFill>
                <a:latin typeface="Garamond Premr Pro Lt Disp" panose="02020302060506020403" pitchFamily="18" charset="0"/>
              </a:rPr>
              <a:t>Li</a:t>
            </a:r>
            <a:endParaRPr lang="en-GB" dirty="0">
              <a:solidFill>
                <a:schemeClr val="bg1">
                  <a:lumMod val="65000"/>
                </a:schemeClr>
              </a:solidFill>
              <a:latin typeface="Garamond Premr Pro Lt Disp" panose="02020302060506020403" pitchFamily="18" charset="0"/>
            </a:endParaRPr>
          </a:p>
        </p:txBody>
      </p:sp>
      <p:sp>
        <p:nvSpPr>
          <p:cNvPr id="3" name="TextBox 2">
            <a:extLst>
              <a:ext uri="{FF2B5EF4-FFF2-40B4-BE49-F238E27FC236}">
                <a16:creationId xmlns:a16="http://schemas.microsoft.com/office/drawing/2014/main" id="{E55A4E11-D4AF-A724-FBAB-F01A71EF1D1F}"/>
              </a:ext>
            </a:extLst>
          </p:cNvPr>
          <p:cNvSpPr txBox="1"/>
          <p:nvPr/>
        </p:nvSpPr>
        <p:spPr>
          <a:xfrm>
            <a:off x="4161469" y="2434429"/>
            <a:ext cx="821059" cy="338554"/>
          </a:xfrm>
          <a:prstGeom prst="rect">
            <a:avLst/>
          </a:prstGeom>
          <a:noFill/>
        </p:spPr>
        <p:txBody>
          <a:bodyPr wrap="none" rtlCol="0">
            <a:spAutoFit/>
          </a:bodyPr>
          <a:lstStyle/>
          <a:p>
            <a:r>
              <a:rPr lang="en-GB" sz="1600" dirty="0">
                <a:solidFill>
                  <a:schemeClr val="bg1">
                    <a:lumMod val="65000"/>
                  </a:schemeClr>
                </a:solidFill>
                <a:latin typeface="Garamond Premr Pro" panose="02020402060506020403" pitchFamily="18" charset="0"/>
              </a:rPr>
              <a:t>(Bonus)</a:t>
            </a:r>
          </a:p>
        </p:txBody>
      </p:sp>
    </p:spTree>
    <p:extLst>
      <p:ext uri="{BB962C8B-B14F-4D97-AF65-F5344CB8AC3E}">
        <p14:creationId xmlns:p14="http://schemas.microsoft.com/office/powerpoint/2010/main" val="2174152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9571E61-4CEC-2AA3-8C16-0BB20A6347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F9E9F7-F658-737A-9539-B6D63B518B9A}"/>
              </a:ext>
            </a:extLst>
          </p:cNvPr>
          <p:cNvSpPr/>
          <p:nvPr/>
        </p:nvSpPr>
        <p:spPr>
          <a:xfrm>
            <a:off x="285475" y="210131"/>
            <a:ext cx="8083296" cy="411435"/>
          </a:xfrm>
          <a:prstGeom prst="rect">
            <a:avLst/>
          </a:prstGeom>
          <a:noFill/>
          <a:ln/>
        </p:spPr>
        <p:txBody>
          <a:bodyPr wrap="square" lIns="0" tIns="0" rIns="0" bIns="0" rtlCol="0" anchor="t"/>
          <a:lstStyle/>
          <a:p>
            <a:pPr>
              <a:lnSpc>
                <a:spcPts val="3240"/>
              </a:lnSpc>
            </a:pPr>
            <a:r>
              <a:rPr lang="en-GB" sz="2800" b="1" dirty="0">
                <a:solidFill>
                  <a:schemeClr val="bg1"/>
                </a:solidFill>
                <a:latin typeface="Garamond Premr Pro Disp" panose="02020402060506020403" pitchFamily="18" charset="0"/>
              </a:rPr>
              <a:t>ST &amp; EO Pipeline (GEE API)</a:t>
            </a:r>
            <a:endParaRPr lang="en-US" sz="2700" b="1" dirty="0">
              <a:solidFill>
                <a:schemeClr val="bg1"/>
              </a:solidFill>
              <a:latin typeface="Garamond Premr Pro Disp" panose="02020402060506020403" pitchFamily="18" charset="0"/>
            </a:endParaRPr>
          </a:p>
        </p:txBody>
      </p:sp>
      <p:sp>
        <p:nvSpPr>
          <p:cNvPr id="15" name="TextBox 14">
            <a:extLst>
              <a:ext uri="{FF2B5EF4-FFF2-40B4-BE49-F238E27FC236}">
                <a16:creationId xmlns:a16="http://schemas.microsoft.com/office/drawing/2014/main" id="{E2561183-E554-EB1D-B6CE-711EDA5E8071}"/>
              </a:ext>
            </a:extLst>
          </p:cNvPr>
          <p:cNvSpPr txBox="1"/>
          <p:nvPr/>
        </p:nvSpPr>
        <p:spPr>
          <a:xfrm>
            <a:off x="285475" y="742295"/>
            <a:ext cx="8573049" cy="3816429"/>
          </a:xfrm>
          <a:prstGeom prst="rect">
            <a:avLst/>
          </a:prstGeom>
          <a:noFill/>
        </p:spPr>
        <p:txBody>
          <a:bodyPr wrap="square" rtlCol="0">
            <a:spAutoFit/>
          </a:bodyPr>
          <a:lstStyle/>
          <a:p>
            <a:r>
              <a:rPr lang="en-GB" sz="1600" b="1" dirty="0">
                <a:solidFill>
                  <a:schemeClr val="bg1"/>
                </a:solidFill>
                <a:latin typeface="Garamond Premr Pro" panose="02020402060506020403" pitchFamily="18" charset="0"/>
              </a:rPr>
              <a:t>1. Core EO Datasets</a:t>
            </a:r>
            <a:endParaRPr lang="en-GB" sz="1600" dirty="0">
              <a:solidFill>
                <a:schemeClr val="bg1"/>
              </a:solidFill>
              <a:latin typeface="Garamond Premr Pro" panose="02020402060506020403" pitchFamily="18" charset="0"/>
            </a:endParaRPr>
          </a:p>
          <a:p>
            <a:pPr fontAlgn="t"/>
            <a:r>
              <a:rPr lang="en-GB" sz="1600" b="1" dirty="0">
                <a:solidFill>
                  <a:schemeClr val="bg1"/>
                </a:solidFill>
                <a:latin typeface="Garamond Premr Pro" panose="02020402060506020403" pitchFamily="18" charset="0"/>
              </a:rPr>
              <a:t>ESA Sentinel-2 (S2_SR_HARMONIZED):</a:t>
            </a:r>
            <a:r>
              <a:rPr lang="en-GB" sz="1600" dirty="0">
                <a:solidFill>
                  <a:schemeClr val="bg1"/>
                </a:solidFill>
                <a:latin typeface="Garamond Premr Pro" panose="02020402060506020403" pitchFamily="18" charset="0"/>
              </a:rPr>
              <a:t> 10 m multispectral imagery for vegetation dynamics</a:t>
            </a:r>
          </a:p>
          <a:p>
            <a:pPr fontAlgn="t"/>
            <a:r>
              <a:rPr lang="en-GB" sz="1600" b="1" dirty="0">
                <a:solidFill>
                  <a:schemeClr val="bg1"/>
                </a:solidFill>
                <a:latin typeface="Garamond Premr Pro" panose="02020402060506020403" pitchFamily="18" charset="0"/>
              </a:rPr>
              <a:t>USGS Landsat 7 + 8 + 9 (Collection 2, Tier 1, Level 2 - TIRS):</a:t>
            </a:r>
            <a:r>
              <a:rPr lang="en-GB" sz="1600" dirty="0">
                <a:solidFill>
                  <a:schemeClr val="bg1"/>
                </a:solidFill>
                <a:latin typeface="Garamond Premr Pro" panose="02020402060506020403" pitchFamily="18" charset="0"/>
              </a:rPr>
              <a:t> 100 m thermal infrared data for land‑surface temperature</a:t>
            </a:r>
          </a:p>
          <a:p>
            <a:endParaRPr lang="en-GB" sz="1600" dirty="0">
              <a:solidFill>
                <a:schemeClr val="bg1"/>
              </a:solidFill>
              <a:latin typeface="Garamond Premr Pro" panose="02020402060506020403" pitchFamily="18" charset="0"/>
            </a:endParaRPr>
          </a:p>
          <a:p>
            <a:pPr fontAlgn="t"/>
            <a:r>
              <a:rPr lang="en-GB" sz="1600" b="1" dirty="0">
                <a:solidFill>
                  <a:schemeClr val="bg1"/>
                </a:solidFill>
                <a:latin typeface="Garamond Premr Pro" panose="02020402060506020403" pitchFamily="18" charset="0"/>
              </a:rPr>
              <a:t>2</a:t>
            </a:r>
            <a:r>
              <a:rPr lang="en-GB" sz="1600" dirty="0">
                <a:solidFill>
                  <a:schemeClr val="bg1"/>
                </a:solidFill>
                <a:latin typeface="Garamond Premr Pro" panose="02020402060506020403" pitchFamily="18" charset="0"/>
              </a:rPr>
              <a:t>. </a:t>
            </a:r>
            <a:r>
              <a:rPr lang="en-GB" sz="1600" b="1" dirty="0">
                <a:solidFill>
                  <a:schemeClr val="bg1"/>
                </a:solidFill>
                <a:latin typeface="Garamond Premr Pro" panose="02020402060506020403" pitchFamily="18" charset="0"/>
              </a:rPr>
              <a:t>Cloud‑Masking &amp; Temporal Normalisation</a:t>
            </a:r>
          </a:p>
          <a:p>
            <a:pPr fontAlgn="t"/>
            <a:r>
              <a:rPr lang="en-US" altLang="zh-CN" sz="1600" b="1" dirty="0">
                <a:solidFill>
                  <a:schemeClr val="bg1"/>
                </a:solidFill>
                <a:latin typeface="Garamond Premr Pro" panose="02020402060506020403" pitchFamily="18" charset="0"/>
              </a:rPr>
              <a:t>-</a:t>
            </a:r>
            <a:r>
              <a:rPr lang="en-GB" sz="1600" b="1" dirty="0">
                <a:solidFill>
                  <a:schemeClr val="bg1"/>
                </a:solidFill>
                <a:latin typeface="Garamond Premr Pro" panose="02020402060506020403" pitchFamily="18" charset="0"/>
              </a:rPr>
              <a:t>GEE QA60 bitwise cloud‑masking</a:t>
            </a:r>
            <a:r>
              <a:rPr lang="en-GB" sz="1600" dirty="0">
                <a:solidFill>
                  <a:schemeClr val="bg1"/>
                </a:solidFill>
                <a:latin typeface="Garamond Premr Pro" panose="02020402060506020403" pitchFamily="18" charset="0"/>
              </a:rPr>
              <a:t> to remove atmospheric interference.</a:t>
            </a:r>
          </a:p>
          <a:p>
            <a:pPr fontAlgn="t"/>
            <a:r>
              <a:rPr lang="en-US" altLang="zh-CN" sz="1600" b="1" dirty="0">
                <a:solidFill>
                  <a:schemeClr val="bg1"/>
                </a:solidFill>
                <a:latin typeface="Garamond Premr Pro" panose="02020402060506020403" pitchFamily="18" charset="0"/>
              </a:rPr>
              <a:t>-</a:t>
            </a:r>
            <a:r>
              <a:rPr lang="en-GB" sz="1600" b="1" dirty="0">
                <a:solidFill>
                  <a:schemeClr val="bg1"/>
                </a:solidFill>
                <a:latin typeface="Garamond Premr Pro" panose="02020402060506020403" pitchFamily="18" charset="0"/>
              </a:rPr>
              <a:t>Raw per-overpass observations</a:t>
            </a:r>
            <a:r>
              <a:rPr lang="en-GB" sz="1600" dirty="0">
                <a:solidFill>
                  <a:schemeClr val="bg1"/>
                </a:solidFill>
                <a:latin typeface="Garamond Premr Pro" panose="02020402060506020403" pitchFamily="18" charset="0"/>
              </a:rPr>
              <a:t> (Python: </a:t>
            </a:r>
            <a:r>
              <a:rPr lang="en-GB" sz="1600" dirty="0">
                <a:solidFill>
                  <a:schemeClr val="bg1"/>
                </a:solidFill>
                <a:highlight>
                  <a:srgbClr val="C0C0C0"/>
                </a:highlight>
                <a:latin typeface="Courier Prime" panose="02000409000000000000" pitchFamily="49" charset="77"/>
              </a:rPr>
              <a:t>pandas</a:t>
            </a:r>
            <a:r>
              <a:rPr lang="en-GB" sz="1600" dirty="0">
                <a:solidFill>
                  <a:schemeClr val="bg1"/>
                </a:solidFill>
                <a:latin typeface="Garamond Premr Pro" panose="02020402060506020403" pitchFamily="18" charset="0"/>
              </a:rPr>
              <a:t>, </a:t>
            </a:r>
            <a:r>
              <a:rPr lang="en-GB" sz="1600" dirty="0">
                <a:solidFill>
                  <a:schemeClr val="bg1"/>
                </a:solidFill>
                <a:highlight>
                  <a:srgbClr val="C0C0C0"/>
                </a:highlight>
                <a:latin typeface="Courier Prime" panose="02000409000000000000" pitchFamily="49" charset="77"/>
              </a:rPr>
              <a:t>NumPy</a:t>
            </a:r>
            <a:r>
              <a:rPr lang="en-GB" sz="1600" dirty="0">
                <a:solidFill>
                  <a:schemeClr val="bg1"/>
                </a:solidFill>
                <a:latin typeface="Garamond Premr Pro" panose="02020402060506020403" pitchFamily="18" charset="0"/>
              </a:rPr>
              <a:t>) — no smoothing applied; trend/significance via Newey-West HAC OLS + Seasonal Mann-Kendall on raw/monthly data (DiD vs Control Zone).</a:t>
            </a:r>
          </a:p>
          <a:p>
            <a:pPr fontAlgn="t"/>
            <a:r>
              <a:rPr lang="en-US" altLang="zh-CN" sz="1600" b="1" dirty="0">
                <a:solidFill>
                  <a:schemeClr val="bg1"/>
                </a:solidFill>
                <a:latin typeface="Garamond Premr Pro" panose="02020402060506020403" pitchFamily="18" charset="0"/>
              </a:rPr>
              <a:t>-</a:t>
            </a:r>
            <a:r>
              <a:rPr lang="en-GB" sz="1600" dirty="0" err="1">
                <a:solidFill>
                  <a:schemeClr val="bg1"/>
                </a:solidFill>
                <a:highlight>
                  <a:srgbClr val="C0C0C0"/>
                </a:highlight>
                <a:latin typeface="Courier Prime" panose="02000409000000000000" pitchFamily="49" charset="77"/>
              </a:rPr>
              <a:t>dropna</a:t>
            </a:r>
            <a:r>
              <a:rPr lang="en-GB" sz="1600" dirty="0">
                <a:solidFill>
                  <a:schemeClr val="bg1"/>
                </a:solidFill>
                <a:highlight>
                  <a:srgbClr val="C0C0C0"/>
                </a:highlight>
                <a:latin typeface="Courier Prime" panose="02000409000000000000" pitchFamily="49" charset="77"/>
              </a:rPr>
              <a:t>()</a:t>
            </a:r>
            <a:r>
              <a:rPr lang="en-GB" sz="1600" dirty="0">
                <a:solidFill>
                  <a:schemeClr val="bg1"/>
                </a:solidFill>
                <a:latin typeface="Garamond Premr Pro" panose="02020402060506020403" pitchFamily="18" charset="0"/>
              </a:rPr>
              <a:t> </a:t>
            </a:r>
            <a:r>
              <a:rPr lang="en-GB" sz="1600" b="1" dirty="0">
                <a:solidFill>
                  <a:schemeClr val="bg1"/>
                </a:solidFill>
                <a:latin typeface="Garamond Premr Pro" panose="02020402060506020403" pitchFamily="18" charset="0"/>
              </a:rPr>
              <a:t>filtering</a:t>
            </a:r>
            <a:r>
              <a:rPr lang="en-GB" sz="1600" dirty="0">
                <a:solidFill>
                  <a:schemeClr val="bg1"/>
                </a:solidFill>
                <a:latin typeface="Garamond Premr Pro" panose="02020402060506020403" pitchFamily="18" charset="0"/>
              </a:rPr>
              <a:t> to purge cloud‑induced null artefacts in thermal data.</a:t>
            </a:r>
          </a:p>
          <a:p>
            <a:endParaRPr lang="en-GB" sz="1600" dirty="0">
              <a:solidFill>
                <a:schemeClr val="bg1"/>
              </a:solidFill>
              <a:latin typeface="Garamond Premr Pro" panose="02020402060506020403" pitchFamily="18" charset="0"/>
            </a:endParaRPr>
          </a:p>
          <a:p>
            <a:pPr fontAlgn="t"/>
            <a:r>
              <a:rPr lang="en-GB" sz="1600" b="1" dirty="0">
                <a:solidFill>
                  <a:schemeClr val="bg1"/>
                </a:solidFill>
                <a:latin typeface="Garamond Premr Pro" panose="02020402060506020403" pitchFamily="18" charset="0"/>
              </a:rPr>
              <a:t>3. Minimal Open‑Source Processing Stack</a:t>
            </a:r>
          </a:p>
          <a:p>
            <a:pPr fontAlgn="t"/>
            <a:r>
              <a:rPr lang="en-GB" sz="1600" b="1" dirty="0">
                <a:solidFill>
                  <a:schemeClr val="bg1"/>
                </a:solidFill>
                <a:latin typeface="Garamond Premr Pro" panose="02020402060506020403" pitchFamily="18" charset="0"/>
              </a:rPr>
              <a:t>Google Earth Engine JavaScript API</a:t>
            </a:r>
            <a:r>
              <a:rPr lang="en-GB" sz="1600" dirty="0">
                <a:solidFill>
                  <a:schemeClr val="bg1"/>
                </a:solidFill>
                <a:latin typeface="Garamond Premr Pro" panose="02020402060506020403" pitchFamily="18" charset="0"/>
              </a:rPr>
              <a:t> for NDVI and LST computation.</a:t>
            </a:r>
          </a:p>
          <a:p>
            <a:pPr fontAlgn="t"/>
            <a:r>
              <a:rPr lang="en-GB" sz="1600" b="1" dirty="0">
                <a:solidFill>
                  <a:schemeClr val="bg1"/>
                </a:solidFill>
                <a:latin typeface="Garamond Premr Pro" panose="02020402060506020403" pitchFamily="18" charset="0"/>
              </a:rPr>
              <a:t>Python</a:t>
            </a:r>
            <a:r>
              <a:rPr lang="en-GB" sz="1600" dirty="0">
                <a:solidFill>
                  <a:schemeClr val="bg1"/>
                </a:solidFill>
                <a:latin typeface="Garamond Premr Pro" panose="02020402060506020403" pitchFamily="18" charset="0"/>
              </a:rPr>
              <a:t> for local regression, time‑series cleaning, and chart rendering.</a:t>
            </a:r>
          </a:p>
          <a:p>
            <a:pPr fontAlgn="t"/>
            <a:r>
              <a:rPr lang="en-GB" sz="1600" dirty="0">
                <a:solidFill>
                  <a:schemeClr val="bg1"/>
                </a:solidFill>
                <a:latin typeface="Garamond Premr Pro" panose="02020402060506020403" pitchFamily="18" charset="0"/>
              </a:rPr>
              <a:t>Entire workflow is </a:t>
            </a:r>
            <a:r>
              <a:rPr lang="en-GB" sz="1600" b="1" dirty="0">
                <a:solidFill>
                  <a:schemeClr val="bg1"/>
                </a:solidFill>
                <a:latin typeface="Garamond Premr Pro" panose="02020402060506020403" pitchFamily="18" charset="0"/>
              </a:rPr>
              <a:t>fully open‑source</a:t>
            </a:r>
            <a:r>
              <a:rPr lang="en-GB" sz="1600" dirty="0">
                <a:solidFill>
                  <a:schemeClr val="bg1"/>
                </a:solidFill>
                <a:latin typeface="Garamond Premr Pro" panose="02020402060506020403" pitchFamily="18" charset="0"/>
              </a:rPr>
              <a:t>, scalable, and reproducible without proprietary GIS software.</a:t>
            </a:r>
          </a:p>
          <a:p>
            <a:endParaRPr lang="en-GB" sz="1600" dirty="0">
              <a:solidFill>
                <a:schemeClr val="bg1"/>
              </a:solidFill>
              <a:latin typeface="Garamond Premr Pro" panose="02020402060506020403" pitchFamily="18" charset="0"/>
            </a:endParaRPr>
          </a:p>
        </p:txBody>
      </p:sp>
    </p:spTree>
    <p:extLst>
      <p:ext uri="{BB962C8B-B14F-4D97-AF65-F5344CB8AC3E}">
        <p14:creationId xmlns:p14="http://schemas.microsoft.com/office/powerpoint/2010/main" val="1556792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E768888-9497-0A4F-F096-53D7AE84A6E0}"/>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EE02466-B222-B389-9FA4-A5FA07CF8701}"/>
              </a:ext>
            </a:extLst>
          </p:cNvPr>
          <p:cNvPicPr>
            <a:picLocks noChangeAspect="1"/>
          </p:cNvPicPr>
          <p:nvPr/>
        </p:nvPicPr>
        <p:blipFill>
          <a:blip r:embed="rId3"/>
          <a:stretch>
            <a:fillRect/>
          </a:stretch>
        </p:blipFill>
        <p:spPr>
          <a:xfrm>
            <a:off x="1309804" y="435835"/>
            <a:ext cx="6524392" cy="4237401"/>
          </a:xfrm>
          <a:prstGeom prst="rect">
            <a:avLst/>
          </a:prstGeom>
        </p:spPr>
      </p:pic>
      <p:sp>
        <p:nvSpPr>
          <p:cNvPr id="2" name="Text 0">
            <a:extLst>
              <a:ext uri="{FF2B5EF4-FFF2-40B4-BE49-F238E27FC236}">
                <a16:creationId xmlns:a16="http://schemas.microsoft.com/office/drawing/2014/main" id="{BE56C448-5B2B-C13B-A60C-4B9F1805577F}"/>
              </a:ext>
            </a:extLst>
          </p:cNvPr>
          <p:cNvSpPr/>
          <p:nvPr/>
        </p:nvSpPr>
        <p:spPr>
          <a:xfrm>
            <a:off x="325264" y="230118"/>
            <a:ext cx="8930640" cy="411435"/>
          </a:xfrm>
          <a:prstGeom prst="rect">
            <a:avLst/>
          </a:prstGeom>
          <a:noFill/>
          <a:ln/>
        </p:spPr>
        <p:txBody>
          <a:bodyPr wrap="square" lIns="0" tIns="0" rIns="0" bIns="0" rtlCol="0" anchor="t"/>
          <a:lstStyle/>
          <a:p>
            <a:pPr>
              <a:lnSpc>
                <a:spcPts val="3240"/>
              </a:lnSpc>
            </a:pPr>
            <a:r>
              <a:rPr lang="en-US" sz="2700" b="1" dirty="0">
                <a:solidFill>
                  <a:schemeClr val="bg1"/>
                </a:solidFill>
                <a:latin typeface="Garamond Premr Pro Disp" panose="02020402060506020403" pitchFamily="18" charset="0"/>
                <a:ea typeface="Garamond" pitchFamily="34" charset="-122"/>
                <a:cs typeface="Garamond" pitchFamily="34" charset="-120"/>
              </a:rPr>
              <a:t>NDVI Collapse &amp; Thermodynamic Dissipation</a:t>
            </a:r>
            <a:endParaRPr lang="en-US" sz="2700" b="1" dirty="0">
              <a:solidFill>
                <a:schemeClr val="bg1"/>
              </a:solidFill>
              <a:latin typeface="Garamond Premr Pro Disp" panose="02020402060506020403" pitchFamily="18" charset="0"/>
            </a:endParaRPr>
          </a:p>
        </p:txBody>
      </p:sp>
      <p:sp>
        <p:nvSpPr>
          <p:cNvPr id="14" name="TextBox 13">
            <a:extLst>
              <a:ext uri="{FF2B5EF4-FFF2-40B4-BE49-F238E27FC236}">
                <a16:creationId xmlns:a16="http://schemas.microsoft.com/office/drawing/2014/main" id="{68A23317-F20D-A4DE-9D60-2E117E71EE77}"/>
              </a:ext>
            </a:extLst>
          </p:cNvPr>
          <p:cNvSpPr txBox="1"/>
          <p:nvPr/>
        </p:nvSpPr>
        <p:spPr>
          <a:xfrm>
            <a:off x="0" y="4707665"/>
            <a:ext cx="9144000" cy="461665"/>
          </a:xfrm>
          <a:prstGeom prst="rect">
            <a:avLst/>
          </a:prstGeom>
          <a:noFill/>
        </p:spPr>
        <p:txBody>
          <a:bodyPr wrap="square" rtlCol="0">
            <a:spAutoFit/>
          </a:bodyPr>
          <a:lstStyle/>
          <a:p>
            <a:r>
              <a:rPr lang="en-GB" sz="1200" b="1" dirty="0">
                <a:solidFill>
                  <a:schemeClr val="bg1"/>
                </a:solidFill>
                <a:highlight>
                  <a:srgbClr val="000000"/>
                </a:highlight>
              </a:rPr>
              <a:t>Source Code:</a:t>
            </a:r>
            <a:r>
              <a:rPr lang="en-GB" sz="1200" dirty="0">
                <a:solidFill>
                  <a:schemeClr val="bg1"/>
                </a:solidFill>
                <a:highlight>
                  <a:srgbClr val="000000"/>
                </a:highlight>
              </a:rPr>
              <a:t> Li, H. (2026) </a:t>
            </a:r>
            <a:r>
              <a:rPr lang="en-GB" sz="1200" i="1" dirty="0">
                <a:solidFill>
                  <a:schemeClr val="bg1"/>
                </a:solidFill>
                <a:highlight>
                  <a:srgbClr val="000000"/>
                </a:highlight>
              </a:rPr>
              <a:t>Shepperton NDVI Spatiotemporal Audit Algorithm</a:t>
            </a:r>
            <a:r>
              <a:rPr lang="en-GB" sz="1200" dirty="0">
                <a:solidFill>
                  <a:schemeClr val="bg1"/>
                </a:solidFill>
                <a:highlight>
                  <a:srgbClr val="000000"/>
                </a:highlight>
              </a:rPr>
              <a:t>. Accessible at: </a:t>
            </a:r>
            <a:r>
              <a:rPr lang="en-GB" sz="1200" dirty="0">
                <a:solidFill>
                  <a:schemeClr val="bg1"/>
                </a:solidFill>
                <a:highlight>
                  <a:srgbClr val="000000"/>
                </a:highlight>
                <a:hlinkClick r:id="rId4">
                  <a:extLst>
                    <a:ext uri="{A12FA001-AC4F-418D-AE19-62706E023703}">
                      <ahyp:hlinkClr xmlns:ahyp="http://schemas.microsoft.com/office/drawing/2018/hyperlinkcolor" val="tx"/>
                    </a:ext>
                  </a:extLst>
                </a:hlinkClick>
              </a:rPr>
              <a:t>https://code.earthengine.google.com/0cd023633ba069e4320a7a081bd65b62</a:t>
            </a:r>
            <a:endParaRPr lang="en-GB" sz="1200" dirty="0">
              <a:solidFill>
                <a:schemeClr val="bg1"/>
              </a:solidFill>
              <a:highlight>
                <a:srgbClr val="000000"/>
              </a:highlight>
            </a:endParaRPr>
          </a:p>
        </p:txBody>
      </p:sp>
      <p:pic>
        <p:nvPicPr>
          <p:cNvPr id="5" name="Picture 4">
            <a:extLst>
              <a:ext uri="{FF2B5EF4-FFF2-40B4-BE49-F238E27FC236}">
                <a16:creationId xmlns:a16="http://schemas.microsoft.com/office/drawing/2014/main" id="{813AA99B-C61E-611F-6B1E-24FFC2142344}"/>
              </a:ext>
            </a:extLst>
          </p:cNvPr>
          <p:cNvPicPr>
            <a:picLocks noChangeAspect="1"/>
          </p:cNvPicPr>
          <p:nvPr/>
        </p:nvPicPr>
        <p:blipFill>
          <a:blip r:embed="rId5"/>
          <a:stretch>
            <a:fillRect/>
          </a:stretch>
        </p:blipFill>
        <p:spPr>
          <a:xfrm>
            <a:off x="7834197" y="3833697"/>
            <a:ext cx="1309804" cy="1309804"/>
          </a:xfrm>
          <a:prstGeom prst="rect">
            <a:avLst/>
          </a:prstGeom>
        </p:spPr>
      </p:pic>
    </p:spTree>
    <p:extLst>
      <p:ext uri="{BB962C8B-B14F-4D97-AF65-F5344CB8AC3E}">
        <p14:creationId xmlns:p14="http://schemas.microsoft.com/office/powerpoint/2010/main" val="3036664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3C4B280-7E3D-3CF9-C6BD-09AAD13ED24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2C64AE4-E055-163C-C60C-A5E0E1E479DB}"/>
              </a:ext>
            </a:extLst>
          </p:cNvPr>
          <p:cNvSpPr txBox="1"/>
          <p:nvPr/>
        </p:nvSpPr>
        <p:spPr>
          <a:xfrm>
            <a:off x="187456" y="4917961"/>
            <a:ext cx="9144000" cy="276999"/>
          </a:xfrm>
          <a:prstGeom prst="rect">
            <a:avLst/>
          </a:prstGeom>
          <a:noFill/>
        </p:spPr>
        <p:txBody>
          <a:bodyPr wrap="square" rtlCol="0">
            <a:spAutoFit/>
          </a:bodyPr>
          <a:lstStyle/>
          <a:p>
            <a:r>
              <a:rPr lang="en-GB" sz="1200" b="1" dirty="0">
                <a:solidFill>
                  <a:schemeClr val="bg1"/>
                </a:solidFill>
                <a:highlight>
                  <a:srgbClr val="000000"/>
                </a:highlight>
              </a:rPr>
              <a:t>Source:</a:t>
            </a:r>
            <a:r>
              <a:rPr lang="en-GB" sz="1200" dirty="0">
                <a:solidFill>
                  <a:schemeClr val="bg1"/>
                </a:solidFill>
                <a:highlight>
                  <a:srgbClr val="000000"/>
                </a:highlight>
              </a:rPr>
              <a:t> Author's calculation using Copernicus Sentinel-2 </a:t>
            </a:r>
            <a:r>
              <a:rPr lang="en-GB" sz="1200" dirty="0">
                <a:solidFill>
                  <a:schemeClr val="bg1"/>
                </a:solidFill>
              </a:rPr>
              <a:t>(Harmonised)</a:t>
            </a:r>
            <a:r>
              <a:rPr lang="en-GB" sz="1200" dirty="0">
                <a:solidFill>
                  <a:schemeClr val="bg1"/>
                </a:solidFill>
                <a:highlight>
                  <a:srgbClr val="000000"/>
                </a:highlight>
              </a:rPr>
              <a:t> data (ESA, 2026) via Google Earth Engine (Gorelick </a:t>
            </a:r>
            <a:r>
              <a:rPr lang="en-GB" sz="1200" i="1" dirty="0">
                <a:solidFill>
                  <a:schemeClr val="bg1"/>
                </a:solidFill>
                <a:highlight>
                  <a:srgbClr val="000000"/>
                </a:highlight>
              </a:rPr>
              <a:t>et al.</a:t>
            </a:r>
            <a:r>
              <a:rPr lang="en-GB" sz="1200" dirty="0">
                <a:solidFill>
                  <a:schemeClr val="bg1"/>
                </a:solidFill>
                <a:highlight>
                  <a:srgbClr val="000000"/>
                </a:highlight>
              </a:rPr>
              <a:t>, 2017).</a:t>
            </a:r>
          </a:p>
        </p:txBody>
      </p:sp>
      <p:pic>
        <p:nvPicPr>
          <p:cNvPr id="10" name="Picture 9">
            <a:extLst>
              <a:ext uri="{FF2B5EF4-FFF2-40B4-BE49-F238E27FC236}">
                <a16:creationId xmlns:a16="http://schemas.microsoft.com/office/drawing/2014/main" id="{22CF1BD7-DDD9-5776-F491-249B5D95B2FB}"/>
              </a:ext>
            </a:extLst>
          </p:cNvPr>
          <p:cNvPicPr>
            <a:picLocks noChangeAspect="1"/>
          </p:cNvPicPr>
          <p:nvPr/>
        </p:nvPicPr>
        <p:blipFill>
          <a:blip r:embed="rId3"/>
          <a:stretch>
            <a:fillRect/>
          </a:stretch>
        </p:blipFill>
        <p:spPr>
          <a:xfrm>
            <a:off x="609600" y="3012961"/>
            <a:ext cx="1917701" cy="1917701"/>
          </a:xfrm>
          <a:prstGeom prst="rect">
            <a:avLst/>
          </a:prstGeom>
        </p:spPr>
      </p:pic>
      <p:pic>
        <p:nvPicPr>
          <p:cNvPr id="12" name="Picture 11">
            <a:extLst>
              <a:ext uri="{FF2B5EF4-FFF2-40B4-BE49-F238E27FC236}">
                <a16:creationId xmlns:a16="http://schemas.microsoft.com/office/drawing/2014/main" id="{6B961BBC-3BAD-C1E7-5BE7-A501A596EA87}"/>
              </a:ext>
            </a:extLst>
          </p:cNvPr>
          <p:cNvPicPr>
            <a:picLocks noChangeAspect="1"/>
          </p:cNvPicPr>
          <p:nvPr/>
        </p:nvPicPr>
        <p:blipFill>
          <a:blip r:embed="rId4"/>
          <a:stretch>
            <a:fillRect/>
          </a:stretch>
        </p:blipFill>
        <p:spPr>
          <a:xfrm>
            <a:off x="609600" y="1017977"/>
            <a:ext cx="3893819" cy="1965569"/>
          </a:xfrm>
          <a:prstGeom prst="rect">
            <a:avLst/>
          </a:prstGeom>
        </p:spPr>
      </p:pic>
      <p:pic>
        <p:nvPicPr>
          <p:cNvPr id="15" name="Picture 14">
            <a:extLst>
              <a:ext uri="{FF2B5EF4-FFF2-40B4-BE49-F238E27FC236}">
                <a16:creationId xmlns:a16="http://schemas.microsoft.com/office/drawing/2014/main" id="{699414EB-6A29-99F0-7974-A32D55F9EB48}"/>
              </a:ext>
            </a:extLst>
          </p:cNvPr>
          <p:cNvPicPr>
            <a:picLocks noChangeAspect="1"/>
          </p:cNvPicPr>
          <p:nvPr/>
        </p:nvPicPr>
        <p:blipFill>
          <a:blip r:embed="rId5"/>
          <a:stretch>
            <a:fillRect/>
          </a:stretch>
        </p:blipFill>
        <p:spPr>
          <a:xfrm>
            <a:off x="2585719" y="3012961"/>
            <a:ext cx="1917700" cy="1905000"/>
          </a:xfrm>
          <a:prstGeom prst="rect">
            <a:avLst/>
          </a:prstGeom>
        </p:spPr>
      </p:pic>
      <p:pic>
        <p:nvPicPr>
          <p:cNvPr id="17" name="Picture 16">
            <a:extLst>
              <a:ext uri="{FF2B5EF4-FFF2-40B4-BE49-F238E27FC236}">
                <a16:creationId xmlns:a16="http://schemas.microsoft.com/office/drawing/2014/main" id="{4C8E1321-51E2-81A3-9F9D-BDF6571881B9}"/>
              </a:ext>
            </a:extLst>
          </p:cNvPr>
          <p:cNvPicPr>
            <a:picLocks noChangeAspect="1"/>
          </p:cNvPicPr>
          <p:nvPr/>
        </p:nvPicPr>
        <p:blipFill>
          <a:blip r:embed="rId6"/>
          <a:stretch>
            <a:fillRect/>
          </a:stretch>
        </p:blipFill>
        <p:spPr>
          <a:xfrm>
            <a:off x="4759456" y="1017977"/>
            <a:ext cx="3514401" cy="3911305"/>
          </a:xfrm>
          <a:prstGeom prst="rect">
            <a:avLst/>
          </a:prstGeom>
        </p:spPr>
      </p:pic>
      <p:sp>
        <p:nvSpPr>
          <p:cNvPr id="2" name="Text 0">
            <a:extLst>
              <a:ext uri="{FF2B5EF4-FFF2-40B4-BE49-F238E27FC236}">
                <a16:creationId xmlns:a16="http://schemas.microsoft.com/office/drawing/2014/main" id="{B7443FA2-97B1-5547-DA41-F0CF60E4A057}"/>
              </a:ext>
            </a:extLst>
          </p:cNvPr>
          <p:cNvSpPr/>
          <p:nvPr/>
        </p:nvSpPr>
        <p:spPr>
          <a:xfrm>
            <a:off x="313569" y="225539"/>
            <a:ext cx="9058275" cy="411435"/>
          </a:xfrm>
          <a:prstGeom prst="rect">
            <a:avLst/>
          </a:prstGeom>
          <a:noFill/>
          <a:ln/>
        </p:spPr>
        <p:txBody>
          <a:bodyPr wrap="square" lIns="0" tIns="0" rIns="0" bIns="0" rtlCol="0" anchor="t"/>
          <a:lstStyle/>
          <a:p>
            <a:pPr>
              <a:lnSpc>
                <a:spcPts val="3240"/>
              </a:lnSpc>
            </a:pPr>
            <a:r>
              <a:rPr lang="en-US" sz="2700" b="1" dirty="0">
                <a:solidFill>
                  <a:schemeClr val="bg1"/>
                </a:solidFill>
                <a:latin typeface="Garamond Premr Pro Disp" panose="02020402060506020403" pitchFamily="18" charset="0"/>
                <a:ea typeface="Garamond" pitchFamily="34" charset="-122"/>
                <a:cs typeface="Garamond" pitchFamily="34" charset="-120"/>
              </a:rPr>
              <a:t>NDVI Collapse &amp; Thermodynamic Dissipation</a:t>
            </a:r>
            <a:endParaRPr lang="en-US" sz="2700" b="1" dirty="0">
              <a:solidFill>
                <a:schemeClr val="bg1"/>
              </a:solidFill>
              <a:latin typeface="Garamond Premr Pro Disp" panose="02020402060506020403" pitchFamily="18" charset="0"/>
            </a:endParaRPr>
          </a:p>
        </p:txBody>
      </p:sp>
      <p:sp>
        <p:nvSpPr>
          <p:cNvPr id="18" name="TextBox 17">
            <a:extLst>
              <a:ext uri="{FF2B5EF4-FFF2-40B4-BE49-F238E27FC236}">
                <a16:creationId xmlns:a16="http://schemas.microsoft.com/office/drawing/2014/main" id="{B85F18F5-E4EE-8289-756F-FC9C142F9708}"/>
              </a:ext>
            </a:extLst>
          </p:cNvPr>
          <p:cNvSpPr txBox="1"/>
          <p:nvPr/>
        </p:nvSpPr>
        <p:spPr>
          <a:xfrm>
            <a:off x="5223099" y="1192725"/>
            <a:ext cx="2581156" cy="369332"/>
          </a:xfrm>
          <a:prstGeom prst="rect">
            <a:avLst/>
          </a:prstGeom>
          <a:noFill/>
        </p:spPr>
        <p:txBody>
          <a:bodyPr wrap="none" rtlCol="0">
            <a:spAutoFit/>
          </a:bodyPr>
          <a:lstStyle/>
          <a:p>
            <a:r>
              <a:rPr lang="en-US" altLang="zh-CN" dirty="0">
                <a:latin typeface="Garamond Premr Pro" panose="02020402060506020403" pitchFamily="18" charset="0"/>
              </a:rPr>
              <a:t>+0.56 to +1.08</a:t>
            </a:r>
            <a:r>
              <a:rPr lang="en-GB" dirty="0">
                <a:latin typeface="Garamond Premr Pro" panose="02020402060506020403" pitchFamily="18" charset="0"/>
              </a:rPr>
              <a:t> °C</a:t>
            </a:r>
            <a:r>
              <a:rPr lang="zh-CN" altLang="en-US" dirty="0">
                <a:latin typeface="Garamond Premr Pro" panose="02020402060506020403" pitchFamily="18" charset="0"/>
              </a:rPr>
              <a:t> </a:t>
            </a:r>
            <a:r>
              <a:rPr lang="en-US" altLang="zh-CN" dirty="0">
                <a:latin typeface="Garamond Premr Pro" panose="02020402060506020403" pitchFamily="18" charset="0"/>
              </a:rPr>
              <a:t>controlled BACI ΔT (not a raw trend)</a:t>
            </a:r>
            <a:endParaRPr lang="en-GB" dirty="0">
              <a:latin typeface="Garamond Premr Pro" panose="02020402060506020403" pitchFamily="18" charset="0"/>
            </a:endParaRPr>
          </a:p>
        </p:txBody>
      </p:sp>
    </p:spTree>
    <p:extLst>
      <p:ext uri="{BB962C8B-B14F-4D97-AF65-F5344CB8AC3E}">
        <p14:creationId xmlns:p14="http://schemas.microsoft.com/office/powerpoint/2010/main" val="1754540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72EC7A0-6E6D-AF83-3406-8C6F641C11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169077-79A9-C35C-64B8-B76F74E92E58}"/>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US" sz="2700" b="1" dirty="0">
                <a:solidFill>
                  <a:srgbClr val="FFFFFF"/>
                </a:solidFill>
                <a:latin typeface="Garamond Premr Pro Disp" panose="02020402060506020403" pitchFamily="18" charset="0"/>
                <a:ea typeface="Garamond" pitchFamily="34" charset="-122"/>
                <a:cs typeface="Garamond" pitchFamily="34" charset="-120"/>
              </a:rPr>
              <a:t>Algorithmic Verification: Spatiotemporal NDVI Collapse</a:t>
            </a:r>
            <a:endParaRPr lang="en-US" sz="2700" b="1" dirty="0">
              <a:latin typeface="Garamond Premr Pro Disp" panose="02020402060506020403" pitchFamily="18" charset="0"/>
            </a:endParaRPr>
          </a:p>
        </p:txBody>
      </p:sp>
      <p:pic>
        <p:nvPicPr>
          <p:cNvPr id="4" name="Picture 3">
            <a:extLst>
              <a:ext uri="{FF2B5EF4-FFF2-40B4-BE49-F238E27FC236}">
                <a16:creationId xmlns:a16="http://schemas.microsoft.com/office/drawing/2014/main" id="{AFC2D8A5-B257-C50F-DD05-3F8794306314}"/>
              </a:ext>
            </a:extLst>
          </p:cNvPr>
          <p:cNvPicPr>
            <a:picLocks noChangeAspect="1"/>
          </p:cNvPicPr>
          <p:nvPr/>
        </p:nvPicPr>
        <p:blipFill>
          <a:blip r:embed="rId3"/>
          <a:stretch>
            <a:fillRect/>
          </a:stretch>
        </p:blipFill>
        <p:spPr>
          <a:xfrm>
            <a:off x="609600" y="477520"/>
            <a:ext cx="7772400" cy="4422495"/>
          </a:xfrm>
          <a:prstGeom prst="rect">
            <a:avLst/>
          </a:prstGeom>
        </p:spPr>
      </p:pic>
      <p:sp>
        <p:nvSpPr>
          <p:cNvPr id="9" name="TextBox 8">
            <a:extLst>
              <a:ext uri="{FF2B5EF4-FFF2-40B4-BE49-F238E27FC236}">
                <a16:creationId xmlns:a16="http://schemas.microsoft.com/office/drawing/2014/main" id="{CD6534B6-87A7-05AF-9FB5-EBA978103BB8}"/>
              </a:ext>
            </a:extLst>
          </p:cNvPr>
          <p:cNvSpPr txBox="1"/>
          <p:nvPr/>
        </p:nvSpPr>
        <p:spPr>
          <a:xfrm>
            <a:off x="-76200" y="4930850"/>
            <a:ext cx="9144000" cy="276999"/>
          </a:xfrm>
          <a:prstGeom prst="rect">
            <a:avLst/>
          </a:prstGeom>
          <a:noFill/>
        </p:spPr>
        <p:txBody>
          <a:bodyPr wrap="square" rtlCol="0">
            <a:spAutoFit/>
          </a:bodyPr>
          <a:lstStyle/>
          <a:p>
            <a:r>
              <a:rPr lang="en-GB" sz="1200" b="1" dirty="0">
                <a:solidFill>
                  <a:schemeClr val="bg1"/>
                </a:solidFill>
                <a:highlight>
                  <a:srgbClr val="000000"/>
                </a:highlight>
              </a:rPr>
              <a:t>Source:</a:t>
            </a:r>
            <a:r>
              <a:rPr lang="en-GB" sz="1200" dirty="0">
                <a:solidFill>
                  <a:schemeClr val="bg1"/>
                </a:solidFill>
                <a:highlight>
                  <a:srgbClr val="000000"/>
                </a:highlight>
              </a:rPr>
              <a:t> Author's calculation using Copernicus Sentinel-2 Harmonized data (ESA, 2026) via Google Earth Engine (Gorelick </a:t>
            </a:r>
            <a:r>
              <a:rPr lang="en-GB" sz="1200" i="1" dirty="0">
                <a:solidFill>
                  <a:schemeClr val="bg1"/>
                </a:solidFill>
                <a:highlight>
                  <a:srgbClr val="000000"/>
                </a:highlight>
              </a:rPr>
              <a:t>et al.</a:t>
            </a:r>
            <a:r>
              <a:rPr lang="en-GB" sz="1200" dirty="0">
                <a:solidFill>
                  <a:schemeClr val="bg1"/>
                </a:solidFill>
                <a:highlight>
                  <a:srgbClr val="000000"/>
                </a:highlight>
              </a:rPr>
              <a:t>, 2017).</a:t>
            </a:r>
          </a:p>
        </p:txBody>
      </p:sp>
    </p:spTree>
    <p:extLst>
      <p:ext uri="{BB962C8B-B14F-4D97-AF65-F5344CB8AC3E}">
        <p14:creationId xmlns:p14="http://schemas.microsoft.com/office/powerpoint/2010/main" val="1876055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5461D03-F7D3-E88B-9E4E-6988F5827F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FF37BE-38F2-DDE1-6224-B9ECCE80A905}"/>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US" sz="2700" b="1" dirty="0">
                <a:solidFill>
                  <a:srgbClr val="FFFFFF"/>
                </a:solidFill>
                <a:latin typeface="Garamond Premr Pro Disp" panose="02020402060506020403" pitchFamily="18" charset="0"/>
                <a:ea typeface="Garamond" pitchFamily="34" charset="-122"/>
                <a:cs typeface="Garamond" pitchFamily="34" charset="-120"/>
              </a:rPr>
              <a:t>Transparency, Reproducibility and Replicability</a:t>
            </a:r>
            <a:endParaRPr lang="en-US" sz="2700" b="1" dirty="0">
              <a:latin typeface="Garamond Premr Pro Disp" panose="02020402060506020403" pitchFamily="18" charset="0"/>
            </a:endParaRPr>
          </a:p>
        </p:txBody>
      </p:sp>
      <p:sp>
        <p:nvSpPr>
          <p:cNvPr id="3" name="TextBox 2">
            <a:extLst>
              <a:ext uri="{FF2B5EF4-FFF2-40B4-BE49-F238E27FC236}">
                <a16:creationId xmlns:a16="http://schemas.microsoft.com/office/drawing/2014/main" id="{B871A0FA-92C4-E15A-B484-901602557139}"/>
              </a:ext>
            </a:extLst>
          </p:cNvPr>
          <p:cNvSpPr txBox="1"/>
          <p:nvPr/>
        </p:nvSpPr>
        <p:spPr>
          <a:xfrm>
            <a:off x="266874" y="1354142"/>
            <a:ext cx="6933308"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Repository: 		</a:t>
            </a:r>
            <a:r>
              <a:rPr lang="en-GB" dirty="0" err="1">
                <a:solidFill>
                  <a:schemeClr val="bg1"/>
                </a:solidFill>
                <a:latin typeface="Garamond Premr Pro" panose="02020402060506020403" pitchFamily="18" charset="0"/>
              </a:rPr>
              <a:t>github.com</a:t>
            </a:r>
            <a:r>
              <a:rPr lang="en-GB" dirty="0">
                <a:solidFill>
                  <a:schemeClr val="bg1"/>
                </a:solidFill>
                <a:latin typeface="Garamond Premr Pro" panose="02020402060506020403" pitchFamily="18" charset="0"/>
              </a:rPr>
              <a:t>/</a:t>
            </a:r>
            <a:r>
              <a:rPr lang="en-GB" dirty="0" err="1">
                <a:solidFill>
                  <a:schemeClr val="bg1"/>
                </a:solidFill>
                <a:latin typeface="Garamond Premr Pro" panose="02020402060506020403" pitchFamily="18" charset="0"/>
              </a:rPr>
              <a:t>HanpuLi</a:t>
            </a:r>
            <a:r>
              <a:rPr lang="en-GB" dirty="0">
                <a:solidFill>
                  <a:schemeClr val="bg1"/>
                </a:solidFill>
                <a:latin typeface="Garamond Premr Pro" panose="02020402060506020403" pitchFamily="18" charset="0"/>
              </a:rPr>
              <a:t>/-OSM_AUDIT_2025</a:t>
            </a:r>
          </a:p>
        </p:txBody>
      </p:sp>
      <p:sp>
        <p:nvSpPr>
          <p:cNvPr id="5" name="TextBox 4">
            <a:extLst>
              <a:ext uri="{FF2B5EF4-FFF2-40B4-BE49-F238E27FC236}">
                <a16:creationId xmlns:a16="http://schemas.microsoft.com/office/drawing/2014/main" id="{A1E529A1-68B4-3900-CCCE-EEEB1504E9E3}"/>
              </a:ext>
            </a:extLst>
          </p:cNvPr>
          <p:cNvSpPr txBox="1"/>
          <p:nvPr/>
        </p:nvSpPr>
        <p:spPr>
          <a:xfrm>
            <a:off x="285067" y="1897148"/>
            <a:ext cx="4192173"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Data Extraction Date: 	3 March 2026</a:t>
            </a:r>
          </a:p>
        </p:txBody>
      </p:sp>
      <p:sp>
        <p:nvSpPr>
          <p:cNvPr id="6" name="TextBox 5">
            <a:extLst>
              <a:ext uri="{FF2B5EF4-FFF2-40B4-BE49-F238E27FC236}">
                <a16:creationId xmlns:a16="http://schemas.microsoft.com/office/drawing/2014/main" id="{5E023712-2844-482B-E8F6-F0DBF2EBE9D1}"/>
              </a:ext>
            </a:extLst>
          </p:cNvPr>
          <p:cNvSpPr txBox="1"/>
          <p:nvPr/>
        </p:nvSpPr>
        <p:spPr>
          <a:xfrm>
            <a:off x="285067" y="2440154"/>
            <a:ext cx="6194324"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Spatial Projection: 		British National Grid (EPSG:27700)</a:t>
            </a:r>
          </a:p>
        </p:txBody>
      </p:sp>
      <p:sp>
        <p:nvSpPr>
          <p:cNvPr id="7" name="TextBox 6">
            <a:extLst>
              <a:ext uri="{FF2B5EF4-FFF2-40B4-BE49-F238E27FC236}">
                <a16:creationId xmlns:a16="http://schemas.microsoft.com/office/drawing/2014/main" id="{FFB96C93-DB6C-7850-9B79-E7389C0DA20B}"/>
              </a:ext>
            </a:extLst>
          </p:cNvPr>
          <p:cNvSpPr txBox="1"/>
          <p:nvPr/>
        </p:nvSpPr>
        <p:spPr>
          <a:xfrm>
            <a:off x="285068" y="2983160"/>
            <a:ext cx="7334932" cy="1477328"/>
          </a:xfrm>
          <a:prstGeom prst="rect">
            <a:avLst/>
          </a:prstGeom>
          <a:noFill/>
        </p:spPr>
        <p:txBody>
          <a:bodyPr wrap="square" rtlCol="0">
            <a:spAutoFit/>
          </a:bodyPr>
          <a:lstStyle/>
          <a:p>
            <a:r>
              <a:rPr lang="en-GB" dirty="0">
                <a:solidFill>
                  <a:schemeClr val="bg1"/>
                </a:solidFill>
                <a:latin typeface="Garamond Premr Pro" panose="02020402060506020403" pitchFamily="18" charset="0"/>
              </a:rPr>
              <a:t>Pipeline Built Via: 		Overpass API (OSM Query)</a:t>
            </a:r>
          </a:p>
          <a:p>
            <a:r>
              <a:rPr lang="en-GB" dirty="0">
                <a:solidFill>
                  <a:schemeClr val="bg1"/>
                </a:solidFill>
                <a:latin typeface="Garamond Premr Pro" panose="02020402060506020403" pitchFamily="18" charset="0"/>
              </a:rPr>
              <a:t>					Python (</a:t>
            </a:r>
            <a:r>
              <a:rPr lang="en-GB" i="1" dirty="0" err="1">
                <a:solidFill>
                  <a:schemeClr val="bg1"/>
                </a:solidFill>
                <a:latin typeface="Garamond Premr Pro" panose="02020402060506020403" pitchFamily="18" charset="0"/>
              </a:rPr>
              <a:t>geopandas</a:t>
            </a:r>
            <a:r>
              <a:rPr lang="en-GB" dirty="0">
                <a:solidFill>
                  <a:schemeClr val="bg1"/>
                </a:solidFill>
                <a:latin typeface="Garamond Premr Pro" panose="02020402060506020403" pitchFamily="18" charset="0"/>
              </a:rPr>
              <a:t>, </a:t>
            </a:r>
            <a:r>
              <a:rPr lang="en-GB" i="1" dirty="0">
                <a:solidFill>
                  <a:schemeClr val="bg1"/>
                </a:solidFill>
                <a:latin typeface="Garamond Premr Pro" panose="02020402060506020403" pitchFamily="18" charset="0"/>
              </a:rPr>
              <a:t>matplotlib</a:t>
            </a:r>
            <a:r>
              <a:rPr lang="en-GB" dirty="0">
                <a:solidFill>
                  <a:schemeClr val="bg1"/>
                </a:solidFill>
                <a:latin typeface="Garamond Premr Pro" panose="02020402060506020403" pitchFamily="18" charset="0"/>
              </a:rPr>
              <a:t>)</a:t>
            </a:r>
          </a:p>
          <a:p>
            <a:r>
              <a:rPr lang="en-GB" dirty="0">
                <a:solidFill>
                  <a:schemeClr val="bg1"/>
                </a:solidFill>
                <a:latin typeface="Garamond Premr Pro" panose="02020402060506020403" pitchFamily="18" charset="0"/>
              </a:rPr>
              <a:t>					Google Earth Engine API: </a:t>
            </a:r>
          </a:p>
          <a:p>
            <a:r>
              <a:rPr lang="en-GB" dirty="0">
                <a:solidFill>
                  <a:schemeClr val="bg1"/>
                </a:solidFill>
                <a:latin typeface="Garamond Premr Pro" panose="02020402060506020403" pitchFamily="18" charset="0"/>
              </a:rPr>
              <a:t>					ESA Sentinel-2 (S2_SR_HARMONIZED) and </a:t>
            </a:r>
          </a:p>
          <a:p>
            <a:r>
              <a:rPr lang="en-GB" dirty="0">
                <a:solidFill>
                  <a:schemeClr val="bg1"/>
                </a:solidFill>
                <a:latin typeface="Garamond Premr Pro" panose="02020402060506020403" pitchFamily="18" charset="0"/>
              </a:rPr>
              <a:t>					USGS Landsat 7 + 8 + 9 (Collection 2, Tier 1, Level 2 – TIRS)</a:t>
            </a:r>
          </a:p>
        </p:txBody>
      </p:sp>
    </p:spTree>
    <p:extLst>
      <p:ext uri="{BB962C8B-B14F-4D97-AF65-F5344CB8AC3E}">
        <p14:creationId xmlns:p14="http://schemas.microsoft.com/office/powerpoint/2010/main" val="2984428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 name="Text 1"/>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Disp" panose="02020402060506020403" pitchFamily="18" charset="0"/>
              </a:rPr>
              <a:t>Conclusion: Policy &amp; Structural Solutions</a:t>
            </a:r>
          </a:p>
        </p:txBody>
      </p:sp>
      <p:sp>
        <p:nvSpPr>
          <p:cNvPr id="4" name="Text 2"/>
          <p:cNvSpPr/>
          <p:nvPr/>
        </p:nvSpPr>
        <p:spPr>
          <a:xfrm>
            <a:off x="609600" y="1325835"/>
            <a:ext cx="6657975" cy="342900"/>
          </a:xfrm>
          <a:prstGeom prst="rect">
            <a:avLst/>
          </a:prstGeom>
          <a:noFill/>
          <a:ln/>
        </p:spPr>
        <p:txBody>
          <a:bodyPr wrap="square" lIns="0" tIns="0" rIns="0" bIns="0" rtlCol="0" anchor="t"/>
          <a:lstStyle/>
          <a:p>
            <a:r>
              <a:rPr lang="en-GB" dirty="0">
                <a:solidFill>
                  <a:schemeClr val="bg1"/>
                </a:solidFill>
                <a:latin typeface="Garamond Premr Pro" panose="02020402060506020403" pitchFamily="18" charset="0"/>
              </a:rPr>
              <a:t>1. Integrate Spatial Audits into Planning Approval Processes</a:t>
            </a:r>
          </a:p>
          <a:p>
            <a:endParaRPr lang="en-GB" dirty="0">
              <a:solidFill>
                <a:schemeClr val="bg1"/>
              </a:solidFill>
              <a:latin typeface="Garamond Premr Pro" panose="02020402060506020403" pitchFamily="18" charset="0"/>
            </a:endParaRPr>
          </a:p>
          <a:p>
            <a:r>
              <a:rPr lang="en-GB" dirty="0">
                <a:solidFill>
                  <a:schemeClr val="bg1"/>
                </a:solidFill>
                <a:latin typeface="Garamond Premr Pro" panose="02020402060506020403" pitchFamily="18" charset="0"/>
              </a:rPr>
              <a:t>   Implementation:</a:t>
            </a:r>
          </a:p>
          <a:p>
            <a:r>
              <a:rPr lang="en-GB" dirty="0">
                <a:solidFill>
                  <a:schemeClr val="bg1"/>
                </a:solidFill>
                <a:latin typeface="Garamond Premr Pro" panose="02020402060506020403" pitchFamily="18" charset="0"/>
              </a:rPr>
              <a:t>   </a:t>
            </a:r>
            <a:r>
              <a:rPr lang="en-US" dirty="0">
                <a:solidFill>
                  <a:schemeClr val="bg1"/>
                </a:solidFill>
                <a:latin typeface="Garamond Premr Pro" panose="02020402060506020403" pitchFamily="18" charset="0"/>
              </a:rPr>
              <a:t>&gt;</a:t>
            </a:r>
            <a:r>
              <a:rPr lang="en-GB" dirty="0">
                <a:solidFill>
                  <a:schemeClr val="bg1"/>
                </a:solidFill>
                <a:latin typeface="Garamond Premr Pro" panose="02020402060506020403" pitchFamily="18" charset="0"/>
              </a:rPr>
              <a:t>Require forensic spatial audits as mandatory appendix to EIA submissions</a:t>
            </a:r>
          </a:p>
          <a:p>
            <a:r>
              <a:rPr lang="en-GB" dirty="0">
                <a:solidFill>
                  <a:schemeClr val="bg1"/>
                </a:solidFill>
                <a:latin typeface="Garamond Premr Pro" panose="02020402060506020403" pitchFamily="18" charset="0"/>
              </a:rPr>
              <a:t>   &gt;Planning authorities adopt standardised OSM-based audit protocols</a:t>
            </a:r>
          </a:p>
          <a:p>
            <a:r>
              <a:rPr lang="en-GB" dirty="0">
                <a:solidFill>
                  <a:schemeClr val="bg1"/>
                </a:solidFill>
                <a:latin typeface="Garamond Premr Pro" panose="02020402060506020403" pitchFamily="18" charset="0"/>
              </a:rPr>
              <a:t>   &gt;Embed audit results in publicly accessible planning portals</a:t>
            </a:r>
          </a:p>
          <a:p>
            <a:endParaRPr lang="en-GB" dirty="0">
              <a:solidFill>
                <a:schemeClr val="bg1"/>
              </a:solidFill>
              <a:latin typeface="Garamond Premr Pro" panose="02020402060506020403" pitchFamily="18" charset="0"/>
            </a:endParaRPr>
          </a:p>
          <a:p>
            <a:r>
              <a:rPr lang="en-GB" dirty="0">
                <a:solidFill>
                  <a:schemeClr val="bg1"/>
                </a:solidFill>
                <a:latin typeface="Garamond Premr Pro" panose="02020402060506020403" pitchFamily="18" charset="0"/>
              </a:rPr>
              <a:t>   Rationale:</a:t>
            </a:r>
          </a:p>
          <a:p>
            <a:r>
              <a:rPr lang="en-GB" dirty="0">
                <a:solidFill>
                  <a:schemeClr val="bg1"/>
                </a:solidFill>
                <a:latin typeface="Garamond Premr Pro" panose="02020402060506020403" pitchFamily="18" charset="0"/>
              </a:rPr>
              <a:t>   &gt;Current EIA projections (e.g., Shepperton 2018) rely on developer-</a:t>
            </a:r>
          </a:p>
          <a:p>
            <a:r>
              <a:rPr lang="en-GB" dirty="0">
                <a:solidFill>
                  <a:schemeClr val="bg1"/>
                </a:solidFill>
                <a:latin typeface="Garamond Premr Pro" panose="02020402060506020403" pitchFamily="18" charset="0"/>
              </a:rPr>
              <a:t>     commissioned models without independent spatial verification</a:t>
            </a:r>
          </a:p>
          <a:p>
            <a:r>
              <a:rPr lang="en-GB" dirty="0">
                <a:solidFill>
                  <a:schemeClr val="bg1"/>
                </a:solidFill>
                <a:latin typeface="Garamond Premr Pro" panose="02020402060506020403" pitchFamily="18" charset="0"/>
              </a:rPr>
              <a:t>   &gt;Standardised audits enable cross-site comparison and prevent </a:t>
            </a:r>
          </a:p>
          <a:p>
            <a:r>
              <a:rPr lang="en-GB" dirty="0">
                <a:solidFill>
                  <a:schemeClr val="bg1"/>
                </a:solidFill>
                <a:latin typeface="Garamond Premr Pro" panose="02020402060506020403" pitchFamily="18" charset="0"/>
              </a:rPr>
              <a:t>     greenwashing claims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45D25AF-FD1E-69AA-5FBB-0C3A689997B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200729F-B8B1-5E31-8406-B5F3F8704067}"/>
              </a:ext>
            </a:extLst>
          </p:cNvPr>
          <p:cNvSpPr/>
          <p:nvPr/>
        </p:nvSpPr>
        <p:spPr>
          <a:xfrm>
            <a:off x="609600" y="609600"/>
            <a:ext cx="8083296" cy="411435"/>
          </a:xfrm>
          <a:prstGeom prst="rect">
            <a:avLst/>
          </a:prstGeom>
          <a:noFill/>
          <a:ln/>
        </p:spPr>
        <p:txBody>
          <a:bodyPr wrap="square" lIns="0" tIns="0" rIns="0" bIns="0" rtlCol="0" anchor="t"/>
          <a:lstStyle/>
          <a:p>
            <a:r>
              <a:rPr lang="en-GB" sz="2800" b="1" dirty="0">
                <a:solidFill>
                  <a:schemeClr val="bg1"/>
                </a:solidFill>
                <a:latin typeface="Garamond Premr Pro Disp" panose="02020402060506020403" pitchFamily="18" charset="0"/>
              </a:rPr>
              <a:t>Conclusion: Policy &amp; Structural Solutions</a:t>
            </a:r>
          </a:p>
        </p:txBody>
      </p:sp>
      <p:sp>
        <p:nvSpPr>
          <p:cNvPr id="4" name="Text 2">
            <a:extLst>
              <a:ext uri="{FF2B5EF4-FFF2-40B4-BE49-F238E27FC236}">
                <a16:creationId xmlns:a16="http://schemas.microsoft.com/office/drawing/2014/main" id="{8F6E7E13-3229-F40F-1BF2-7498D735F26E}"/>
              </a:ext>
            </a:extLst>
          </p:cNvPr>
          <p:cNvSpPr/>
          <p:nvPr/>
        </p:nvSpPr>
        <p:spPr>
          <a:xfrm>
            <a:off x="609600" y="1325835"/>
            <a:ext cx="3962400" cy="342900"/>
          </a:xfrm>
          <a:prstGeom prst="rect">
            <a:avLst/>
          </a:prstGeom>
          <a:noFill/>
          <a:ln/>
        </p:spPr>
        <p:txBody>
          <a:bodyPr wrap="square" lIns="0" tIns="0" rIns="0" bIns="0" rtlCol="0" anchor="t"/>
          <a:lstStyle/>
          <a:p>
            <a:r>
              <a:rPr lang="en-GB" sz="1400" dirty="0">
                <a:solidFill>
                  <a:schemeClr val="bg1"/>
                </a:solidFill>
                <a:latin typeface="Garamond Premr Pro" panose="02020402060506020403" pitchFamily="18" charset="0"/>
              </a:rPr>
              <a:t>2. Mandate Lifecycle Spatial Accounting for Virtual Production</a:t>
            </a:r>
          </a:p>
          <a:p>
            <a:endParaRPr lang="en-GB" sz="1400" dirty="0">
              <a:solidFill>
                <a:schemeClr val="bg1"/>
              </a:solidFill>
              <a:latin typeface="Garamond Premr Pro" panose="02020402060506020403" pitchFamily="18" charset="0"/>
            </a:endParaRPr>
          </a:p>
          <a:p>
            <a:r>
              <a:rPr lang="en-GB" sz="1400" dirty="0">
                <a:solidFill>
                  <a:schemeClr val="bg1"/>
                </a:solidFill>
                <a:latin typeface="Garamond Premr Pro" panose="02020402060506020403" pitchFamily="18" charset="0"/>
              </a:rPr>
              <a:t>   Implementation:</a:t>
            </a:r>
          </a:p>
          <a:p>
            <a:r>
              <a:rPr lang="en-GB" sz="1400" dirty="0">
                <a:solidFill>
                  <a:schemeClr val="bg1"/>
                </a:solidFill>
                <a:latin typeface="Garamond Premr Pro" panose="02020402060506020403" pitchFamily="18" charset="0"/>
              </a:rPr>
              <a:t>   &gt;Production companies report annual land footprint and energy consumption</a:t>
            </a:r>
          </a:p>
          <a:p>
            <a:r>
              <a:rPr lang="en-GB" sz="1400" dirty="0">
                <a:solidFill>
                  <a:schemeClr val="bg1"/>
                </a:solidFill>
                <a:latin typeface="Garamond Premr Pro" panose="02020402060506020403" pitchFamily="18" charset="0"/>
              </a:rPr>
              <a:t>   &gt;Data aggregated in national Virtual Production Environmental Registry</a:t>
            </a:r>
          </a:p>
          <a:p>
            <a:r>
              <a:rPr lang="en-GB" sz="1400" dirty="0">
                <a:solidFill>
                  <a:schemeClr val="bg1"/>
                </a:solidFill>
                <a:latin typeface="Garamond Premr Pro" panose="02020402060506020403" pitchFamily="18" charset="0"/>
              </a:rPr>
              <a:t>   &gt;Five-year audits compare actual vs. projected environmental impact</a:t>
            </a:r>
          </a:p>
          <a:p>
            <a:endParaRPr lang="en-GB" sz="1400" dirty="0">
              <a:solidFill>
                <a:schemeClr val="bg1"/>
              </a:solidFill>
              <a:latin typeface="Garamond Premr Pro" panose="02020402060506020403" pitchFamily="18" charset="0"/>
            </a:endParaRPr>
          </a:p>
          <a:p>
            <a:endParaRPr lang="en-GB" sz="1400" dirty="0">
              <a:solidFill>
                <a:schemeClr val="bg1"/>
              </a:solidFill>
              <a:latin typeface="Garamond Premr Pro" panose="02020402060506020403" pitchFamily="18" charset="0"/>
            </a:endParaRPr>
          </a:p>
        </p:txBody>
      </p:sp>
      <p:sp>
        <p:nvSpPr>
          <p:cNvPr id="2" name="Text 2">
            <a:extLst>
              <a:ext uri="{FF2B5EF4-FFF2-40B4-BE49-F238E27FC236}">
                <a16:creationId xmlns:a16="http://schemas.microsoft.com/office/drawing/2014/main" id="{D08D1936-9F0F-CB86-1B8E-CB8E0CEF1A7A}"/>
              </a:ext>
            </a:extLst>
          </p:cNvPr>
          <p:cNvSpPr/>
          <p:nvPr/>
        </p:nvSpPr>
        <p:spPr>
          <a:xfrm>
            <a:off x="4730496" y="1325835"/>
            <a:ext cx="3962400" cy="342900"/>
          </a:xfrm>
          <a:prstGeom prst="rect">
            <a:avLst/>
          </a:prstGeom>
          <a:noFill/>
          <a:ln/>
        </p:spPr>
        <p:txBody>
          <a:bodyPr wrap="square" lIns="0" tIns="0" rIns="0" bIns="0" rtlCol="0" anchor="t"/>
          <a:lstStyle/>
          <a:p>
            <a:r>
              <a:rPr lang="en-GB" sz="1400" dirty="0">
                <a:solidFill>
                  <a:schemeClr val="bg1"/>
                </a:solidFill>
                <a:latin typeface="Garamond Premr Pro" panose="02020402060506020403" pitchFamily="18" charset="0"/>
              </a:rPr>
              <a:t>3. Link Tax Incentives to Measurable Carbon and Land-Use Caps</a:t>
            </a:r>
          </a:p>
          <a:p>
            <a:endParaRPr lang="en-GB" sz="1400" dirty="0">
              <a:solidFill>
                <a:schemeClr val="bg1"/>
              </a:solidFill>
              <a:latin typeface="Garamond Premr Pro" panose="02020402060506020403" pitchFamily="18" charset="0"/>
            </a:endParaRPr>
          </a:p>
          <a:p>
            <a:r>
              <a:rPr lang="en-GB" sz="1400" dirty="0">
                <a:solidFill>
                  <a:schemeClr val="bg1"/>
                </a:solidFill>
                <a:latin typeface="Garamond Premr Pro" panose="02020402060506020403" pitchFamily="18" charset="0"/>
              </a:rPr>
              <a:t>   Implementation:</a:t>
            </a:r>
          </a:p>
          <a:p>
            <a:r>
              <a:rPr lang="en-GB" sz="1400" dirty="0">
                <a:solidFill>
                  <a:schemeClr val="bg1"/>
                </a:solidFill>
                <a:latin typeface="Garamond Premr Pro" panose="02020402060506020403" pitchFamily="18" charset="0"/>
              </a:rPr>
              <a:t>   &gt;UK Film Tax Relief eligibility conditional on:</a:t>
            </a:r>
          </a:p>
          <a:p>
            <a:r>
              <a:rPr lang="en-GB" sz="1400" dirty="0">
                <a:solidFill>
                  <a:schemeClr val="bg1"/>
                </a:solidFill>
                <a:latin typeface="Garamond Premr Pro" panose="02020402060506020403" pitchFamily="18" charset="0"/>
              </a:rPr>
              <a:t>      - Maximum 2 hectares new hard-surfacing per production hub</a:t>
            </a:r>
          </a:p>
          <a:p>
            <a:r>
              <a:rPr lang="en-GB" sz="1400" dirty="0">
                <a:solidFill>
                  <a:schemeClr val="bg1"/>
                </a:solidFill>
                <a:latin typeface="Garamond Premr Pro" panose="02020402060506020403" pitchFamily="18" charset="0"/>
              </a:rPr>
              <a:t>      - 100% renewable energy procurement for virtual stages</a:t>
            </a:r>
          </a:p>
          <a:p>
            <a:r>
              <a:rPr lang="en-GB" sz="1400" dirty="0">
                <a:solidFill>
                  <a:schemeClr val="bg1"/>
                </a:solidFill>
                <a:latin typeface="Garamond Premr Pro" panose="02020402060506020403" pitchFamily="18" charset="0"/>
              </a:rPr>
              <a:t>   &gt;Tiered tax rates: 25% relief for compliant studios, 15% for non-compliant</a:t>
            </a:r>
          </a:p>
          <a:p>
            <a:endParaRPr lang="en-GB" sz="1400" dirty="0">
              <a:solidFill>
                <a:schemeClr val="bg1"/>
              </a:solidFill>
              <a:latin typeface="Garamond Premr Pro" panose="02020402060506020403" pitchFamily="18" charset="0"/>
            </a:endParaRPr>
          </a:p>
          <a:p>
            <a:r>
              <a:rPr lang="en-GB" sz="1400" dirty="0">
                <a:solidFill>
                  <a:schemeClr val="bg1"/>
                </a:solidFill>
                <a:latin typeface="Garamond Premr Pro" panose="02020402060506020403" pitchFamily="18" charset="0"/>
              </a:rPr>
              <a:t>   Rationale:</a:t>
            </a:r>
          </a:p>
          <a:p>
            <a:r>
              <a:rPr lang="en-GB" sz="1400" dirty="0">
                <a:solidFill>
                  <a:schemeClr val="bg1"/>
                </a:solidFill>
                <a:latin typeface="Garamond Premr Pro" panose="02020402060506020403" pitchFamily="18" charset="0"/>
              </a:rPr>
              <a:t>   &gt;Current £322.7M/yr operational GVA benefits from tax incentives without environmental conditionality</a:t>
            </a:r>
          </a:p>
          <a:p>
            <a:r>
              <a:rPr lang="en-GB" sz="1400" dirty="0">
                <a:solidFill>
                  <a:schemeClr val="bg1"/>
                </a:solidFill>
                <a:latin typeface="Garamond Premr Pro" panose="02020402060506020403" pitchFamily="18" charset="0"/>
              </a:rPr>
              <a:t>   &gt;Caps incentivise technology efficiency rather than</a:t>
            </a:r>
            <a:r>
              <a:rPr lang="zh-CN" altLang="en-US" sz="1400" dirty="0">
                <a:solidFill>
                  <a:schemeClr val="bg1"/>
                </a:solidFill>
                <a:latin typeface="Garamond Premr Pro" panose="02020402060506020403" pitchFamily="18" charset="0"/>
              </a:rPr>
              <a:t> </a:t>
            </a:r>
            <a:r>
              <a:rPr lang="en-GB" sz="1400" dirty="0">
                <a:solidFill>
                  <a:schemeClr val="bg1"/>
                </a:solidFill>
                <a:latin typeface="Garamond Premr Pro" panose="02020402060506020403" pitchFamily="18" charset="0"/>
              </a:rPr>
              <a:t>spatial expansion</a:t>
            </a:r>
          </a:p>
        </p:txBody>
      </p:sp>
    </p:spTree>
    <p:extLst>
      <p:ext uri="{BB962C8B-B14F-4D97-AF65-F5344CB8AC3E}">
        <p14:creationId xmlns:p14="http://schemas.microsoft.com/office/powerpoint/2010/main" val="2992119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3" name="Text 1"/>
          <p:cNvSpPr/>
          <p:nvPr/>
        </p:nvSpPr>
        <p:spPr>
          <a:xfrm>
            <a:off x="219307" y="457898"/>
            <a:ext cx="7924800" cy="304800"/>
          </a:xfrm>
          <a:prstGeom prst="rect">
            <a:avLst/>
          </a:prstGeom>
          <a:noFill/>
          <a:ln/>
        </p:spPr>
        <p:txBody>
          <a:bodyPr wrap="square" lIns="0" tIns="0" rIns="0" bIns="0" rtlCol="0" anchor="t"/>
          <a:lstStyle/>
          <a:p>
            <a:pPr marL="0" indent="0">
              <a:lnSpc>
                <a:spcPct val="150000"/>
              </a:lnSpc>
              <a:buNone/>
            </a:pPr>
            <a:r>
              <a:rPr lang="en-US" sz="1500" b="1" dirty="0">
                <a:solidFill>
                  <a:schemeClr val="bg1">
                    <a:lumMod val="85000"/>
                  </a:schemeClr>
                </a:solidFill>
                <a:latin typeface="Garamond" pitchFamily="34" charset="0"/>
                <a:ea typeface="Garamond" pitchFamily="34" charset="-122"/>
                <a:cs typeface="Garamond" pitchFamily="34" charset="-120"/>
              </a:rPr>
              <a:t>Online Articles and Media</a:t>
            </a:r>
            <a:endParaRPr lang="en-US" sz="1500" dirty="0">
              <a:solidFill>
                <a:schemeClr val="bg1">
                  <a:lumMod val="85000"/>
                </a:schemeClr>
              </a:solidFill>
            </a:endParaRPr>
          </a:p>
        </p:txBody>
      </p:sp>
      <p:sp>
        <p:nvSpPr>
          <p:cNvPr id="4" name="Text 2"/>
          <p:cNvSpPr/>
          <p:nvPr/>
        </p:nvSpPr>
        <p:spPr>
          <a:xfrm>
            <a:off x="0" y="862924"/>
            <a:ext cx="8302603" cy="1834177"/>
          </a:xfrm>
          <a:prstGeom prst="rect">
            <a:avLst/>
          </a:prstGeom>
          <a:noFill/>
          <a:ln/>
        </p:spPr>
        <p:txBody>
          <a:bodyPr wrap="square" lIns="0" tIns="0" rIns="0" bIns="0" rtlCol="0" anchor="t"/>
          <a:lstStyle/>
          <a:p>
            <a:pPr>
              <a:lnSpc>
                <a:spcPct val="150000"/>
              </a:lnSpc>
            </a:pPr>
            <a:r>
              <a:rPr lang="en-GB" sz="1400" dirty="0">
                <a:solidFill>
                  <a:schemeClr val="bg1">
                    <a:lumMod val="75000"/>
                  </a:schemeClr>
                </a:solidFill>
                <a:latin typeface="Garamond Premr Pro" panose="02020402060506020403" pitchFamily="18" charset="0"/>
              </a:rPr>
              <a:t>Animation World Network. (2020) </a:t>
            </a:r>
            <a:r>
              <a:rPr lang="en-GB" sz="1400" i="1" dirty="0">
                <a:solidFill>
                  <a:schemeClr val="bg1">
                    <a:lumMod val="75000"/>
                  </a:schemeClr>
                </a:solidFill>
                <a:latin typeface="Garamond Premr Pro" panose="02020402060506020403" pitchFamily="18" charset="0"/>
              </a:rPr>
              <a:t>Epic Games releases free 15-hour virtual production primer</a:t>
            </a:r>
            <a:r>
              <a:rPr lang="en-GB" sz="1400" dirty="0">
                <a:solidFill>
                  <a:schemeClr val="bg1">
                    <a:lumMod val="75000"/>
                  </a:schemeClr>
                </a:solidFill>
                <a:latin typeface="Garamond Premr Pro" panose="02020402060506020403" pitchFamily="18" charset="0"/>
              </a:rPr>
              <a:t>. Available at: </a:t>
            </a:r>
            <a:r>
              <a:rPr lang="en-GB" sz="1400" dirty="0">
                <a:solidFill>
                  <a:schemeClr val="bg1">
                    <a:lumMod val="75000"/>
                  </a:schemeClr>
                </a:solidFill>
                <a:latin typeface="Garamond Premr Pro" panose="02020402060506020403" pitchFamily="18" charset="0"/>
                <a:hlinkClick r:id="rId3">
                  <a:extLst>
                    <a:ext uri="{A12FA001-AC4F-418D-AE19-62706E023703}">
                      <ahyp:hlinkClr xmlns:ahyp="http://schemas.microsoft.com/office/drawing/2018/hyperlinkcolor" val="tx"/>
                    </a:ext>
                  </a:extLst>
                </a:hlinkClick>
              </a:rPr>
              <a:t>https://www.awn.com/news/epic-games-releases-free-15-hour-virtual-production-primer</a:t>
            </a:r>
            <a:r>
              <a:rPr lang="en-GB" sz="1400" dirty="0">
                <a:solidFill>
                  <a:schemeClr val="bg1">
                    <a:lumMod val="75000"/>
                  </a:schemeClr>
                </a:solidFill>
                <a:latin typeface="Garamond Premr Pro" panose="02020402060506020403" pitchFamily="18" charset="0"/>
              </a:rPr>
              <a:t> (Accessed: 3 March 2026)</a:t>
            </a:r>
            <a:br>
              <a:rPr lang="en-GB" altLang="zh-CN" sz="1400" dirty="0">
                <a:solidFill>
                  <a:schemeClr val="bg1">
                    <a:lumMod val="75000"/>
                  </a:schemeClr>
                </a:solidFill>
                <a:latin typeface="Garamond Premr Pro" panose="02020402060506020403" pitchFamily="18" charset="0"/>
              </a:rPr>
            </a:br>
            <a:endParaRPr lang="en-GB" sz="1400" dirty="0">
              <a:solidFill>
                <a:schemeClr val="bg1">
                  <a:lumMod val="75000"/>
                </a:schemeClr>
              </a:solidFill>
              <a:latin typeface="Garamond Premr Pro" panose="02020402060506020403" pitchFamily="18" charset="0"/>
            </a:endParaRPr>
          </a:p>
        </p:txBody>
      </p:sp>
      <p:sp>
        <p:nvSpPr>
          <p:cNvPr id="6" name="Text 0">
            <a:extLst>
              <a:ext uri="{FF2B5EF4-FFF2-40B4-BE49-F238E27FC236}">
                <a16:creationId xmlns:a16="http://schemas.microsoft.com/office/drawing/2014/main" id="{81E4F076-65C4-74D5-6843-7A3BCFB8BB6D}"/>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00C9A89-3B90-16F5-6311-C544AD6CF3C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D4789EA-FB0D-6748-D9FD-F1C2E7F5D15F}"/>
              </a:ext>
            </a:extLst>
          </p:cNvPr>
          <p:cNvSpPr/>
          <p:nvPr/>
        </p:nvSpPr>
        <p:spPr>
          <a:xfrm>
            <a:off x="254000" y="332547"/>
            <a:ext cx="7924800" cy="304800"/>
          </a:xfrm>
          <a:prstGeom prst="rect">
            <a:avLst/>
          </a:prstGeom>
          <a:noFill/>
          <a:ln/>
        </p:spPr>
        <p:txBody>
          <a:bodyPr wrap="square" lIns="0" tIns="0" rIns="0" bIns="0" rtlCol="0" anchor="t"/>
          <a:lstStyle/>
          <a:p>
            <a:pPr marL="0" indent="0">
              <a:lnSpc>
                <a:spcPct val="150000"/>
              </a:lnSpc>
              <a:buNone/>
            </a:pPr>
            <a:r>
              <a:rPr lang="en-US" sz="1500" b="1" dirty="0">
                <a:solidFill>
                  <a:schemeClr val="bg1">
                    <a:lumMod val="85000"/>
                  </a:schemeClr>
                </a:solidFill>
                <a:latin typeface="Garamond" pitchFamily="34" charset="0"/>
                <a:ea typeface="Garamond" pitchFamily="34" charset="-122"/>
                <a:cs typeface="Garamond" pitchFamily="34" charset="-120"/>
              </a:rPr>
              <a:t>Academic Literature</a:t>
            </a:r>
            <a:endParaRPr lang="en-US" sz="1500" dirty="0">
              <a:solidFill>
                <a:schemeClr val="bg1">
                  <a:lumMod val="85000"/>
                </a:schemeClr>
              </a:solidFill>
            </a:endParaRPr>
          </a:p>
        </p:txBody>
      </p:sp>
      <p:sp>
        <p:nvSpPr>
          <p:cNvPr id="4" name="Text 2">
            <a:extLst>
              <a:ext uri="{FF2B5EF4-FFF2-40B4-BE49-F238E27FC236}">
                <a16:creationId xmlns:a16="http://schemas.microsoft.com/office/drawing/2014/main" id="{258BA6C4-5F88-9E6E-7478-7F7570021072}"/>
              </a:ext>
            </a:extLst>
          </p:cNvPr>
          <p:cNvSpPr/>
          <p:nvPr/>
        </p:nvSpPr>
        <p:spPr>
          <a:xfrm>
            <a:off x="0" y="737573"/>
            <a:ext cx="9144000" cy="1834177"/>
          </a:xfrm>
          <a:prstGeom prst="rect">
            <a:avLst/>
          </a:prstGeom>
          <a:noFill/>
          <a:ln/>
        </p:spPr>
        <p:txBody>
          <a:bodyPr wrap="square" lIns="0" tIns="0" rIns="0" bIns="0" rtlCol="0" anchor="t"/>
          <a:lstStyle/>
          <a:p>
            <a:pPr>
              <a:lnSpc>
                <a:spcPct val="150000"/>
              </a:lnSpc>
            </a:pPr>
            <a:r>
              <a:rPr lang="en-GB" sz="1400" dirty="0">
                <a:solidFill>
                  <a:schemeClr val="bg1">
                    <a:lumMod val="75000"/>
                  </a:schemeClr>
                </a:solidFill>
                <a:latin typeface="Garamond Premr Pro" panose="02020402060506020403" pitchFamily="18" charset="0"/>
              </a:rPr>
              <a:t>Bozak, N. (2012) </a:t>
            </a:r>
            <a:r>
              <a:rPr lang="en-GB" sz="1400" i="1" dirty="0">
                <a:solidFill>
                  <a:schemeClr val="bg1">
                    <a:lumMod val="75000"/>
                  </a:schemeClr>
                </a:solidFill>
                <a:latin typeface="Garamond Premr Pro" panose="02020402060506020403" pitchFamily="18" charset="0"/>
              </a:rPr>
              <a:t>The Cinematic Footprint: Lights, Camera, Natural Resources</a:t>
            </a:r>
            <a:r>
              <a:rPr lang="en-GB" sz="1400" dirty="0">
                <a:solidFill>
                  <a:schemeClr val="bg1">
                    <a:lumMod val="75000"/>
                  </a:schemeClr>
                </a:solidFill>
                <a:latin typeface="Garamond Premr Pro" panose="02020402060506020403" pitchFamily="18" charset="0"/>
              </a:rPr>
              <a:t>. New Brunswick, NJ: Rutgers University Press.</a:t>
            </a:r>
          </a:p>
          <a:p>
            <a:pPr>
              <a:lnSpc>
                <a:spcPct val="150000"/>
              </a:lnSpc>
            </a:pPr>
            <a:r>
              <a:rPr lang="en-GB" sz="1400" dirty="0" err="1">
                <a:solidFill>
                  <a:schemeClr val="bg1">
                    <a:lumMod val="75000"/>
                  </a:schemeClr>
                </a:solidFill>
                <a:latin typeface="Garamond Premr Pro" panose="02020402060506020403" pitchFamily="18" charset="0"/>
              </a:rPr>
              <a:t>Formenti</a:t>
            </a:r>
            <a:r>
              <a:rPr lang="en-GB" sz="1400" dirty="0">
                <a:solidFill>
                  <a:schemeClr val="bg1">
                    <a:lumMod val="75000"/>
                  </a:schemeClr>
                </a:solidFill>
                <a:latin typeface="Garamond Premr Pro" panose="02020402060506020403" pitchFamily="18" charset="0"/>
              </a:rPr>
              <a:t>, C. (2024) 'The environmental footprint of animated realism: An </a:t>
            </a:r>
            <a:r>
              <a:rPr lang="en-GB" sz="1400" dirty="0" err="1">
                <a:solidFill>
                  <a:schemeClr val="bg1">
                    <a:lumMod val="75000"/>
                  </a:schemeClr>
                </a:solidFill>
                <a:latin typeface="Garamond Premr Pro" panose="02020402060506020403" pitchFamily="18" charset="0"/>
              </a:rPr>
              <a:t>ecomaterialist</a:t>
            </a:r>
            <a:r>
              <a:rPr lang="en-GB" sz="1400" dirty="0">
                <a:solidFill>
                  <a:schemeClr val="bg1">
                    <a:lumMod val="75000"/>
                  </a:schemeClr>
                </a:solidFill>
                <a:latin typeface="Garamond Premr Pro" panose="02020402060506020403" pitchFamily="18" charset="0"/>
              </a:rPr>
              <a:t> exploration of contemporary digital animated documentaries', </a:t>
            </a:r>
            <a:r>
              <a:rPr lang="en-GB" sz="1400" i="1" dirty="0" err="1">
                <a:solidFill>
                  <a:schemeClr val="bg1">
                    <a:lumMod val="75000"/>
                  </a:schemeClr>
                </a:solidFill>
                <a:latin typeface="Garamond Premr Pro" panose="02020402060506020403" pitchFamily="18" charset="0"/>
              </a:rPr>
              <a:t>NECSUS_European</a:t>
            </a:r>
            <a:r>
              <a:rPr lang="en-GB" sz="1400" i="1" dirty="0">
                <a:solidFill>
                  <a:schemeClr val="bg1">
                    <a:lumMod val="75000"/>
                  </a:schemeClr>
                </a:solidFill>
                <a:latin typeface="Garamond Premr Pro" panose="02020402060506020403" pitchFamily="18" charset="0"/>
              </a:rPr>
              <a:t> Journal of Media Studies</a:t>
            </a:r>
            <a:r>
              <a:rPr lang="en-GB" sz="1400" dirty="0">
                <a:solidFill>
                  <a:schemeClr val="bg1">
                    <a:lumMod val="75000"/>
                  </a:schemeClr>
                </a:solidFill>
                <a:latin typeface="Garamond Premr Pro" panose="02020402060506020403" pitchFamily="18" charset="0"/>
              </a:rPr>
              <a:t>, 13(1), pp. 221-241.</a:t>
            </a:r>
          </a:p>
          <a:p>
            <a:pPr>
              <a:lnSpc>
                <a:spcPct val="150000"/>
              </a:lnSpc>
            </a:pPr>
            <a:r>
              <a:rPr lang="en-GB" sz="1400" dirty="0">
                <a:solidFill>
                  <a:schemeClr val="bg1">
                    <a:lumMod val="75000"/>
                  </a:schemeClr>
                </a:solidFill>
                <a:latin typeface="Garamond Premr Pro" panose="02020402060506020403" pitchFamily="18" charset="0"/>
              </a:rPr>
              <a:t>Gorelick, N., Hancher, M., Dixon, M., </a:t>
            </a:r>
            <a:r>
              <a:rPr lang="en-GB" sz="1400" dirty="0" err="1">
                <a:solidFill>
                  <a:schemeClr val="bg1">
                    <a:lumMod val="75000"/>
                  </a:schemeClr>
                </a:solidFill>
                <a:latin typeface="Garamond Premr Pro" panose="02020402060506020403" pitchFamily="18" charset="0"/>
              </a:rPr>
              <a:t>Ilyushchenko</a:t>
            </a:r>
            <a:r>
              <a:rPr lang="en-GB" sz="1400" dirty="0">
                <a:solidFill>
                  <a:schemeClr val="bg1">
                    <a:lumMod val="75000"/>
                  </a:schemeClr>
                </a:solidFill>
                <a:latin typeface="Garamond Premr Pro" panose="02020402060506020403" pitchFamily="18" charset="0"/>
              </a:rPr>
              <a:t>, S., Thau, D. and Moore, R. (2017) 'Google Earth Engine: Planetary-scale geospatial analysis for everyone', </a:t>
            </a:r>
            <a:r>
              <a:rPr lang="en-GB" sz="1400" i="1" dirty="0">
                <a:solidFill>
                  <a:schemeClr val="bg1">
                    <a:lumMod val="75000"/>
                  </a:schemeClr>
                </a:solidFill>
                <a:latin typeface="Garamond Premr Pro" panose="02020402060506020403" pitchFamily="18" charset="0"/>
              </a:rPr>
              <a:t>Remote Sensing of Environment</a:t>
            </a:r>
            <a:r>
              <a:rPr lang="en-GB" sz="1400" dirty="0">
                <a:solidFill>
                  <a:schemeClr val="bg1">
                    <a:lumMod val="75000"/>
                  </a:schemeClr>
                </a:solidFill>
                <a:latin typeface="Garamond Premr Pro" panose="02020402060506020403" pitchFamily="18" charset="0"/>
              </a:rPr>
              <a:t>, 202, pp. 18-27.</a:t>
            </a:r>
          </a:p>
          <a:p>
            <a:pPr>
              <a:lnSpc>
                <a:spcPct val="150000"/>
              </a:lnSpc>
            </a:pPr>
            <a:r>
              <a:rPr lang="en-GB" sz="1400" dirty="0">
                <a:solidFill>
                  <a:schemeClr val="bg1">
                    <a:lumMod val="75000"/>
                  </a:schemeClr>
                </a:solidFill>
                <a:latin typeface="Garamond Premr Pro" panose="02020402060506020403" pitchFamily="18" charset="0"/>
              </a:rPr>
              <a:t>Greene, D. and Joseph, D. (2015) 'The Digital Spatial Fix', </a:t>
            </a:r>
            <a:r>
              <a:rPr lang="en-GB" sz="1400" i="1" dirty="0" err="1">
                <a:solidFill>
                  <a:schemeClr val="bg1">
                    <a:lumMod val="75000"/>
                  </a:schemeClr>
                </a:solidFill>
                <a:latin typeface="Garamond Premr Pro" panose="02020402060506020403" pitchFamily="18" charset="0"/>
              </a:rPr>
              <a:t>tripleC</a:t>
            </a:r>
            <a:r>
              <a:rPr lang="en-GB" sz="1400" i="1" dirty="0">
                <a:solidFill>
                  <a:schemeClr val="bg1">
                    <a:lumMod val="75000"/>
                  </a:schemeClr>
                </a:solidFill>
                <a:latin typeface="Garamond Premr Pro" panose="02020402060506020403" pitchFamily="18" charset="0"/>
              </a:rPr>
              <a:t>: Communication, Capitalism &amp; Critique</a:t>
            </a:r>
            <a:r>
              <a:rPr lang="en-GB" sz="1400" dirty="0">
                <a:solidFill>
                  <a:schemeClr val="bg1">
                    <a:lumMod val="75000"/>
                  </a:schemeClr>
                </a:solidFill>
                <a:latin typeface="Garamond Premr Pro" panose="02020402060506020403" pitchFamily="18" charset="0"/>
              </a:rPr>
              <a:t>, 13(2), pp. 223-247.</a:t>
            </a:r>
          </a:p>
          <a:p>
            <a:pPr>
              <a:lnSpc>
                <a:spcPct val="150000"/>
              </a:lnSpc>
            </a:pPr>
            <a:r>
              <a:rPr lang="en-GB" sz="1400" dirty="0">
                <a:solidFill>
                  <a:schemeClr val="bg1">
                    <a:lumMod val="75000"/>
                  </a:schemeClr>
                </a:solidFill>
                <a:latin typeface="Garamond Premr Pro" panose="02020402060506020403" pitchFamily="18" charset="0"/>
              </a:rPr>
              <a:t>Harvey, D. (2004) 'The 'New' Imperialism: Accumulation by Dispossession', </a:t>
            </a:r>
            <a:r>
              <a:rPr lang="en-GB" sz="1400" i="1" dirty="0">
                <a:solidFill>
                  <a:schemeClr val="bg1">
                    <a:lumMod val="75000"/>
                  </a:schemeClr>
                </a:solidFill>
                <a:latin typeface="Garamond Premr Pro" panose="02020402060506020403" pitchFamily="18" charset="0"/>
              </a:rPr>
              <a:t>Socialist Register</a:t>
            </a:r>
            <a:r>
              <a:rPr lang="en-GB" sz="1400" dirty="0">
                <a:solidFill>
                  <a:schemeClr val="bg1">
                    <a:lumMod val="75000"/>
                  </a:schemeClr>
                </a:solidFill>
                <a:latin typeface="Garamond Premr Pro" panose="02020402060506020403" pitchFamily="18" charset="0"/>
              </a:rPr>
              <a:t>, 40, pp. 63-87.</a:t>
            </a:r>
          </a:p>
          <a:p>
            <a:pPr>
              <a:lnSpc>
                <a:spcPct val="150000"/>
              </a:lnSpc>
            </a:pPr>
            <a:r>
              <a:rPr lang="en-GB" sz="1400" dirty="0">
                <a:solidFill>
                  <a:schemeClr val="bg1">
                    <a:lumMod val="75000"/>
                  </a:schemeClr>
                </a:solidFill>
                <a:latin typeface="Garamond Premr Pro" panose="02020402060506020403" pitchFamily="18" charset="0"/>
              </a:rPr>
              <a:t>Keeney, D. (2024) </a:t>
            </a:r>
            <a:r>
              <a:rPr lang="en-GB" sz="1400" i="1" dirty="0">
                <a:solidFill>
                  <a:schemeClr val="bg1">
                    <a:lumMod val="75000"/>
                  </a:schemeClr>
                </a:solidFill>
                <a:latin typeface="Garamond Premr Pro" panose="02020402060506020403" pitchFamily="18" charset="0"/>
              </a:rPr>
              <a:t>Virtual Production's Role in Carbon Reduction and Net Zero Production in the Screen Industries</a:t>
            </a:r>
            <a:r>
              <a:rPr lang="en-GB" sz="1400" dirty="0">
                <a:solidFill>
                  <a:schemeClr val="bg1">
                    <a:lumMod val="75000"/>
                  </a:schemeClr>
                </a:solidFill>
                <a:latin typeface="Garamond Premr Pro" panose="02020402060506020403" pitchFamily="18" charset="0"/>
              </a:rPr>
              <a:t>. Future Observatory Cultural Policy Fellowship Report. London: Arts and Humanities Research Council.</a:t>
            </a:r>
          </a:p>
          <a:p>
            <a:pPr>
              <a:lnSpc>
                <a:spcPct val="150000"/>
              </a:lnSpc>
            </a:pPr>
            <a:r>
              <a:rPr lang="en-GB" sz="1400" dirty="0">
                <a:solidFill>
                  <a:schemeClr val="bg1">
                    <a:lumMod val="75000"/>
                  </a:schemeClr>
                </a:solidFill>
                <a:latin typeface="Garamond Premr Pro" panose="02020402060506020403" pitchFamily="18" charset="0"/>
              </a:rPr>
              <a:t>Maxwell, R. and Miller, T. (2012) </a:t>
            </a:r>
            <a:r>
              <a:rPr lang="en-GB" sz="1400" i="1" dirty="0">
                <a:solidFill>
                  <a:schemeClr val="bg1">
                    <a:lumMod val="75000"/>
                  </a:schemeClr>
                </a:solidFill>
                <a:latin typeface="Garamond Premr Pro" panose="02020402060506020403" pitchFamily="18" charset="0"/>
              </a:rPr>
              <a:t>Greening the Media</a:t>
            </a:r>
            <a:r>
              <a:rPr lang="en-GB" sz="1400" dirty="0">
                <a:solidFill>
                  <a:schemeClr val="bg1">
                    <a:lumMod val="75000"/>
                  </a:schemeClr>
                </a:solidFill>
                <a:latin typeface="Garamond Premr Pro" panose="02020402060506020403" pitchFamily="18" charset="0"/>
              </a:rPr>
              <a:t>. New York: Oxford University Press.</a:t>
            </a:r>
          </a:p>
          <a:p>
            <a:pPr>
              <a:lnSpc>
                <a:spcPct val="150000"/>
              </a:lnSpc>
            </a:pPr>
            <a:r>
              <a:rPr lang="en-GB" sz="1400" dirty="0">
                <a:solidFill>
                  <a:schemeClr val="bg1">
                    <a:lumMod val="75000"/>
                  </a:schemeClr>
                </a:solidFill>
                <a:latin typeface="Garamond Premr Pro" panose="02020402060506020403" pitchFamily="18" charset="0"/>
              </a:rPr>
              <a:t>Sharma, P. (2024) ‘The Jevons Paradox In Cloud Computing: A Thermodynamics Perspective’, </a:t>
            </a:r>
            <a:r>
              <a:rPr lang="en-GB" sz="1400" i="1" dirty="0">
                <a:solidFill>
                  <a:schemeClr val="bg1">
                    <a:lumMod val="75000"/>
                  </a:schemeClr>
                </a:solidFill>
                <a:latin typeface="Garamond Premr Pro" panose="02020402060506020403" pitchFamily="18" charset="0"/>
              </a:rPr>
              <a:t>ACM Conference Preprint</a:t>
            </a:r>
            <a:r>
              <a:rPr lang="en-GB" sz="1400" dirty="0">
                <a:solidFill>
                  <a:schemeClr val="bg1">
                    <a:lumMod val="75000"/>
                  </a:schemeClr>
                </a:solidFill>
                <a:latin typeface="Garamond Premr Pro" panose="02020402060506020403" pitchFamily="18" charset="0"/>
              </a:rPr>
              <a:t>. Association for Computing Machinery. Available at: https://</a:t>
            </a:r>
            <a:r>
              <a:rPr lang="en-GB" sz="1400" dirty="0" err="1">
                <a:solidFill>
                  <a:schemeClr val="bg1">
                    <a:lumMod val="75000"/>
                  </a:schemeClr>
                </a:solidFill>
                <a:latin typeface="Garamond Premr Pro" panose="02020402060506020403" pitchFamily="18" charset="0"/>
              </a:rPr>
              <a:t>doi.org</a:t>
            </a:r>
            <a:r>
              <a:rPr lang="en-GB" sz="1400" dirty="0">
                <a:solidFill>
                  <a:schemeClr val="bg1">
                    <a:lumMod val="75000"/>
                  </a:schemeClr>
                </a:solidFill>
                <a:latin typeface="Garamond Premr Pro" panose="02020402060506020403" pitchFamily="18" charset="0"/>
              </a:rPr>
              <a:t>/10.48550/arXiv.2411.11540 (Accessed: </a:t>
            </a:r>
            <a:r>
              <a:rPr lang="en-US" altLang="zh-CN" sz="1400" dirty="0">
                <a:solidFill>
                  <a:schemeClr val="bg1">
                    <a:lumMod val="75000"/>
                  </a:schemeClr>
                </a:solidFill>
                <a:latin typeface="Garamond Premr Pro" panose="02020402060506020403" pitchFamily="18" charset="0"/>
              </a:rPr>
              <a:t>3</a:t>
            </a:r>
            <a:r>
              <a:rPr lang="zh-CN" altLang="en-US" sz="1400" dirty="0">
                <a:solidFill>
                  <a:schemeClr val="bg1">
                    <a:lumMod val="75000"/>
                  </a:schemeClr>
                </a:solidFill>
                <a:latin typeface="Garamond Premr Pro" panose="02020402060506020403" pitchFamily="18" charset="0"/>
              </a:rPr>
              <a:t> </a:t>
            </a:r>
            <a:r>
              <a:rPr lang="en-GB" sz="1400" dirty="0">
                <a:solidFill>
                  <a:schemeClr val="bg1">
                    <a:lumMod val="75000"/>
                  </a:schemeClr>
                </a:solidFill>
                <a:latin typeface="Garamond Premr Pro" panose="02020402060506020403" pitchFamily="18" charset="0"/>
              </a:rPr>
              <a:t>March 2026).</a:t>
            </a:r>
          </a:p>
          <a:p>
            <a:pPr>
              <a:lnSpc>
                <a:spcPct val="150000"/>
              </a:lnSpc>
            </a:pPr>
            <a:r>
              <a:rPr lang="en-GB" sz="1400" dirty="0">
                <a:solidFill>
                  <a:schemeClr val="bg1">
                    <a:lumMod val="75000"/>
                  </a:schemeClr>
                </a:solidFill>
                <a:latin typeface="Garamond Premr Pro" panose="02020402060506020403" pitchFamily="18" charset="0"/>
              </a:rPr>
              <a:t>Vaughan, H. (2019) </a:t>
            </a:r>
            <a:r>
              <a:rPr lang="en-GB" sz="1400" i="1" dirty="0">
                <a:solidFill>
                  <a:schemeClr val="bg1">
                    <a:lumMod val="75000"/>
                  </a:schemeClr>
                </a:solidFill>
                <a:latin typeface="Garamond Premr Pro" panose="02020402060506020403" pitchFamily="18" charset="0"/>
              </a:rPr>
              <a:t>Hollywood's Dirtiest Secret: The Hidden Environmental Costs of the Movies</a:t>
            </a:r>
            <a:r>
              <a:rPr lang="en-GB" sz="1400" dirty="0">
                <a:solidFill>
                  <a:schemeClr val="bg1">
                    <a:lumMod val="75000"/>
                  </a:schemeClr>
                </a:solidFill>
                <a:latin typeface="Garamond Premr Pro" panose="02020402060506020403" pitchFamily="18" charset="0"/>
              </a:rPr>
              <a:t>. New York: Columbia University Press.</a:t>
            </a:r>
          </a:p>
        </p:txBody>
      </p:sp>
      <p:sp>
        <p:nvSpPr>
          <p:cNvPr id="6" name="Text 0">
            <a:extLst>
              <a:ext uri="{FF2B5EF4-FFF2-40B4-BE49-F238E27FC236}">
                <a16:creationId xmlns:a16="http://schemas.microsoft.com/office/drawing/2014/main" id="{86AA263B-646B-C58E-C04D-5C16028C6A64}"/>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Tree>
    <p:extLst>
      <p:ext uri="{BB962C8B-B14F-4D97-AF65-F5344CB8AC3E}">
        <p14:creationId xmlns:p14="http://schemas.microsoft.com/office/powerpoint/2010/main" val="3620120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D0DBEF9-0162-7D00-2331-CBAFEFE21E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69F066-9F73-2E4D-005D-CEA42EAF61D5}"/>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
        <p:nvSpPr>
          <p:cNvPr id="3" name="Text 1">
            <a:extLst>
              <a:ext uri="{FF2B5EF4-FFF2-40B4-BE49-F238E27FC236}">
                <a16:creationId xmlns:a16="http://schemas.microsoft.com/office/drawing/2014/main" id="{B61BF7CD-1C21-5FE3-5AB7-6032A7849731}"/>
              </a:ext>
            </a:extLst>
          </p:cNvPr>
          <p:cNvSpPr/>
          <p:nvPr/>
        </p:nvSpPr>
        <p:spPr>
          <a:xfrm>
            <a:off x="254000" y="428513"/>
            <a:ext cx="7924800" cy="304800"/>
          </a:xfrm>
          <a:prstGeom prst="rect">
            <a:avLst/>
          </a:prstGeom>
          <a:noFill/>
          <a:ln/>
        </p:spPr>
        <p:txBody>
          <a:bodyPr wrap="square" lIns="0" tIns="0" rIns="0" bIns="0" rtlCol="0" anchor="t"/>
          <a:lstStyle/>
          <a:p>
            <a:pPr>
              <a:lnSpc>
                <a:spcPts val="1350"/>
              </a:lnSpc>
            </a:pPr>
            <a:r>
              <a:rPr lang="en-US" sz="1500" b="1" dirty="0">
                <a:solidFill>
                  <a:schemeClr val="bg1">
                    <a:lumMod val="85000"/>
                  </a:schemeClr>
                </a:solidFill>
                <a:latin typeface="Garamond Premr Pro" panose="02020402060506020403" pitchFamily="18" charset="0"/>
                <a:ea typeface="Courier New" pitchFamily="34" charset="-122"/>
                <a:cs typeface="Courier New" pitchFamily="34" charset="-120"/>
              </a:rPr>
              <a:t>Institutional Dossiers &amp; Data</a:t>
            </a:r>
            <a:endParaRPr lang="en-US" sz="1500" dirty="0">
              <a:solidFill>
                <a:schemeClr val="bg1">
                  <a:lumMod val="85000"/>
                </a:schemeClr>
              </a:solidFill>
              <a:latin typeface="Garamond Premr Pro" panose="02020402060506020403" pitchFamily="18" charset="0"/>
            </a:endParaRPr>
          </a:p>
        </p:txBody>
      </p:sp>
      <p:sp>
        <p:nvSpPr>
          <p:cNvPr id="4" name="Text 2">
            <a:extLst>
              <a:ext uri="{FF2B5EF4-FFF2-40B4-BE49-F238E27FC236}">
                <a16:creationId xmlns:a16="http://schemas.microsoft.com/office/drawing/2014/main" id="{21565E39-E63C-A348-469B-B1CE4BF20A6A}"/>
              </a:ext>
            </a:extLst>
          </p:cNvPr>
          <p:cNvSpPr/>
          <p:nvPr/>
        </p:nvSpPr>
        <p:spPr>
          <a:xfrm>
            <a:off x="50400" y="638491"/>
            <a:ext cx="9093600" cy="1834177"/>
          </a:xfrm>
          <a:prstGeom prst="rect">
            <a:avLst/>
          </a:prstGeom>
          <a:noFill/>
          <a:ln/>
        </p:spPr>
        <p:txBody>
          <a:bodyPr wrap="square" lIns="0" tIns="0" rIns="0" bIns="0" rtlCol="0" anchor="t"/>
          <a:lstStyle/>
          <a:p>
            <a:pPr>
              <a:lnSpc>
                <a:spcPct val="150000"/>
              </a:lnSpc>
            </a:pPr>
            <a:r>
              <a:rPr lang="en-GB" sz="1400" dirty="0">
                <a:solidFill>
                  <a:schemeClr val="bg1">
                    <a:lumMod val="75000"/>
                  </a:schemeClr>
                </a:solidFill>
                <a:latin typeface="Garamond Premr Pro" panose="02020402060506020403" pitchFamily="18" charset="0"/>
              </a:rPr>
              <a:t>albert, BFI and Arup (2020) </a:t>
            </a:r>
            <a:r>
              <a:rPr lang="en-GB" sz="1400" i="1" dirty="0">
                <a:solidFill>
                  <a:schemeClr val="bg1">
                    <a:lumMod val="75000"/>
                  </a:schemeClr>
                </a:solidFill>
                <a:latin typeface="Garamond Premr Pro" panose="02020402060506020403" pitchFamily="18" charset="0"/>
              </a:rPr>
              <a:t>A Screen New Deal: A route map to sustainable film production</a:t>
            </a:r>
            <a:r>
              <a:rPr lang="en-GB" sz="1400" dirty="0">
                <a:solidFill>
                  <a:schemeClr val="bg1">
                    <a:lumMod val="75000"/>
                  </a:schemeClr>
                </a:solidFill>
                <a:latin typeface="Garamond Premr Pro" panose="02020402060506020403" pitchFamily="18" charset="0"/>
              </a:rPr>
              <a:t>. London: British Film Institute.</a:t>
            </a:r>
          </a:p>
          <a:p>
            <a:pPr>
              <a:lnSpc>
                <a:spcPct val="150000"/>
              </a:lnSpc>
            </a:pPr>
            <a:r>
              <a:rPr lang="en-GB" sz="1400" dirty="0">
                <a:solidFill>
                  <a:schemeClr val="bg1">
                    <a:lumMod val="75000"/>
                  </a:schemeClr>
                </a:solidFill>
                <a:latin typeface="Garamond Premr Pro" panose="02020402060506020403" pitchFamily="18" charset="0"/>
              </a:rPr>
              <a:t>Chartered Institute of Public Finance and Accountancy (2023) </a:t>
            </a:r>
            <a:r>
              <a:rPr lang="en-GB" sz="1400" i="1" dirty="0">
                <a:solidFill>
                  <a:schemeClr val="bg1">
                    <a:lumMod val="75000"/>
                  </a:schemeClr>
                </a:solidFill>
                <a:latin typeface="Garamond Premr Pro" panose="02020402060506020403" pitchFamily="18" charset="0"/>
              </a:rPr>
              <a:t>Spelthorne Borough Council: Capital Assurance Review</a:t>
            </a:r>
            <a:r>
              <a:rPr lang="en-GB" sz="1400" dirty="0">
                <a:solidFill>
                  <a:schemeClr val="bg1">
                    <a:lumMod val="75000"/>
                  </a:schemeClr>
                </a:solidFill>
                <a:latin typeface="Garamond Premr Pro" panose="02020402060506020403" pitchFamily="18" charset="0"/>
              </a:rPr>
              <a:t>. London: Department for Levelling Up, Housing and Communities. Available at: https://</a:t>
            </a:r>
            <a:r>
              <a:rPr lang="en-GB" sz="1400" dirty="0" err="1">
                <a:solidFill>
                  <a:schemeClr val="bg1">
                    <a:lumMod val="75000"/>
                  </a:schemeClr>
                </a:solidFill>
                <a:latin typeface="Garamond Premr Pro" panose="02020402060506020403" pitchFamily="18" charset="0"/>
              </a:rPr>
              <a:t>assets.publishing.service.gov.uk</a:t>
            </a:r>
            <a:r>
              <a:rPr lang="en-GB" sz="1400" dirty="0">
                <a:solidFill>
                  <a:schemeClr val="bg1">
                    <a:lumMod val="75000"/>
                  </a:schemeClr>
                </a:solidFill>
                <a:latin typeface="Garamond Premr Pro" panose="02020402060506020403" pitchFamily="18" charset="0"/>
              </a:rPr>
              <a:t>/media/6634a07174933dccbbb6c1ed/</a:t>
            </a:r>
            <a:r>
              <a:rPr lang="en-GB" sz="1400" dirty="0" err="1">
                <a:solidFill>
                  <a:schemeClr val="bg1">
                    <a:lumMod val="75000"/>
                  </a:schemeClr>
                </a:solidFill>
                <a:latin typeface="Garamond Premr Pro" panose="02020402060506020403" pitchFamily="18" charset="0"/>
              </a:rPr>
              <a:t>Spelthorne_Report.pdf</a:t>
            </a:r>
            <a:r>
              <a:rPr lang="en-GB" sz="1400" dirty="0">
                <a:solidFill>
                  <a:schemeClr val="bg1">
                    <a:lumMod val="75000"/>
                  </a:schemeClr>
                </a:solidFill>
                <a:latin typeface="Garamond Premr Pro" panose="02020402060506020403" pitchFamily="18" charset="0"/>
              </a:rPr>
              <a:t> (Accessed: 6 March 2026).</a:t>
            </a:r>
          </a:p>
          <a:p>
            <a:pPr>
              <a:lnSpc>
                <a:spcPct val="150000"/>
              </a:lnSpc>
            </a:pPr>
            <a:r>
              <a:rPr lang="en-GB" sz="1400" dirty="0">
                <a:solidFill>
                  <a:schemeClr val="bg1">
                    <a:lumMod val="75000"/>
                  </a:schemeClr>
                </a:solidFill>
                <a:latin typeface="Garamond Premr Pro" panose="02020402060506020403" pitchFamily="18" charset="0"/>
              </a:rPr>
              <a:t>European Space Agency (2026) </a:t>
            </a:r>
            <a:r>
              <a:rPr lang="en-GB" sz="1400" i="1" dirty="0">
                <a:solidFill>
                  <a:schemeClr val="bg1">
                    <a:lumMod val="75000"/>
                  </a:schemeClr>
                </a:solidFill>
                <a:latin typeface="Garamond Premr Pro" panose="02020402060506020403" pitchFamily="18" charset="0"/>
              </a:rPr>
              <a:t>Copernicus Sentinel-2 Surface Reflectance (S2_SR_HARMONIZED)</a:t>
            </a:r>
            <a:r>
              <a:rPr lang="en-GB" sz="1400" dirty="0">
                <a:solidFill>
                  <a:schemeClr val="bg1">
                    <a:lumMod val="75000"/>
                  </a:schemeClr>
                </a:solidFill>
                <a:latin typeface="Garamond Premr Pro" panose="02020402060506020403" pitchFamily="18" charset="0"/>
              </a:rPr>
              <a:t>. Available at: https://</a:t>
            </a:r>
            <a:r>
              <a:rPr lang="en-GB" sz="1400" dirty="0" err="1">
                <a:solidFill>
                  <a:schemeClr val="bg1">
                    <a:lumMod val="75000"/>
                  </a:schemeClr>
                </a:solidFill>
                <a:latin typeface="Garamond Premr Pro" panose="02020402060506020403" pitchFamily="18" charset="0"/>
              </a:rPr>
              <a:t>developers.google.com</a:t>
            </a:r>
            <a:r>
              <a:rPr lang="en-GB" sz="1400" dirty="0">
                <a:solidFill>
                  <a:schemeClr val="bg1">
                    <a:lumMod val="75000"/>
                  </a:schemeClr>
                </a:solidFill>
                <a:latin typeface="Garamond Premr Pro" panose="02020402060506020403" pitchFamily="18" charset="0"/>
              </a:rPr>
              <a:t>/earth-engine/datasets (Accessed: 4 March 2026).</a:t>
            </a:r>
          </a:p>
          <a:p>
            <a:pPr>
              <a:lnSpc>
                <a:spcPct val="150000"/>
              </a:lnSpc>
            </a:pPr>
            <a:r>
              <a:rPr lang="en-GB" sz="1400" dirty="0">
                <a:solidFill>
                  <a:schemeClr val="bg1">
                    <a:lumMod val="75000"/>
                  </a:schemeClr>
                </a:solidFill>
                <a:latin typeface="Garamond Premr Pro" panose="02020402060506020403" pitchFamily="18" charset="0"/>
              </a:rPr>
              <a:t>Felder, M., Sandoval, J. and Jennett, T. (2022) Towards a Green Premium Framework for Canada’s Film-Based Industries. New York: Earth Angel LLC / Canadian Media Producers Association.</a:t>
            </a:r>
          </a:p>
          <a:p>
            <a:pPr>
              <a:lnSpc>
                <a:spcPct val="150000"/>
              </a:lnSpc>
            </a:pPr>
            <a:r>
              <a:rPr lang="en-GB" sz="1400" dirty="0">
                <a:solidFill>
                  <a:schemeClr val="bg1">
                    <a:lumMod val="75000"/>
                  </a:schemeClr>
                </a:solidFill>
                <a:latin typeface="Garamond Premr Pro" panose="02020402060506020403" pitchFamily="18" charset="0"/>
              </a:rPr>
              <a:t>Hydrock Consultants Limited (2018) </a:t>
            </a:r>
            <a:r>
              <a:rPr lang="en-GB" sz="1400" i="1" dirty="0">
                <a:solidFill>
                  <a:schemeClr val="bg1">
                    <a:lumMod val="75000"/>
                  </a:schemeClr>
                </a:solidFill>
                <a:latin typeface="Garamond Premr Pro" panose="02020402060506020403" pitchFamily="18" charset="0"/>
              </a:rPr>
              <a:t>Redevelopment and Expansion of Shepperton Studios: Flood Risk Assessment</a:t>
            </a:r>
            <a:r>
              <a:rPr lang="en-GB" sz="1400" dirty="0">
                <a:solidFill>
                  <a:schemeClr val="bg1">
                    <a:lumMod val="75000"/>
                  </a:schemeClr>
                </a:solidFill>
                <a:latin typeface="Garamond Premr Pro" panose="02020402060506020403" pitchFamily="18" charset="0"/>
              </a:rPr>
              <a:t>. Document Ref: </a:t>
            </a:r>
          </a:p>
          <a:p>
            <a:pPr>
              <a:lnSpc>
                <a:spcPct val="150000"/>
              </a:lnSpc>
            </a:pPr>
            <a:r>
              <a:rPr lang="en-GB" sz="1400" dirty="0">
                <a:solidFill>
                  <a:schemeClr val="bg1">
                    <a:lumMod val="75000"/>
                  </a:schemeClr>
                </a:solidFill>
                <a:latin typeface="Garamond Premr Pro" panose="02020402060506020403" pitchFamily="18" charset="0"/>
              </a:rPr>
              <a:t>SPS-HYD-XX-XX-RP-D-5001. Project No. C-09836-C Bristol: Hydrock Consultants Limited.</a:t>
            </a:r>
          </a:p>
          <a:p>
            <a:pPr>
              <a:lnSpc>
                <a:spcPct val="150000"/>
              </a:lnSpc>
            </a:pPr>
            <a:r>
              <a:rPr lang="en-GB" sz="1400" dirty="0" err="1">
                <a:solidFill>
                  <a:schemeClr val="bg1">
                    <a:lumMod val="75000"/>
                  </a:schemeClr>
                </a:solidFill>
                <a:latin typeface="Garamond Premr Pro" panose="02020402060506020403" pitchFamily="18" charset="0"/>
              </a:rPr>
              <a:t>i</a:t>
            </a:r>
            <a:r>
              <a:rPr lang="en-GB" sz="1400" dirty="0">
                <a:solidFill>
                  <a:schemeClr val="bg1">
                    <a:lumMod val="75000"/>
                  </a:schemeClr>
                </a:solidFill>
                <a:latin typeface="Garamond Premr Pro" panose="02020402060506020403" pitchFamily="18" charset="0"/>
              </a:rPr>
              <a:t>-Transport LLP (2018) </a:t>
            </a:r>
            <a:r>
              <a:rPr lang="en-GB" sz="1400" i="1" dirty="0">
                <a:solidFill>
                  <a:schemeClr val="bg1">
                    <a:lumMod val="75000"/>
                  </a:schemeClr>
                </a:solidFill>
                <a:latin typeface="Garamond Premr Pro" panose="02020402060506020403" pitchFamily="18" charset="0"/>
              </a:rPr>
              <a:t>Shepperton Studios Transport Assessment</a:t>
            </a:r>
            <a:r>
              <a:rPr lang="en-GB" sz="1400" dirty="0">
                <a:solidFill>
                  <a:schemeClr val="bg1">
                    <a:lumMod val="75000"/>
                  </a:schemeClr>
                </a:solidFill>
                <a:latin typeface="Garamond Premr Pro" panose="02020402060506020403" pitchFamily="18" charset="0"/>
              </a:rPr>
              <a:t>. Document Ref: ITL14056-008D R. Basingstoke: </a:t>
            </a:r>
            <a:r>
              <a:rPr lang="en-GB" sz="1400" dirty="0" err="1">
                <a:solidFill>
                  <a:schemeClr val="bg1">
                    <a:lumMod val="75000"/>
                  </a:schemeClr>
                </a:solidFill>
                <a:latin typeface="Garamond Premr Pro" panose="02020402060506020403" pitchFamily="18" charset="0"/>
              </a:rPr>
              <a:t>i</a:t>
            </a:r>
            <a:r>
              <a:rPr lang="en-GB" sz="1400" dirty="0">
                <a:solidFill>
                  <a:schemeClr val="bg1">
                    <a:lumMod val="75000"/>
                  </a:schemeClr>
                </a:solidFill>
                <a:latin typeface="Garamond Premr Pro" panose="02020402060506020403" pitchFamily="18" charset="0"/>
              </a:rPr>
              <a:t>-Transport LLP.</a:t>
            </a:r>
          </a:p>
          <a:p>
            <a:pPr>
              <a:lnSpc>
                <a:spcPct val="150000"/>
              </a:lnSpc>
            </a:pPr>
            <a:r>
              <a:rPr lang="en-GB" sz="1400" dirty="0">
                <a:solidFill>
                  <a:schemeClr val="bg1">
                    <a:lumMod val="75000"/>
                  </a:schemeClr>
                </a:solidFill>
                <a:latin typeface="Garamond Premr Pro" panose="02020402060506020403" pitchFamily="18" charset="0"/>
              </a:rPr>
              <a:t>Li, H. (2026) </a:t>
            </a:r>
            <a:r>
              <a:rPr lang="en-GB" sz="1400" i="1" dirty="0">
                <a:solidFill>
                  <a:schemeClr val="bg1">
                    <a:lumMod val="75000"/>
                  </a:schemeClr>
                </a:solidFill>
                <a:latin typeface="Garamond Premr Pro" panose="02020402060506020403" pitchFamily="18" charset="0"/>
              </a:rPr>
              <a:t>OSM_AUDIT_2025: Spatial Projection and Quantification Utility</a:t>
            </a:r>
            <a:r>
              <a:rPr lang="en-GB" sz="1400" dirty="0">
                <a:solidFill>
                  <a:schemeClr val="bg1">
                    <a:lumMod val="75000"/>
                  </a:schemeClr>
                </a:solidFill>
                <a:latin typeface="Garamond Premr Pro" panose="02020402060506020403" pitchFamily="18" charset="0"/>
              </a:rPr>
              <a:t> [Source Code/Data Repository]. Available at: https://</a:t>
            </a:r>
            <a:r>
              <a:rPr lang="en-GB" sz="1400" dirty="0" err="1">
                <a:solidFill>
                  <a:schemeClr val="bg1">
                    <a:lumMod val="75000"/>
                  </a:schemeClr>
                </a:solidFill>
                <a:latin typeface="Garamond Premr Pro" panose="02020402060506020403" pitchFamily="18" charset="0"/>
              </a:rPr>
              <a:t>github.com</a:t>
            </a:r>
            <a:r>
              <a:rPr lang="en-GB" sz="1400" dirty="0">
                <a:solidFill>
                  <a:schemeClr val="bg1">
                    <a:lumMod val="75000"/>
                  </a:schemeClr>
                </a:solidFill>
                <a:latin typeface="Garamond Premr Pro" panose="02020402060506020403" pitchFamily="18" charset="0"/>
              </a:rPr>
              <a:t>/</a:t>
            </a:r>
            <a:r>
              <a:rPr lang="en-GB" sz="1400" dirty="0" err="1">
                <a:solidFill>
                  <a:schemeClr val="bg1">
                    <a:lumMod val="75000"/>
                  </a:schemeClr>
                </a:solidFill>
                <a:latin typeface="Garamond Premr Pro" panose="02020402060506020403" pitchFamily="18" charset="0"/>
              </a:rPr>
              <a:t>HanpuLi</a:t>
            </a:r>
            <a:r>
              <a:rPr lang="en-GB" sz="1400" dirty="0">
                <a:solidFill>
                  <a:schemeClr val="bg1">
                    <a:lumMod val="75000"/>
                  </a:schemeClr>
                </a:solidFill>
                <a:latin typeface="Garamond Premr Pro" panose="02020402060506020403" pitchFamily="18" charset="0"/>
              </a:rPr>
              <a:t>/-OSM_AUDIT_2025 (Accessed: 3 March 2026).</a:t>
            </a:r>
          </a:p>
        </p:txBody>
      </p:sp>
      <p:sp>
        <p:nvSpPr>
          <p:cNvPr id="8" name="Text 6">
            <a:extLst>
              <a:ext uri="{FF2B5EF4-FFF2-40B4-BE49-F238E27FC236}">
                <a16:creationId xmlns:a16="http://schemas.microsoft.com/office/drawing/2014/main" id="{DB090B28-650C-41C3-3660-D1E77CD17C23}"/>
              </a:ext>
            </a:extLst>
          </p:cNvPr>
          <p:cNvSpPr/>
          <p:nvPr/>
        </p:nvSpPr>
        <p:spPr>
          <a:xfrm>
            <a:off x="609600" y="3589920"/>
            <a:ext cx="7924800" cy="300038"/>
          </a:xfrm>
          <a:prstGeom prst="rect">
            <a:avLst/>
          </a:prstGeom>
          <a:noFill/>
          <a:ln/>
        </p:spPr>
        <p:txBody>
          <a:bodyPr wrap="square" lIns="0" tIns="0" rIns="0" bIns="0" rtlCol="0" anchor="t"/>
          <a:lstStyle/>
          <a:p>
            <a:pPr marL="0" indent="0">
              <a:lnSpc>
                <a:spcPts val="1350"/>
              </a:lnSpc>
              <a:buNone/>
            </a:pPr>
            <a:endParaRPr lang="en-US" sz="1500" dirty="0"/>
          </a:p>
        </p:txBody>
      </p:sp>
      <p:sp>
        <p:nvSpPr>
          <p:cNvPr id="9" name="Text 7">
            <a:extLst>
              <a:ext uri="{FF2B5EF4-FFF2-40B4-BE49-F238E27FC236}">
                <a16:creationId xmlns:a16="http://schemas.microsoft.com/office/drawing/2014/main" id="{A1CF2D2F-9645-95E3-D748-24F2EA2CAC4D}"/>
              </a:ext>
            </a:extLst>
          </p:cNvPr>
          <p:cNvSpPr/>
          <p:nvPr/>
        </p:nvSpPr>
        <p:spPr>
          <a:xfrm>
            <a:off x="609600" y="3759398"/>
            <a:ext cx="7924800" cy="2743878"/>
          </a:xfrm>
          <a:prstGeom prst="rect">
            <a:avLst/>
          </a:prstGeom>
          <a:noFill/>
          <a:ln/>
        </p:spPr>
        <p:txBody>
          <a:bodyPr wrap="square" lIns="0" tIns="0" rIns="0" bIns="0" rtlCol="0" anchor="t"/>
          <a:lstStyle/>
          <a:p>
            <a:endParaRPr lang="en-GB" sz="1050" dirty="0">
              <a:solidFill>
                <a:schemeClr val="bg1">
                  <a:lumMod val="65000"/>
                </a:schemeClr>
              </a:solidFill>
              <a:latin typeface="Courier Prime" panose="02000409000000000000" pitchFamily="49" charset="77"/>
            </a:endParaRPr>
          </a:p>
        </p:txBody>
      </p:sp>
    </p:spTree>
    <p:extLst>
      <p:ext uri="{BB962C8B-B14F-4D97-AF65-F5344CB8AC3E}">
        <p14:creationId xmlns:p14="http://schemas.microsoft.com/office/powerpoint/2010/main" val="2066014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1AE2245-3EC0-ED8A-273F-A4875CF7C8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B28F59-AB79-58A6-BFBA-DE8EEE8AE8E6}"/>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
        <p:nvSpPr>
          <p:cNvPr id="3" name="Text 1">
            <a:extLst>
              <a:ext uri="{FF2B5EF4-FFF2-40B4-BE49-F238E27FC236}">
                <a16:creationId xmlns:a16="http://schemas.microsoft.com/office/drawing/2014/main" id="{A96CF173-5E9D-5646-EE3B-BD20B1E6C472}"/>
              </a:ext>
            </a:extLst>
          </p:cNvPr>
          <p:cNvSpPr/>
          <p:nvPr/>
        </p:nvSpPr>
        <p:spPr>
          <a:xfrm>
            <a:off x="254000" y="428513"/>
            <a:ext cx="7924800" cy="304800"/>
          </a:xfrm>
          <a:prstGeom prst="rect">
            <a:avLst/>
          </a:prstGeom>
          <a:noFill/>
          <a:ln/>
        </p:spPr>
        <p:txBody>
          <a:bodyPr wrap="square" lIns="0" tIns="0" rIns="0" bIns="0" rtlCol="0" anchor="t"/>
          <a:lstStyle/>
          <a:p>
            <a:pPr>
              <a:lnSpc>
                <a:spcPts val="1350"/>
              </a:lnSpc>
            </a:pPr>
            <a:r>
              <a:rPr lang="en-US" sz="1500" b="1" dirty="0">
                <a:solidFill>
                  <a:schemeClr val="bg1">
                    <a:lumMod val="85000"/>
                  </a:schemeClr>
                </a:solidFill>
                <a:latin typeface="Garamond Premr Pro" panose="02020402060506020403" pitchFamily="18" charset="0"/>
                <a:ea typeface="Courier New" pitchFamily="34" charset="-122"/>
                <a:cs typeface="Courier New" pitchFamily="34" charset="-120"/>
              </a:rPr>
              <a:t>Institutional Dossiers &amp; Data</a:t>
            </a:r>
            <a:endParaRPr lang="en-US" sz="1500" dirty="0">
              <a:solidFill>
                <a:schemeClr val="bg1">
                  <a:lumMod val="85000"/>
                </a:schemeClr>
              </a:solidFill>
              <a:latin typeface="Garamond Premr Pro" panose="02020402060506020403" pitchFamily="18" charset="0"/>
            </a:endParaRPr>
          </a:p>
        </p:txBody>
      </p:sp>
      <p:sp>
        <p:nvSpPr>
          <p:cNvPr id="4" name="Text 2">
            <a:extLst>
              <a:ext uri="{FF2B5EF4-FFF2-40B4-BE49-F238E27FC236}">
                <a16:creationId xmlns:a16="http://schemas.microsoft.com/office/drawing/2014/main" id="{815FE2E3-31F4-BB6E-F469-38790D34BD6F}"/>
              </a:ext>
            </a:extLst>
          </p:cNvPr>
          <p:cNvSpPr/>
          <p:nvPr/>
        </p:nvSpPr>
        <p:spPr>
          <a:xfrm>
            <a:off x="50400" y="638491"/>
            <a:ext cx="9093600" cy="1834177"/>
          </a:xfrm>
          <a:prstGeom prst="rect">
            <a:avLst/>
          </a:prstGeom>
          <a:noFill/>
          <a:ln/>
        </p:spPr>
        <p:txBody>
          <a:bodyPr wrap="square" lIns="0" tIns="0" rIns="0" bIns="0" rtlCol="0" anchor="t"/>
          <a:lstStyle/>
          <a:p>
            <a:pPr>
              <a:lnSpc>
                <a:spcPct val="150000"/>
              </a:lnSpc>
            </a:pPr>
            <a:r>
              <a:rPr lang="en-GB" sz="1400" dirty="0">
                <a:solidFill>
                  <a:schemeClr val="bg1">
                    <a:lumMod val="75000"/>
                  </a:schemeClr>
                </a:solidFill>
                <a:latin typeface="Garamond Premr Pro" panose="02020402060506020403" pitchFamily="18" charset="0"/>
              </a:rPr>
              <a:t>Li, H. (2026) </a:t>
            </a:r>
            <a:r>
              <a:rPr lang="en-GB" sz="1400" i="1" dirty="0">
                <a:solidFill>
                  <a:schemeClr val="bg1">
                    <a:lumMod val="75000"/>
                  </a:schemeClr>
                </a:solidFill>
                <a:latin typeface="Garamond Premr Pro" panose="02020402060506020403" pitchFamily="18" charset="0"/>
              </a:rPr>
              <a:t>Shepperton NDVI Spatiotemporal Audit Algorithm</a:t>
            </a:r>
            <a:r>
              <a:rPr lang="en-GB" sz="1400" dirty="0">
                <a:solidFill>
                  <a:schemeClr val="bg1">
                    <a:lumMod val="75000"/>
                  </a:schemeClr>
                </a:solidFill>
                <a:latin typeface="Garamond Premr Pro" panose="02020402060506020403" pitchFamily="18" charset="0"/>
              </a:rPr>
              <a:t> [Source Code]. Available at: </a:t>
            </a:r>
            <a:r>
              <a:rPr lang="en-GB" sz="1400" dirty="0">
                <a:solidFill>
                  <a:schemeClr val="bg1">
                    <a:lumMod val="75000"/>
                  </a:schemeClr>
                </a:solidFill>
                <a:latin typeface="Garamond Premr Pro" panose="02020402060506020403" pitchFamily="18" charset="0"/>
                <a:hlinkClick r:id="rId3">
                  <a:extLst>
                    <a:ext uri="{A12FA001-AC4F-418D-AE19-62706E023703}">
                      <ahyp:hlinkClr xmlns:ahyp="http://schemas.microsoft.com/office/drawing/2018/hyperlinkcolor" val="tx"/>
                    </a:ext>
                  </a:extLst>
                </a:hlinkClick>
              </a:rPr>
              <a:t>https://code.earthengine.google.com/0cd023633ba069e4320a7a081bd65b62</a:t>
            </a:r>
            <a:r>
              <a:rPr lang="en-GB" sz="1400" dirty="0">
                <a:solidFill>
                  <a:schemeClr val="bg1">
                    <a:lumMod val="75000"/>
                  </a:schemeClr>
                </a:solidFill>
                <a:latin typeface="Garamond Premr Pro" panose="02020402060506020403" pitchFamily="18" charset="0"/>
              </a:rPr>
              <a:t> (Accessed: 3 March 2026).</a:t>
            </a:r>
          </a:p>
          <a:p>
            <a:pPr>
              <a:lnSpc>
                <a:spcPct val="150000"/>
              </a:lnSpc>
            </a:pPr>
            <a:r>
              <a:rPr lang="en-GB" sz="1400" dirty="0">
                <a:solidFill>
                  <a:schemeClr val="bg1">
                    <a:lumMod val="75000"/>
                  </a:schemeClr>
                </a:solidFill>
                <a:latin typeface="Garamond Premr Pro" panose="02020402060506020403" pitchFamily="18" charset="0"/>
              </a:rPr>
              <a:t>Li, H. (2026) </a:t>
            </a:r>
            <a:r>
              <a:rPr lang="en-GB" sz="1400" i="1" dirty="0">
                <a:solidFill>
                  <a:schemeClr val="bg1">
                    <a:lumMod val="75000"/>
                  </a:schemeClr>
                </a:solidFill>
                <a:latin typeface="Garamond Premr Pro" panose="02020402060506020403" pitchFamily="18" charset="0"/>
              </a:rPr>
              <a:t>Shepperton Thermodynamic LST Audit Algorithm </a:t>
            </a:r>
            <a:r>
              <a:rPr lang="en-GB" sz="1400" dirty="0">
                <a:solidFill>
                  <a:schemeClr val="bg1">
                    <a:lumMod val="75000"/>
                  </a:schemeClr>
                </a:solidFill>
                <a:latin typeface="Garamond Premr Pro" panose="02020402060506020403" pitchFamily="18" charset="0"/>
              </a:rPr>
              <a:t>[Source Code]. Available at: </a:t>
            </a:r>
            <a:r>
              <a:rPr lang="en-GB" sz="1400" dirty="0">
                <a:solidFill>
                  <a:schemeClr val="bg1">
                    <a:lumMod val="75000"/>
                  </a:schemeClr>
                </a:solidFill>
                <a:latin typeface="Garamond Premr Pro" panose="02020402060506020403" pitchFamily="18" charset="0"/>
                <a:hlinkClick r:id="rId4">
                  <a:extLst>
                    <a:ext uri="{A12FA001-AC4F-418D-AE19-62706E023703}">
                      <ahyp:hlinkClr xmlns:ahyp="http://schemas.microsoft.com/office/drawing/2018/hyperlinkcolor" val="tx"/>
                    </a:ext>
                  </a:extLst>
                </a:hlinkClick>
              </a:rPr>
              <a:t>https://code.earthengine.google.com/badb69f97aeb6a7a52e7be39ef1d7e6c</a:t>
            </a:r>
            <a:r>
              <a:rPr lang="en-GB" sz="1400" dirty="0">
                <a:solidFill>
                  <a:schemeClr val="bg1">
                    <a:lumMod val="75000"/>
                  </a:schemeClr>
                </a:solidFill>
                <a:latin typeface="Garamond Premr Pro" panose="02020402060506020403" pitchFamily="18" charset="0"/>
              </a:rPr>
              <a:t> (Accessed: 3 March 2026).</a:t>
            </a:r>
          </a:p>
          <a:p>
            <a:pPr>
              <a:lnSpc>
                <a:spcPct val="150000"/>
              </a:lnSpc>
            </a:pPr>
            <a:r>
              <a:rPr lang="en-GB" sz="1400" dirty="0">
                <a:solidFill>
                  <a:schemeClr val="bg1">
                    <a:lumMod val="75000"/>
                  </a:schemeClr>
                </a:solidFill>
                <a:latin typeface="Garamond Premr Pro" panose="02020402060506020403" pitchFamily="18" charset="0"/>
              </a:rPr>
              <a:t>OpenStreetMap contributors. (2015) </a:t>
            </a:r>
            <a:r>
              <a:rPr lang="en-GB" sz="1400" i="1" dirty="0">
                <a:solidFill>
                  <a:schemeClr val="bg1">
                    <a:lumMod val="75000"/>
                  </a:schemeClr>
                </a:solidFill>
                <a:latin typeface="Garamond Premr Pro" panose="02020402060506020403" pitchFamily="18" charset="0"/>
              </a:rPr>
              <a:t>Planet dump Data file</a:t>
            </a:r>
            <a:r>
              <a:rPr lang="en-GB" sz="1400" dirty="0">
                <a:solidFill>
                  <a:schemeClr val="bg1">
                    <a:lumMod val="75000"/>
                  </a:schemeClr>
                </a:solidFill>
                <a:latin typeface="Garamond Premr Pro" panose="02020402060506020403" pitchFamily="18" charset="0"/>
              </a:rPr>
              <a:t>. Available at: </a:t>
            </a:r>
            <a:r>
              <a:rPr lang="en-GB" sz="1400" dirty="0">
                <a:solidFill>
                  <a:schemeClr val="bg1">
                    <a:lumMod val="75000"/>
                  </a:schemeClr>
                </a:solidFill>
                <a:latin typeface="Garamond Premr Pro" panose="02020402060506020403" pitchFamily="18" charset="0"/>
                <a:hlinkClick r:id="rId5">
                  <a:extLst>
                    <a:ext uri="{A12FA001-AC4F-418D-AE19-62706E023703}">
                      <ahyp:hlinkClr xmlns:ahyp="http://schemas.microsoft.com/office/drawing/2018/hyperlinkcolor" val="tx"/>
                    </a:ext>
                  </a:extLst>
                </a:hlinkClick>
              </a:rPr>
              <a:t>https://planet.openstreetmap.org</a:t>
            </a:r>
            <a:r>
              <a:rPr lang="en-GB" sz="1400" dirty="0">
                <a:solidFill>
                  <a:schemeClr val="bg1">
                    <a:lumMod val="75000"/>
                  </a:schemeClr>
                </a:solidFill>
                <a:latin typeface="Garamond Premr Pro" panose="02020402060506020403" pitchFamily="18" charset="0"/>
              </a:rPr>
              <a:t> (Accessed 3 March 2026).</a:t>
            </a:r>
          </a:p>
          <a:p>
            <a:pPr>
              <a:lnSpc>
                <a:spcPct val="150000"/>
              </a:lnSpc>
            </a:pPr>
            <a:r>
              <a:rPr lang="en-GB" sz="1400" dirty="0">
                <a:solidFill>
                  <a:schemeClr val="bg1">
                    <a:lumMod val="75000"/>
                  </a:schemeClr>
                </a:solidFill>
                <a:latin typeface="Garamond Premr Pro" panose="02020402060506020403" pitchFamily="18" charset="0"/>
              </a:rPr>
              <a:t>PwC (2018) </a:t>
            </a:r>
            <a:r>
              <a:rPr lang="en-GB" sz="1400" i="1" dirty="0">
                <a:solidFill>
                  <a:schemeClr val="bg1">
                    <a:lumMod val="75000"/>
                  </a:schemeClr>
                </a:solidFill>
                <a:latin typeface="Garamond Premr Pro" panose="02020402060506020403" pitchFamily="18" charset="0"/>
              </a:rPr>
              <a:t>Review of the UK film and high-end TV production facility market</a:t>
            </a:r>
            <a:r>
              <a:rPr lang="en-GB" sz="1400" dirty="0">
                <a:solidFill>
                  <a:schemeClr val="bg1">
                    <a:lumMod val="75000"/>
                  </a:schemeClr>
                </a:solidFill>
                <a:latin typeface="Garamond Premr Pro" panose="02020402060506020403" pitchFamily="18" charset="0"/>
              </a:rPr>
              <a:t>. London: PwC.</a:t>
            </a:r>
          </a:p>
          <a:p>
            <a:pPr>
              <a:lnSpc>
                <a:spcPct val="150000"/>
              </a:lnSpc>
            </a:pPr>
            <a:r>
              <a:rPr lang="en-GB" sz="1400" dirty="0">
                <a:solidFill>
                  <a:schemeClr val="bg1">
                    <a:lumMod val="75000"/>
                  </a:schemeClr>
                </a:solidFill>
                <a:latin typeface="Garamond Premr Pro" panose="02020402060506020403" pitchFamily="18" charset="0"/>
              </a:rPr>
              <a:t>SJA Trees (2018) </a:t>
            </a:r>
            <a:r>
              <a:rPr lang="en-GB" sz="1400" i="1" dirty="0" err="1">
                <a:solidFill>
                  <a:schemeClr val="bg1">
                    <a:lumMod val="75000"/>
                  </a:schemeClr>
                </a:solidFill>
                <a:latin typeface="Garamond Premr Pro" panose="02020402060506020403" pitchFamily="18" charset="0"/>
              </a:rPr>
              <a:t>Arboricultural</a:t>
            </a:r>
            <a:r>
              <a:rPr lang="en-GB" sz="1400" i="1" dirty="0">
                <a:solidFill>
                  <a:schemeClr val="bg1">
                    <a:lumMod val="75000"/>
                  </a:schemeClr>
                </a:solidFill>
                <a:latin typeface="Garamond Premr Pro" panose="02020402060506020403" pitchFamily="18" charset="0"/>
              </a:rPr>
              <a:t> Implications Report - Part 1 &amp; 2. Appendix to Environmental Statement Volume 1 (Planning App: 18/01212/OUT).</a:t>
            </a:r>
            <a:r>
              <a:rPr lang="en-GB" sz="1400" dirty="0">
                <a:solidFill>
                  <a:schemeClr val="bg1">
                    <a:lumMod val="75000"/>
                  </a:schemeClr>
                </a:solidFill>
                <a:latin typeface="Garamond Premr Pro" panose="02020402060506020403" pitchFamily="18" charset="0"/>
              </a:rPr>
              <a:t> Staines-upon-Thames: Spelthorne Borough Council.</a:t>
            </a:r>
          </a:p>
          <a:p>
            <a:pPr>
              <a:lnSpc>
                <a:spcPct val="150000"/>
              </a:lnSpc>
            </a:pPr>
            <a:r>
              <a:rPr lang="en-GB" sz="1400" dirty="0">
                <a:solidFill>
                  <a:schemeClr val="bg1">
                    <a:lumMod val="75000"/>
                  </a:schemeClr>
                </a:solidFill>
                <a:latin typeface="Garamond Premr Pro" panose="02020402060506020403" pitchFamily="18" charset="0"/>
              </a:rPr>
              <a:t>Spelthorne Borough Council (2025) </a:t>
            </a:r>
            <a:r>
              <a:rPr lang="en-GB" sz="1400" i="1" dirty="0">
                <a:solidFill>
                  <a:schemeClr val="bg1">
                    <a:lumMod val="75000"/>
                  </a:schemeClr>
                </a:solidFill>
                <a:latin typeface="Garamond Premr Pro" panose="02020402060506020403" pitchFamily="18" charset="0"/>
              </a:rPr>
              <a:t>Agenda Document for Business, Infrastructure and Growth Committee, 11 September 2025</a:t>
            </a:r>
            <a:r>
              <a:rPr lang="en-GB" sz="1400" dirty="0">
                <a:solidFill>
                  <a:schemeClr val="bg1">
                    <a:lumMod val="75000"/>
                  </a:schemeClr>
                </a:solidFill>
                <a:latin typeface="Garamond Premr Pro" panose="02020402060506020403" pitchFamily="18" charset="0"/>
              </a:rPr>
              <a:t>. Staines-upon-Thames: Spelthorne Borough Council.</a:t>
            </a:r>
          </a:p>
          <a:p>
            <a:pPr>
              <a:lnSpc>
                <a:spcPct val="150000"/>
              </a:lnSpc>
            </a:pPr>
            <a:r>
              <a:rPr lang="en-GB" sz="1400" dirty="0">
                <a:solidFill>
                  <a:schemeClr val="bg1">
                    <a:lumMod val="75000"/>
                  </a:schemeClr>
                </a:solidFill>
                <a:latin typeface="Garamond Premr Pro" panose="02020402060506020403" pitchFamily="18" charset="0"/>
              </a:rPr>
              <a:t>Spelthorne Borough Council (2018) </a:t>
            </a:r>
            <a:r>
              <a:rPr lang="en-GB" sz="1400" i="1" dirty="0">
                <a:solidFill>
                  <a:schemeClr val="bg1">
                    <a:lumMod val="75000"/>
                  </a:schemeClr>
                </a:solidFill>
                <a:latin typeface="Garamond Premr Pro" panose="02020402060506020403" pitchFamily="18" charset="0"/>
              </a:rPr>
              <a:t>Environmental Statement Volume 1 (Main Text)</a:t>
            </a:r>
            <a:r>
              <a:rPr lang="en-GB" sz="1400" dirty="0">
                <a:solidFill>
                  <a:schemeClr val="bg1">
                    <a:lumMod val="75000"/>
                  </a:schemeClr>
                </a:solidFill>
                <a:latin typeface="Garamond Premr Pro" panose="02020402060506020403" pitchFamily="18" charset="0"/>
              </a:rPr>
              <a:t>. Planning App: 18/01212/OUT. Staines-upon-Thames: Spelthorne Borough Council.</a:t>
            </a:r>
          </a:p>
          <a:p>
            <a:pPr>
              <a:lnSpc>
                <a:spcPct val="150000"/>
              </a:lnSpc>
            </a:pPr>
            <a:r>
              <a:rPr lang="en-GB" sz="1400" dirty="0">
                <a:solidFill>
                  <a:schemeClr val="bg1">
                    <a:lumMod val="75000"/>
                  </a:schemeClr>
                </a:solidFill>
                <a:latin typeface="Garamond Premr Pro" panose="02020402060506020403" pitchFamily="18" charset="0"/>
              </a:rPr>
              <a:t>Spelthorne Borough Council (2019) </a:t>
            </a:r>
            <a:r>
              <a:rPr lang="en-GB" sz="1400" i="1" dirty="0">
                <a:solidFill>
                  <a:schemeClr val="bg1">
                    <a:lumMod val="75000"/>
                  </a:schemeClr>
                </a:solidFill>
                <a:latin typeface="Garamond Premr Pro" panose="02020402060506020403" pitchFamily="18" charset="0"/>
              </a:rPr>
              <a:t>Planning Committee Report: Shepperton Studios</a:t>
            </a:r>
            <a:r>
              <a:rPr lang="en-GB" sz="1400" dirty="0">
                <a:solidFill>
                  <a:schemeClr val="bg1">
                    <a:lumMod val="75000"/>
                  </a:schemeClr>
                </a:solidFill>
                <a:latin typeface="Garamond Premr Pro" panose="02020402060506020403" pitchFamily="18" charset="0"/>
              </a:rPr>
              <a:t>. Published 12 Feb 2019. Staines-upon-Thames: Spelthorne Borough Council.</a:t>
            </a:r>
          </a:p>
        </p:txBody>
      </p:sp>
      <p:sp>
        <p:nvSpPr>
          <p:cNvPr id="8" name="Text 6">
            <a:extLst>
              <a:ext uri="{FF2B5EF4-FFF2-40B4-BE49-F238E27FC236}">
                <a16:creationId xmlns:a16="http://schemas.microsoft.com/office/drawing/2014/main" id="{947968D8-40EA-F352-1BC1-4EDD1EB4B122}"/>
              </a:ext>
            </a:extLst>
          </p:cNvPr>
          <p:cNvSpPr/>
          <p:nvPr/>
        </p:nvSpPr>
        <p:spPr>
          <a:xfrm>
            <a:off x="609600" y="3589920"/>
            <a:ext cx="7924800" cy="300038"/>
          </a:xfrm>
          <a:prstGeom prst="rect">
            <a:avLst/>
          </a:prstGeom>
          <a:noFill/>
          <a:ln/>
        </p:spPr>
        <p:txBody>
          <a:bodyPr wrap="square" lIns="0" tIns="0" rIns="0" bIns="0" rtlCol="0" anchor="t"/>
          <a:lstStyle/>
          <a:p>
            <a:pPr marL="0" indent="0">
              <a:lnSpc>
                <a:spcPts val="1350"/>
              </a:lnSpc>
              <a:buNone/>
            </a:pPr>
            <a:endParaRPr lang="en-US" sz="1500" dirty="0"/>
          </a:p>
        </p:txBody>
      </p:sp>
      <p:sp>
        <p:nvSpPr>
          <p:cNvPr id="9" name="Text 7">
            <a:extLst>
              <a:ext uri="{FF2B5EF4-FFF2-40B4-BE49-F238E27FC236}">
                <a16:creationId xmlns:a16="http://schemas.microsoft.com/office/drawing/2014/main" id="{2B7A9413-4A4D-2FF9-9A1D-C9AF52E0158D}"/>
              </a:ext>
            </a:extLst>
          </p:cNvPr>
          <p:cNvSpPr/>
          <p:nvPr/>
        </p:nvSpPr>
        <p:spPr>
          <a:xfrm>
            <a:off x="609600" y="3759398"/>
            <a:ext cx="7924800" cy="2743878"/>
          </a:xfrm>
          <a:prstGeom prst="rect">
            <a:avLst/>
          </a:prstGeom>
          <a:noFill/>
          <a:ln/>
        </p:spPr>
        <p:txBody>
          <a:bodyPr wrap="square" lIns="0" tIns="0" rIns="0" bIns="0" rtlCol="0" anchor="t"/>
          <a:lstStyle/>
          <a:p>
            <a:endParaRPr lang="en-GB" sz="1050" dirty="0">
              <a:solidFill>
                <a:schemeClr val="bg1">
                  <a:lumMod val="65000"/>
                </a:schemeClr>
              </a:solidFill>
              <a:latin typeface="Courier Prime" panose="02000409000000000000" pitchFamily="49" charset="77"/>
            </a:endParaRPr>
          </a:p>
        </p:txBody>
      </p:sp>
    </p:spTree>
    <p:extLst>
      <p:ext uri="{BB962C8B-B14F-4D97-AF65-F5344CB8AC3E}">
        <p14:creationId xmlns:p14="http://schemas.microsoft.com/office/powerpoint/2010/main" val="2902592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146E0A4-1211-69C3-8278-6FA44157949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2071BD-6F83-7673-C8B6-4712ECB93F15}"/>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
        <p:nvSpPr>
          <p:cNvPr id="3" name="Text 1">
            <a:extLst>
              <a:ext uri="{FF2B5EF4-FFF2-40B4-BE49-F238E27FC236}">
                <a16:creationId xmlns:a16="http://schemas.microsoft.com/office/drawing/2014/main" id="{C690C2B3-E97D-9E1B-177B-1507E545C12F}"/>
              </a:ext>
            </a:extLst>
          </p:cNvPr>
          <p:cNvSpPr/>
          <p:nvPr/>
        </p:nvSpPr>
        <p:spPr>
          <a:xfrm>
            <a:off x="254000" y="428513"/>
            <a:ext cx="7924800" cy="304800"/>
          </a:xfrm>
          <a:prstGeom prst="rect">
            <a:avLst/>
          </a:prstGeom>
          <a:noFill/>
          <a:ln/>
        </p:spPr>
        <p:txBody>
          <a:bodyPr wrap="square" lIns="0" tIns="0" rIns="0" bIns="0" rtlCol="0" anchor="t"/>
          <a:lstStyle/>
          <a:p>
            <a:pPr>
              <a:lnSpc>
                <a:spcPts val="1350"/>
              </a:lnSpc>
            </a:pPr>
            <a:r>
              <a:rPr lang="en-US" sz="1500" b="1" dirty="0">
                <a:solidFill>
                  <a:schemeClr val="bg1">
                    <a:lumMod val="85000"/>
                  </a:schemeClr>
                </a:solidFill>
                <a:latin typeface="Garamond Premr Pro" panose="02020402060506020403" pitchFamily="18" charset="0"/>
                <a:ea typeface="Courier New" pitchFamily="34" charset="-122"/>
                <a:cs typeface="Courier New" pitchFamily="34" charset="-120"/>
              </a:rPr>
              <a:t>Institutional Dossiers &amp; Data</a:t>
            </a:r>
            <a:endParaRPr lang="en-US" sz="1500" dirty="0">
              <a:solidFill>
                <a:schemeClr val="bg1">
                  <a:lumMod val="85000"/>
                </a:schemeClr>
              </a:solidFill>
              <a:latin typeface="Garamond Premr Pro" panose="02020402060506020403" pitchFamily="18" charset="0"/>
            </a:endParaRPr>
          </a:p>
        </p:txBody>
      </p:sp>
      <p:sp>
        <p:nvSpPr>
          <p:cNvPr id="4" name="Text 2">
            <a:extLst>
              <a:ext uri="{FF2B5EF4-FFF2-40B4-BE49-F238E27FC236}">
                <a16:creationId xmlns:a16="http://schemas.microsoft.com/office/drawing/2014/main" id="{1B92BDCB-D5DA-AB3D-57C0-FA47FF6F932D}"/>
              </a:ext>
            </a:extLst>
          </p:cNvPr>
          <p:cNvSpPr/>
          <p:nvPr/>
        </p:nvSpPr>
        <p:spPr>
          <a:xfrm>
            <a:off x="50400" y="638491"/>
            <a:ext cx="9093600" cy="1834177"/>
          </a:xfrm>
          <a:prstGeom prst="rect">
            <a:avLst/>
          </a:prstGeom>
          <a:noFill/>
          <a:ln/>
        </p:spPr>
        <p:txBody>
          <a:bodyPr wrap="square" lIns="0" tIns="0" rIns="0" bIns="0" rtlCol="0" anchor="t"/>
          <a:lstStyle/>
          <a:p>
            <a:pPr>
              <a:lnSpc>
                <a:spcPct val="150000"/>
              </a:lnSpc>
            </a:pPr>
            <a:r>
              <a:rPr lang="en-GB" sz="1400" dirty="0">
                <a:solidFill>
                  <a:schemeClr val="bg1">
                    <a:lumMod val="75000"/>
                  </a:schemeClr>
                </a:solidFill>
                <a:latin typeface="Garamond Premr Pro" panose="02020402060506020403" pitchFamily="18" charset="0"/>
              </a:rPr>
              <a:t>Spelthorne Borough Council (2019) </a:t>
            </a:r>
            <a:r>
              <a:rPr lang="en-GB" sz="1400" i="1" dirty="0">
                <a:solidFill>
                  <a:schemeClr val="bg1">
                    <a:lumMod val="75000"/>
                  </a:schemeClr>
                </a:solidFill>
                <a:latin typeface="Garamond Premr Pro" panose="02020402060506020403" pitchFamily="18" charset="0"/>
              </a:rPr>
              <a:t>Printed Minutes: Planning Committee, Tuesday 12 February 2019</a:t>
            </a:r>
            <a:r>
              <a:rPr lang="en-GB" sz="1400" dirty="0">
                <a:solidFill>
                  <a:schemeClr val="bg1">
                    <a:lumMod val="75000"/>
                  </a:schemeClr>
                </a:solidFill>
                <a:latin typeface="Garamond Premr Pro" panose="02020402060506020403" pitchFamily="18" charset="0"/>
              </a:rPr>
              <a:t>. Staines-upon-Thames: Spelthorne Borough Council. Available at: https://</a:t>
            </a:r>
            <a:r>
              <a:rPr lang="en-GB" sz="1400" dirty="0" err="1">
                <a:solidFill>
                  <a:schemeClr val="bg1">
                    <a:lumMod val="75000"/>
                  </a:schemeClr>
                </a:solidFill>
                <a:latin typeface="Garamond Premr Pro" panose="02020402060506020403" pitchFamily="18" charset="0"/>
              </a:rPr>
              <a:t>democracy.spelthorne.gov.uk</a:t>
            </a:r>
            <a:r>
              <a:rPr lang="en-GB" sz="1400" dirty="0">
                <a:solidFill>
                  <a:schemeClr val="bg1">
                    <a:lumMod val="75000"/>
                  </a:schemeClr>
                </a:solidFill>
                <a:latin typeface="Garamond Premr Pro" panose="02020402060506020403" pitchFamily="18" charset="0"/>
              </a:rPr>
              <a:t>/documents/g2033/Printed%20minutes%20Tuesday%2012-Feb-2019%2018.45%20Planning%20Committee.pdf?T=1 (Accessed: 6 March 2026).</a:t>
            </a:r>
          </a:p>
          <a:p>
            <a:pPr>
              <a:lnSpc>
                <a:spcPct val="150000"/>
              </a:lnSpc>
            </a:pPr>
            <a:r>
              <a:rPr lang="en-GB" sz="1400" dirty="0">
                <a:solidFill>
                  <a:schemeClr val="bg1">
                    <a:lumMod val="75000"/>
                  </a:schemeClr>
                </a:solidFill>
                <a:latin typeface="Garamond Premr Pro" panose="02020402060506020403" pitchFamily="18" charset="0"/>
              </a:rPr>
              <a:t>Thames Water (2018) 'Asset Location Search Sewer Map - ALS/ALS Standard/2018_3805197'. In: Hydrock (2018) </a:t>
            </a:r>
            <a:r>
              <a:rPr lang="en-GB" sz="1400" i="1" dirty="0">
                <a:solidFill>
                  <a:schemeClr val="bg1">
                    <a:lumMod val="75000"/>
                  </a:schemeClr>
                </a:solidFill>
                <a:latin typeface="Garamond Premr Pro" panose="02020402060506020403" pitchFamily="18" charset="0"/>
              </a:rPr>
              <a:t>Environmental Statement Volume 2: Flood Risk Assessment - Part 1</a:t>
            </a:r>
            <a:r>
              <a:rPr lang="en-GB" sz="1400" dirty="0">
                <a:solidFill>
                  <a:schemeClr val="bg1">
                    <a:lumMod val="75000"/>
                  </a:schemeClr>
                </a:solidFill>
                <a:latin typeface="Garamond Premr Pro" panose="02020402060506020403" pitchFamily="18" charset="0"/>
              </a:rPr>
              <a:t>. Planning Application: 18/01212/OUT. Spelthorne Borough Council, p. 6.</a:t>
            </a:r>
          </a:p>
          <a:p>
            <a:pPr>
              <a:lnSpc>
                <a:spcPct val="150000"/>
              </a:lnSpc>
            </a:pPr>
            <a:r>
              <a:rPr lang="en-GB" sz="1400" dirty="0">
                <a:solidFill>
                  <a:schemeClr val="bg1">
                    <a:lumMod val="75000"/>
                  </a:schemeClr>
                </a:solidFill>
                <a:latin typeface="Garamond Premr Pro" panose="02020402060506020403" pitchFamily="18" charset="0"/>
              </a:rPr>
              <a:t>Turley Economics (2018) </a:t>
            </a:r>
            <a:r>
              <a:rPr lang="en-GB" sz="1400" i="1" dirty="0">
                <a:solidFill>
                  <a:schemeClr val="bg1">
                    <a:lumMod val="75000"/>
                  </a:schemeClr>
                </a:solidFill>
                <a:latin typeface="Garamond Premr Pro" panose="02020402060506020403" pitchFamily="18" charset="0"/>
              </a:rPr>
              <a:t>Expanding Shepperton Studios: The Economic Impact</a:t>
            </a:r>
            <a:r>
              <a:rPr lang="en-GB" sz="1400" dirty="0">
                <a:solidFill>
                  <a:schemeClr val="bg1">
                    <a:lumMod val="75000"/>
                  </a:schemeClr>
                </a:solidFill>
                <a:latin typeface="Garamond Premr Pro" panose="02020402060506020403" pitchFamily="18" charset="0"/>
              </a:rPr>
              <a:t>. Document Ref: PINR3003. Reading: Turley Economics.</a:t>
            </a:r>
          </a:p>
          <a:p>
            <a:pPr>
              <a:lnSpc>
                <a:spcPct val="150000"/>
              </a:lnSpc>
            </a:pPr>
            <a:r>
              <a:rPr lang="en-GB" sz="1400" dirty="0">
                <a:solidFill>
                  <a:schemeClr val="bg1">
                    <a:lumMod val="75000"/>
                  </a:schemeClr>
                </a:solidFill>
                <a:latin typeface="Garamond Premr Pro" panose="02020402060506020403" pitchFamily="18" charset="0"/>
              </a:rPr>
              <a:t>Turley Heritage (2018) </a:t>
            </a:r>
            <a:r>
              <a:rPr lang="en-GB" sz="1400" i="1" dirty="0">
                <a:solidFill>
                  <a:schemeClr val="bg1">
                    <a:lumMod val="75000"/>
                  </a:schemeClr>
                </a:solidFill>
                <a:latin typeface="Garamond Premr Pro" panose="02020402060506020403" pitchFamily="18" charset="0"/>
              </a:rPr>
              <a:t>Shepperton Studios Heritage Statement</a:t>
            </a:r>
            <a:r>
              <a:rPr lang="en-GB" sz="1400" dirty="0">
                <a:solidFill>
                  <a:schemeClr val="bg1">
                    <a:lumMod val="75000"/>
                  </a:schemeClr>
                </a:solidFill>
                <a:latin typeface="Garamond Premr Pro" panose="02020402060506020403" pitchFamily="18" charset="0"/>
              </a:rPr>
              <a:t>. Reading: Turley Heritage.</a:t>
            </a:r>
          </a:p>
          <a:p>
            <a:pPr>
              <a:lnSpc>
                <a:spcPct val="150000"/>
              </a:lnSpc>
            </a:pPr>
            <a:r>
              <a:rPr lang="en-GB" sz="1400" dirty="0">
                <a:solidFill>
                  <a:schemeClr val="bg1">
                    <a:lumMod val="75000"/>
                  </a:schemeClr>
                </a:solidFill>
                <a:latin typeface="Garamond Premr Pro" panose="02020402060506020403" pitchFamily="18" charset="0"/>
              </a:rPr>
              <a:t>Turley Sustainability (2018) </a:t>
            </a:r>
            <a:r>
              <a:rPr lang="en-GB" sz="1400" i="1" dirty="0">
                <a:solidFill>
                  <a:schemeClr val="bg1">
                    <a:lumMod val="75000"/>
                  </a:schemeClr>
                </a:solidFill>
                <a:latin typeface="Garamond Premr Pro" panose="02020402060506020403" pitchFamily="18" charset="0"/>
              </a:rPr>
              <a:t>Sustainability Assessment: Shepperton Studios</a:t>
            </a:r>
            <a:r>
              <a:rPr lang="en-GB" sz="1400" dirty="0">
                <a:solidFill>
                  <a:schemeClr val="bg1">
                    <a:lumMod val="75000"/>
                  </a:schemeClr>
                </a:solidFill>
                <a:latin typeface="Garamond Premr Pro" panose="02020402060506020403" pitchFamily="18" charset="0"/>
              </a:rPr>
              <a:t>. Document Ref: PINR3003. Reading: Turley Sustainability.</a:t>
            </a:r>
          </a:p>
          <a:p>
            <a:pPr>
              <a:lnSpc>
                <a:spcPct val="150000"/>
              </a:lnSpc>
            </a:pPr>
            <a:r>
              <a:rPr lang="en-GB" sz="1400" dirty="0">
                <a:solidFill>
                  <a:schemeClr val="bg1">
                    <a:lumMod val="75000"/>
                  </a:schemeClr>
                </a:solidFill>
                <a:latin typeface="Garamond Premr Pro" panose="02020402060506020403" pitchFamily="18" charset="0"/>
              </a:rPr>
              <a:t>USGS (2026) </a:t>
            </a:r>
            <a:r>
              <a:rPr lang="en-GB" sz="1400" i="1" dirty="0">
                <a:solidFill>
                  <a:schemeClr val="bg1">
                    <a:lumMod val="75000"/>
                  </a:schemeClr>
                </a:solidFill>
                <a:latin typeface="Garamond Premr Pro" panose="02020402060506020403" pitchFamily="18" charset="0"/>
              </a:rPr>
              <a:t>Landsat 8 Collection 2 Tier 1 Level 2 (Thermal Infrared Sensor)</a:t>
            </a:r>
            <a:r>
              <a:rPr lang="en-GB" sz="1400" dirty="0">
                <a:solidFill>
                  <a:schemeClr val="bg1">
                    <a:lumMod val="75000"/>
                  </a:schemeClr>
                </a:solidFill>
                <a:latin typeface="Garamond Premr Pro" panose="02020402060506020403" pitchFamily="18" charset="0"/>
              </a:rPr>
              <a:t>. Earth Resources Observation and Science (EROS) </a:t>
            </a:r>
            <a:r>
              <a:rPr lang="en-GB" sz="1400" dirty="0" err="1">
                <a:solidFill>
                  <a:schemeClr val="bg1">
                    <a:lumMod val="75000"/>
                  </a:schemeClr>
                </a:solidFill>
                <a:latin typeface="Garamond Premr Pro" panose="02020402060506020403" pitchFamily="18" charset="0"/>
              </a:rPr>
              <a:t>Center</a:t>
            </a:r>
            <a:r>
              <a:rPr lang="en-GB" sz="1400" dirty="0">
                <a:solidFill>
                  <a:schemeClr val="bg1">
                    <a:lumMod val="75000"/>
                  </a:schemeClr>
                </a:solidFill>
                <a:latin typeface="Garamond Premr Pro" panose="02020402060506020403" pitchFamily="18" charset="0"/>
              </a:rPr>
              <a:t>. Available at: https://</a:t>
            </a:r>
            <a:r>
              <a:rPr lang="en-GB" sz="1400" dirty="0" err="1">
                <a:solidFill>
                  <a:schemeClr val="bg1">
                    <a:lumMod val="75000"/>
                  </a:schemeClr>
                </a:solidFill>
                <a:latin typeface="Garamond Premr Pro" panose="02020402060506020403" pitchFamily="18" charset="0"/>
              </a:rPr>
              <a:t>developers.google.com</a:t>
            </a:r>
            <a:r>
              <a:rPr lang="en-GB" sz="1400" dirty="0">
                <a:solidFill>
                  <a:schemeClr val="bg1">
                    <a:lumMod val="75000"/>
                  </a:schemeClr>
                </a:solidFill>
                <a:latin typeface="Garamond Premr Pro" panose="02020402060506020403" pitchFamily="18" charset="0"/>
              </a:rPr>
              <a:t>/earth-engine/datasets (Accessed: 4 March 2026).</a:t>
            </a:r>
          </a:p>
        </p:txBody>
      </p:sp>
      <p:sp>
        <p:nvSpPr>
          <p:cNvPr id="8" name="Text 6">
            <a:extLst>
              <a:ext uri="{FF2B5EF4-FFF2-40B4-BE49-F238E27FC236}">
                <a16:creationId xmlns:a16="http://schemas.microsoft.com/office/drawing/2014/main" id="{13328595-9680-2D09-B095-99FAA0825C71}"/>
              </a:ext>
            </a:extLst>
          </p:cNvPr>
          <p:cNvSpPr/>
          <p:nvPr/>
        </p:nvSpPr>
        <p:spPr>
          <a:xfrm>
            <a:off x="609600" y="3589920"/>
            <a:ext cx="7924800" cy="300038"/>
          </a:xfrm>
          <a:prstGeom prst="rect">
            <a:avLst/>
          </a:prstGeom>
          <a:noFill/>
          <a:ln/>
        </p:spPr>
        <p:txBody>
          <a:bodyPr wrap="square" lIns="0" tIns="0" rIns="0" bIns="0" rtlCol="0" anchor="t"/>
          <a:lstStyle/>
          <a:p>
            <a:pPr marL="0" indent="0">
              <a:lnSpc>
                <a:spcPts val="1350"/>
              </a:lnSpc>
              <a:buNone/>
            </a:pPr>
            <a:endParaRPr lang="en-US" sz="1500" dirty="0"/>
          </a:p>
        </p:txBody>
      </p:sp>
      <p:sp>
        <p:nvSpPr>
          <p:cNvPr id="9" name="Text 7">
            <a:extLst>
              <a:ext uri="{FF2B5EF4-FFF2-40B4-BE49-F238E27FC236}">
                <a16:creationId xmlns:a16="http://schemas.microsoft.com/office/drawing/2014/main" id="{869B1390-77A6-1C6A-AFFD-B870FB6F28F2}"/>
              </a:ext>
            </a:extLst>
          </p:cNvPr>
          <p:cNvSpPr/>
          <p:nvPr/>
        </p:nvSpPr>
        <p:spPr>
          <a:xfrm>
            <a:off x="609600" y="3759398"/>
            <a:ext cx="7924800" cy="2743878"/>
          </a:xfrm>
          <a:prstGeom prst="rect">
            <a:avLst/>
          </a:prstGeom>
          <a:noFill/>
          <a:ln/>
        </p:spPr>
        <p:txBody>
          <a:bodyPr wrap="square" lIns="0" tIns="0" rIns="0" bIns="0" rtlCol="0" anchor="t"/>
          <a:lstStyle/>
          <a:p>
            <a:endParaRPr lang="en-GB" sz="1050" dirty="0">
              <a:solidFill>
                <a:schemeClr val="bg1">
                  <a:lumMod val="65000"/>
                </a:schemeClr>
              </a:solidFill>
              <a:latin typeface="Courier Prime" panose="02000409000000000000" pitchFamily="49" charset="77"/>
            </a:endParaRPr>
          </a:p>
        </p:txBody>
      </p:sp>
    </p:spTree>
    <p:extLst>
      <p:ext uri="{BB962C8B-B14F-4D97-AF65-F5344CB8AC3E}">
        <p14:creationId xmlns:p14="http://schemas.microsoft.com/office/powerpoint/2010/main" val="757245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93FEBB4-8F56-3F9F-A721-5EB52781DD4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B8F1C82-579C-8669-B7FA-A46D44F60E51}"/>
              </a:ext>
            </a:extLst>
          </p:cNvPr>
          <p:cNvSpPr/>
          <p:nvPr/>
        </p:nvSpPr>
        <p:spPr>
          <a:xfrm>
            <a:off x="0" y="354542"/>
            <a:ext cx="9144000" cy="1020999"/>
          </a:xfrm>
          <a:prstGeom prst="rect">
            <a:avLst/>
          </a:prstGeom>
          <a:noFill/>
          <a:ln/>
        </p:spPr>
        <p:txBody>
          <a:bodyPr wrap="square" lIns="0" tIns="0" rIns="0" bIns="0" rtlCol="0" anchor="t"/>
          <a:lstStyle/>
          <a:p>
            <a:pPr algn="ctr">
              <a:lnSpc>
                <a:spcPct val="150000"/>
              </a:lnSpc>
            </a:pPr>
            <a:r>
              <a:rPr lang="en-GB" sz="4000" b="1" dirty="0">
                <a:solidFill>
                  <a:schemeClr val="bg1"/>
                </a:solidFill>
                <a:latin typeface="Garamond Premr Pro Disp" panose="02020402060506020403" pitchFamily="18" charset="0"/>
              </a:rPr>
              <a:t>Thank</a:t>
            </a:r>
            <a:r>
              <a:rPr lang="zh-CN" altLang="en-US" sz="4000" b="1" dirty="0">
                <a:solidFill>
                  <a:schemeClr val="bg1"/>
                </a:solidFill>
                <a:latin typeface="Garamond Premr Pro Disp" panose="02020402060506020403" pitchFamily="18" charset="0"/>
              </a:rPr>
              <a:t> </a:t>
            </a:r>
            <a:r>
              <a:rPr lang="en-US" altLang="zh-CN" sz="4000" b="1" dirty="0">
                <a:solidFill>
                  <a:schemeClr val="bg1"/>
                </a:solidFill>
                <a:latin typeface="Garamond Premr Pro Disp" panose="02020402060506020403" pitchFamily="18" charset="0"/>
              </a:rPr>
              <a:t>You</a:t>
            </a:r>
            <a:r>
              <a:rPr lang="en-GB" altLang="zh-CN" sz="4000" b="1" dirty="0">
                <a:solidFill>
                  <a:schemeClr val="bg1"/>
                </a:solidFill>
                <a:latin typeface="Garamond Premr Pro Disp" panose="02020402060506020403" pitchFamily="18" charset="0"/>
              </a:rPr>
              <a:t>.</a:t>
            </a:r>
            <a:endParaRPr lang="en-US" sz="4000" b="1" dirty="0">
              <a:solidFill>
                <a:schemeClr val="bg1"/>
              </a:solidFill>
              <a:latin typeface="Garamond Premr Pro Disp" panose="02020402060506020403" pitchFamily="18" charset="0"/>
            </a:endParaRPr>
          </a:p>
        </p:txBody>
      </p:sp>
      <p:pic>
        <p:nvPicPr>
          <p:cNvPr id="2" name="Picture 1">
            <a:extLst>
              <a:ext uri="{FF2B5EF4-FFF2-40B4-BE49-F238E27FC236}">
                <a16:creationId xmlns:a16="http://schemas.microsoft.com/office/drawing/2014/main" id="{EB53AC6A-D431-AB12-9448-40C04976B5B3}"/>
              </a:ext>
            </a:extLst>
          </p:cNvPr>
          <p:cNvPicPr>
            <a:picLocks noChangeAspect="1"/>
          </p:cNvPicPr>
          <p:nvPr/>
        </p:nvPicPr>
        <p:blipFill>
          <a:blip r:embed="rId3"/>
          <a:stretch>
            <a:fillRect/>
          </a:stretch>
        </p:blipFill>
        <p:spPr>
          <a:xfrm>
            <a:off x="3603361" y="1603112"/>
            <a:ext cx="1937276" cy="1937276"/>
          </a:xfrm>
          <a:prstGeom prst="rect">
            <a:avLst/>
          </a:prstGeom>
        </p:spPr>
      </p:pic>
      <p:sp>
        <p:nvSpPr>
          <p:cNvPr id="4" name="Text 5">
            <a:extLst>
              <a:ext uri="{FF2B5EF4-FFF2-40B4-BE49-F238E27FC236}">
                <a16:creationId xmlns:a16="http://schemas.microsoft.com/office/drawing/2014/main" id="{5B439C4B-C949-A25F-824D-238ECC160C17}"/>
              </a:ext>
            </a:extLst>
          </p:cNvPr>
          <p:cNvSpPr/>
          <p:nvPr/>
        </p:nvSpPr>
        <p:spPr>
          <a:xfrm>
            <a:off x="2928471" y="3680955"/>
            <a:ext cx="3287055" cy="642938"/>
          </a:xfrm>
          <a:prstGeom prst="rect">
            <a:avLst/>
          </a:prstGeom>
          <a:noFill/>
          <a:ln/>
        </p:spPr>
        <p:txBody>
          <a:bodyPr wrap="square" lIns="0" tIns="0" rIns="0" bIns="0" rtlCol="0" anchor="t"/>
          <a:lstStyle/>
          <a:p>
            <a:pPr marL="0" indent="0" algn="ctr">
              <a:buNone/>
            </a:pP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Scan to access</a:t>
            </a:r>
            <a:endParaRPr lang="en-US" sz="1100" dirty="0">
              <a:solidFill>
                <a:schemeClr val="bg1">
                  <a:lumMod val="85000"/>
                </a:schemeClr>
              </a:solidFill>
              <a:latin typeface="Courier Prime" panose="02000409000000000000" pitchFamily="49" charset="77"/>
            </a:endParaRPr>
          </a:p>
          <a:p>
            <a:pPr marL="0" indent="0" algn="ctr">
              <a:buNone/>
            </a:pP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OSM_AUDIT_2025</a:t>
            </a:r>
            <a:endParaRPr lang="en-US" sz="1100" dirty="0">
              <a:solidFill>
                <a:schemeClr val="bg1">
                  <a:lumMod val="85000"/>
                </a:schemeClr>
              </a:solidFill>
              <a:latin typeface="Courier Prime" panose="02000409000000000000" pitchFamily="49" charset="77"/>
            </a:endParaRPr>
          </a:p>
          <a:p>
            <a:pPr marL="0" indent="0" algn="ctr">
              <a:buNone/>
            </a:pP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GitHub Repository</a:t>
            </a:r>
            <a:endParaRPr lang="en-US" sz="1100" dirty="0">
              <a:solidFill>
                <a:schemeClr val="bg1">
                  <a:lumMod val="85000"/>
                </a:schemeClr>
              </a:solidFill>
              <a:latin typeface="Courier Prime" panose="02000409000000000000" pitchFamily="49" charset="77"/>
            </a:endParaRPr>
          </a:p>
          <a:p>
            <a:pPr marL="0" indent="0" algn="ctr">
              <a:buNone/>
            </a:pP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EPSG:27700 </a:t>
            </a:r>
          </a:p>
          <a:p>
            <a:pPr marL="0" indent="0" algn="ctr">
              <a:buNone/>
            </a:pP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Logic</a:t>
            </a:r>
            <a:r>
              <a:rPr lang="en-US" sz="1100" dirty="0">
                <a:solidFill>
                  <a:schemeClr val="bg1">
                    <a:lumMod val="85000"/>
                  </a:schemeClr>
                </a:solidFill>
                <a:latin typeface="Courier Prime" panose="02000409000000000000" pitchFamily="49" charset="77"/>
              </a:rPr>
              <a:t> </a:t>
            </a:r>
            <a:r>
              <a:rPr lang="en-US" sz="1100" dirty="0">
                <a:solidFill>
                  <a:schemeClr val="bg1">
                    <a:lumMod val="85000"/>
                  </a:schemeClr>
                </a:solidFill>
                <a:latin typeface="Courier Prime" panose="02000409000000000000" pitchFamily="49" charset="77"/>
                <a:ea typeface="Courier New" pitchFamily="34" charset="-122"/>
                <a:cs typeface="Courier New" pitchFamily="34" charset="-120"/>
              </a:rPr>
              <a:t>&amp; Raw JSON Datasets</a:t>
            </a:r>
            <a:endParaRPr lang="en-US" sz="1100" dirty="0">
              <a:solidFill>
                <a:schemeClr val="bg1">
                  <a:lumMod val="85000"/>
                </a:schemeClr>
              </a:solidFill>
              <a:latin typeface="Courier Prime" panose="02000409000000000000" pitchFamily="49" charset="77"/>
            </a:endParaRPr>
          </a:p>
        </p:txBody>
      </p:sp>
      <p:sp>
        <p:nvSpPr>
          <p:cNvPr id="5" name="Text 6">
            <a:extLst>
              <a:ext uri="{FF2B5EF4-FFF2-40B4-BE49-F238E27FC236}">
                <a16:creationId xmlns:a16="http://schemas.microsoft.com/office/drawing/2014/main" id="{9B4C4E42-0E25-9934-2A26-EAE36BD9E648}"/>
              </a:ext>
            </a:extLst>
          </p:cNvPr>
          <p:cNvSpPr/>
          <p:nvPr/>
        </p:nvSpPr>
        <p:spPr>
          <a:xfrm>
            <a:off x="1941087" y="4626709"/>
            <a:ext cx="5261822" cy="324497"/>
          </a:xfrm>
          <a:prstGeom prst="rect">
            <a:avLst/>
          </a:prstGeom>
          <a:noFill/>
          <a:ln/>
        </p:spPr>
        <p:txBody>
          <a:bodyPr wrap="square" lIns="0" tIns="0" rIns="0" bIns="0" rtlCol="0" anchor="t"/>
          <a:lstStyle/>
          <a:p>
            <a:pPr algn="ctr"/>
            <a:r>
              <a:rPr lang="en-US" sz="1100" dirty="0" err="1">
                <a:solidFill>
                  <a:srgbClr val="CCCCCC"/>
                </a:solidFill>
                <a:latin typeface="Courier Prime" panose="02000409000000000000" pitchFamily="49" charset="77"/>
                <a:ea typeface="Courier New" pitchFamily="34" charset="-122"/>
                <a:cs typeface="Courier New" pitchFamily="34" charset="-120"/>
              </a:rPr>
              <a:t>github.com</a:t>
            </a:r>
            <a:r>
              <a:rPr lang="en-US" sz="1100" dirty="0">
                <a:solidFill>
                  <a:srgbClr val="CCCCCC"/>
                </a:solidFill>
                <a:latin typeface="Courier Prime" panose="02000409000000000000" pitchFamily="49" charset="77"/>
                <a:ea typeface="Courier New" pitchFamily="34" charset="-122"/>
                <a:cs typeface="Courier New" pitchFamily="34" charset="-120"/>
              </a:rPr>
              <a:t>/</a:t>
            </a:r>
            <a:r>
              <a:rPr lang="en-US" sz="1100" dirty="0" err="1">
                <a:solidFill>
                  <a:srgbClr val="CCCCCC"/>
                </a:solidFill>
                <a:latin typeface="Courier Prime" panose="02000409000000000000" pitchFamily="49" charset="77"/>
                <a:ea typeface="Courier New" pitchFamily="34" charset="-122"/>
                <a:cs typeface="Courier New" pitchFamily="34" charset="-120"/>
              </a:rPr>
              <a:t>HanpuLi</a:t>
            </a:r>
            <a:r>
              <a:rPr lang="en-US" sz="1100" dirty="0">
                <a:solidFill>
                  <a:srgbClr val="CCCCCC"/>
                </a:solidFill>
                <a:latin typeface="Courier Prime" panose="02000409000000000000" pitchFamily="49" charset="77"/>
                <a:ea typeface="Courier New" pitchFamily="34" charset="-122"/>
                <a:cs typeface="Courier New" pitchFamily="34" charset="-120"/>
              </a:rPr>
              <a:t>/-OSM_AUDIT_2025</a:t>
            </a:r>
            <a:endParaRPr lang="en-US" sz="1100" dirty="0">
              <a:latin typeface="Courier Prime" panose="02000409000000000000" pitchFamily="49" charset="77"/>
            </a:endParaRPr>
          </a:p>
        </p:txBody>
      </p:sp>
    </p:spTree>
    <p:extLst>
      <p:ext uri="{BB962C8B-B14F-4D97-AF65-F5344CB8AC3E}">
        <p14:creationId xmlns:p14="http://schemas.microsoft.com/office/powerpoint/2010/main" val="2185024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C3473C4-6003-DE6C-D100-A8CF870B277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61A43B-8850-538B-9B4C-2704B8FA0CF0}"/>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panose="02020402060506020403" pitchFamily="18" charset="0"/>
                <a:ea typeface="Garamond" pitchFamily="34" charset="-122"/>
                <a:cs typeface="Garamond" pitchFamily="34" charset="-120"/>
              </a:rPr>
              <a:t>Evaluation: Counter-Arguments</a:t>
            </a:r>
            <a:endParaRPr lang="en-US" sz="2700" b="1" dirty="0">
              <a:latin typeface="Garamond Premr Pro" panose="02020402060506020403" pitchFamily="18" charset="0"/>
            </a:endParaRPr>
          </a:p>
        </p:txBody>
      </p:sp>
      <p:sp>
        <p:nvSpPr>
          <p:cNvPr id="4" name="Text 1">
            <a:extLst>
              <a:ext uri="{FF2B5EF4-FFF2-40B4-BE49-F238E27FC236}">
                <a16:creationId xmlns:a16="http://schemas.microsoft.com/office/drawing/2014/main" id="{93EE542D-E8E8-BA23-49EB-1C467D880CC1}"/>
              </a:ext>
            </a:extLst>
          </p:cNvPr>
          <p:cNvSpPr/>
          <p:nvPr/>
        </p:nvSpPr>
        <p:spPr>
          <a:xfrm>
            <a:off x="609600" y="1691336"/>
            <a:ext cx="8534400" cy="304800"/>
          </a:xfrm>
          <a:prstGeom prst="rect">
            <a:avLst/>
          </a:prstGeom>
          <a:noFill/>
          <a:ln/>
        </p:spPr>
        <p:txBody>
          <a:bodyPr wrap="square" lIns="0" tIns="0" rIns="0" bIns="0" rtlCol="0" anchor="t"/>
          <a:lstStyle/>
          <a:p>
            <a:pPr>
              <a:lnSpc>
                <a:spcPct val="150000"/>
              </a:lnSpc>
            </a:pPr>
            <a:r>
              <a:rPr lang="en-US" sz="2000" dirty="0">
                <a:solidFill>
                  <a:schemeClr val="bg1"/>
                </a:solidFill>
                <a:latin typeface="Garamond Premr Pro Disp" panose="02020402060506020403" pitchFamily="18" charset="0"/>
              </a:rPr>
              <a:t>1. </a:t>
            </a:r>
            <a:r>
              <a:rPr lang="en-GB" sz="2000" dirty="0">
                <a:solidFill>
                  <a:schemeClr val="bg1"/>
                </a:solidFill>
                <a:latin typeface="Garamond Premr Pro Disp" panose="02020402060506020403" pitchFamily="18" charset="0"/>
              </a:rPr>
              <a:t>Doesn't Virtual Production fundamentally save carbon by drastically reducing global aviation emissions from location shooting?</a:t>
            </a:r>
            <a:endParaRPr lang="en-US" sz="2000" dirty="0">
              <a:solidFill>
                <a:schemeClr val="bg1"/>
              </a:solidFill>
              <a:latin typeface="Garamond Premr Pro Disp" panose="02020402060506020403" pitchFamily="18" charset="0"/>
            </a:endParaRPr>
          </a:p>
        </p:txBody>
      </p:sp>
      <p:sp>
        <p:nvSpPr>
          <p:cNvPr id="5" name="Text 1">
            <a:extLst>
              <a:ext uri="{FF2B5EF4-FFF2-40B4-BE49-F238E27FC236}">
                <a16:creationId xmlns:a16="http://schemas.microsoft.com/office/drawing/2014/main" id="{BC47F2FB-A1C8-8C85-C112-C1FA8A29DEB6}"/>
              </a:ext>
            </a:extLst>
          </p:cNvPr>
          <p:cNvSpPr/>
          <p:nvPr/>
        </p:nvSpPr>
        <p:spPr>
          <a:xfrm>
            <a:off x="609600" y="2659167"/>
            <a:ext cx="8534400" cy="304800"/>
          </a:xfrm>
          <a:prstGeom prst="rect">
            <a:avLst/>
          </a:prstGeom>
          <a:noFill/>
          <a:ln/>
        </p:spPr>
        <p:txBody>
          <a:bodyPr wrap="square" lIns="0" tIns="0" rIns="0" bIns="0" rtlCol="0" anchor="t"/>
          <a:lstStyle/>
          <a:p>
            <a:pPr>
              <a:lnSpc>
                <a:spcPct val="150000"/>
              </a:lnSpc>
            </a:pPr>
            <a:r>
              <a:rPr lang="en-GB" sz="2000" dirty="0">
                <a:solidFill>
                  <a:schemeClr val="bg1"/>
                </a:solidFill>
                <a:latin typeface="Garamond Premr Pro Disp" panose="02020402060506020403" pitchFamily="18" charset="0"/>
              </a:rPr>
              <a:t>2. You cite 13.2 hectares of asphalt and 17 power nodes. How can you scientifically attribute this massive physical sprawl specifically to 'Virtual Production'?</a:t>
            </a:r>
            <a:endParaRPr lang="en-US" sz="2000" dirty="0">
              <a:solidFill>
                <a:schemeClr val="bg1"/>
              </a:solidFill>
              <a:latin typeface="Garamond Premr Pro Disp" panose="02020402060506020403" pitchFamily="18" charset="0"/>
            </a:endParaRPr>
          </a:p>
        </p:txBody>
      </p:sp>
      <p:sp>
        <p:nvSpPr>
          <p:cNvPr id="6" name="Text 1">
            <a:extLst>
              <a:ext uri="{FF2B5EF4-FFF2-40B4-BE49-F238E27FC236}">
                <a16:creationId xmlns:a16="http://schemas.microsoft.com/office/drawing/2014/main" id="{3126C925-D7FE-7C65-476D-51D8E06D1F57}"/>
              </a:ext>
            </a:extLst>
          </p:cNvPr>
          <p:cNvSpPr/>
          <p:nvPr/>
        </p:nvSpPr>
        <p:spPr>
          <a:xfrm>
            <a:off x="609600" y="3649767"/>
            <a:ext cx="8534400" cy="304800"/>
          </a:xfrm>
          <a:prstGeom prst="rect">
            <a:avLst/>
          </a:prstGeom>
          <a:noFill/>
          <a:ln/>
        </p:spPr>
        <p:txBody>
          <a:bodyPr wrap="square" lIns="0" tIns="0" rIns="0" bIns="0" rtlCol="0" anchor="t"/>
          <a:lstStyle/>
          <a:p>
            <a:pPr>
              <a:lnSpc>
                <a:spcPct val="150000"/>
              </a:lnSpc>
            </a:pPr>
            <a:r>
              <a:rPr lang="en-GB" sz="2000" dirty="0">
                <a:solidFill>
                  <a:schemeClr val="bg1"/>
                </a:solidFill>
                <a:latin typeface="Garamond Premr Pro Disp" panose="02020402060506020403" pitchFamily="18" charset="0"/>
              </a:rPr>
              <a:t>3. Your audit is entirely critical. But the EIA projects £322.7 Million in annual operational GVA (Table 6.2’s £392M is the 4-yr construction total). </a:t>
            </a:r>
          </a:p>
          <a:p>
            <a:pPr>
              <a:lnSpc>
                <a:spcPct val="150000"/>
              </a:lnSpc>
            </a:pPr>
            <a:r>
              <a:rPr lang="en-GB" sz="2000" dirty="0">
                <a:solidFill>
                  <a:schemeClr val="bg1"/>
                </a:solidFill>
                <a:latin typeface="Garamond Premr Pro Disp" panose="02020402060506020403" pitchFamily="18" charset="0"/>
              </a:rPr>
              <a:t>Isn't this economic injection worth the sacrifice of </a:t>
            </a:r>
            <a:r>
              <a:rPr lang="en-US" altLang="zh-CN" sz="2000" dirty="0">
                <a:solidFill>
                  <a:schemeClr val="bg1"/>
                </a:solidFill>
                <a:latin typeface="Garamond Premr Pro Disp" panose="02020402060506020403" pitchFamily="18" charset="0"/>
              </a:rPr>
              <a:t>79</a:t>
            </a:r>
            <a:r>
              <a:rPr lang="en-GB" sz="2000" dirty="0">
                <a:solidFill>
                  <a:schemeClr val="bg1"/>
                </a:solidFill>
                <a:latin typeface="Garamond Premr Pro Disp" panose="02020402060506020403" pitchFamily="18" charset="0"/>
              </a:rPr>
              <a:t> trees?</a:t>
            </a:r>
            <a:endParaRPr lang="en-US" sz="2000" dirty="0">
              <a:solidFill>
                <a:schemeClr val="bg1"/>
              </a:solidFill>
              <a:latin typeface="Garamond Premr Pro Disp" panose="02020402060506020403" pitchFamily="18" charset="0"/>
            </a:endParaRPr>
          </a:p>
        </p:txBody>
      </p:sp>
      <p:pic>
        <p:nvPicPr>
          <p:cNvPr id="7" name="Picture 6">
            <a:extLst>
              <a:ext uri="{FF2B5EF4-FFF2-40B4-BE49-F238E27FC236}">
                <a16:creationId xmlns:a16="http://schemas.microsoft.com/office/drawing/2014/main" id="{EA6A6B37-6423-4376-8C08-797D47011CDE}"/>
              </a:ext>
            </a:extLst>
          </p:cNvPr>
          <p:cNvPicPr>
            <a:picLocks noChangeAspect="1"/>
          </p:cNvPicPr>
          <p:nvPr/>
        </p:nvPicPr>
        <p:blipFill>
          <a:blip r:embed="rId3"/>
          <a:stretch>
            <a:fillRect/>
          </a:stretch>
        </p:blipFill>
        <p:spPr>
          <a:xfrm>
            <a:off x="7469414" y="3468914"/>
            <a:ext cx="1674586" cy="1674586"/>
          </a:xfrm>
          <a:prstGeom prst="rect">
            <a:avLst/>
          </a:prstGeom>
        </p:spPr>
      </p:pic>
    </p:spTree>
    <p:extLst>
      <p:ext uri="{BB962C8B-B14F-4D97-AF65-F5344CB8AC3E}">
        <p14:creationId xmlns:p14="http://schemas.microsoft.com/office/powerpoint/2010/main" val="1060816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3" name="Text 1"/>
          <p:cNvSpPr/>
          <p:nvPr/>
        </p:nvSpPr>
        <p:spPr>
          <a:xfrm>
            <a:off x="398834" y="1249635"/>
            <a:ext cx="8307421" cy="304800"/>
          </a:xfrm>
          <a:prstGeom prst="rect">
            <a:avLst/>
          </a:prstGeom>
          <a:noFill/>
          <a:ln/>
        </p:spPr>
        <p:txBody>
          <a:bodyPr wrap="square" lIns="0" tIns="0" rIns="0" bIns="0" rtlCol="0" anchor="t"/>
          <a:lstStyle/>
          <a:p>
            <a:pPr algn="ctr">
              <a:lnSpc>
                <a:spcPct val="150000"/>
              </a:lnSpc>
            </a:pPr>
            <a:r>
              <a:rPr lang="en-GB" sz="2400" b="1" dirty="0">
                <a:solidFill>
                  <a:schemeClr val="bg1"/>
                </a:solidFill>
                <a:latin typeface="Garamond Premr Pro Disp" panose="02020402060506020403" pitchFamily="18" charset="0"/>
              </a:rPr>
              <a:t>Doesn't Virtual Production fundamentally save carbon by drastically reducing global aviation emissions from location shooting?</a:t>
            </a:r>
            <a:endParaRPr lang="en-US" sz="2100" b="1" dirty="0">
              <a:solidFill>
                <a:schemeClr val="bg1"/>
              </a:solidFill>
              <a:latin typeface="Garamond Premr Pro Disp" panose="020204020605060204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AB68B08-CA4E-92A6-B8A0-EB79B642DB1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9DDF9C-BEBC-B315-16EA-60F8D1C2CD1E}"/>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I: The Aviation Fallacy</a:t>
            </a:r>
            <a:endParaRPr lang="en-US" sz="2700" b="1" dirty="0">
              <a:latin typeface="Garamond Premr Pro Disp" panose="02020402060506020403" pitchFamily="18" charset="0"/>
            </a:endParaRPr>
          </a:p>
        </p:txBody>
      </p:sp>
      <p:sp>
        <p:nvSpPr>
          <p:cNvPr id="4" name="Text 2">
            <a:extLst>
              <a:ext uri="{FF2B5EF4-FFF2-40B4-BE49-F238E27FC236}">
                <a16:creationId xmlns:a16="http://schemas.microsoft.com/office/drawing/2014/main" id="{1A167169-458B-04F5-8490-FE564BA954BE}"/>
              </a:ext>
            </a:extLst>
          </p:cNvPr>
          <p:cNvSpPr/>
          <p:nvPr/>
        </p:nvSpPr>
        <p:spPr>
          <a:xfrm>
            <a:off x="609600" y="1432839"/>
            <a:ext cx="7924800" cy="617190"/>
          </a:xfrm>
          <a:prstGeom prst="rect">
            <a:avLst/>
          </a:prstGeom>
          <a:noFill/>
          <a:ln/>
        </p:spPr>
        <p:txBody>
          <a:bodyPr wrap="square" lIns="0" tIns="0" rIns="0" bIns="0" rtlCol="0" anchor="t"/>
          <a:lstStyle/>
          <a:p>
            <a:pPr>
              <a:lnSpc>
                <a:spcPct val="150000"/>
              </a:lnSpc>
            </a:pPr>
            <a:r>
              <a:rPr lang="en-GB" sz="2400" dirty="0">
                <a:solidFill>
                  <a:schemeClr val="bg1"/>
                </a:solidFill>
                <a:latin typeface="Garamond Premr Pro" panose="02020402060506020403" pitchFamily="18" charset="0"/>
              </a:rPr>
              <a:t>Efficiency in computation triggers the Rebound Effect (Sharma, 2024). </a:t>
            </a:r>
            <a:r>
              <a:rPr lang="en-US" sz="2400" dirty="0">
                <a:solidFill>
                  <a:schemeClr val="bg1"/>
                </a:solidFill>
                <a:latin typeface="Garamond Premr Pro" panose="02020402060506020403" pitchFamily="18" charset="0"/>
                <a:ea typeface="Garamond" pitchFamily="34" charset="-122"/>
                <a:cs typeface="Garamond" pitchFamily="34" charset="-120"/>
              </a:rPr>
              <a:t>Savings from avoided flights are reinvested into higher-resolution rendering and local physical sprawl. Aviation emissions are simply displaced into 5.4 GWh of local grid parasitism.</a:t>
            </a:r>
            <a:r>
              <a:rPr lang="zh-CN" altLang="en-US" sz="2400" dirty="0">
                <a:solidFill>
                  <a:schemeClr val="bg1"/>
                </a:solidFill>
                <a:latin typeface="Garamond Premr Pro" panose="02020402060506020403" pitchFamily="18" charset="0"/>
                <a:ea typeface="Garamond" pitchFamily="34" charset="-122"/>
                <a:cs typeface="Garamond" pitchFamily="34" charset="-120"/>
              </a:rPr>
              <a:t> </a:t>
            </a:r>
            <a:endParaRPr lang="en-US" sz="2400" dirty="0">
              <a:solidFill>
                <a:schemeClr val="bg1"/>
              </a:solidFill>
              <a:latin typeface="Garamond Premr Pro" panose="02020402060506020403" pitchFamily="18" charset="0"/>
              <a:ea typeface="Garamond" pitchFamily="34" charset="-122"/>
              <a:cs typeface="Garamond" pitchFamily="34" charset="-120"/>
            </a:endParaRPr>
          </a:p>
          <a:p>
            <a:pPr marL="0" indent="0">
              <a:lnSpc>
                <a:spcPct val="150000"/>
              </a:lnSpc>
              <a:buNone/>
            </a:pPr>
            <a:endParaRPr lang="en-US" sz="2400" dirty="0">
              <a:solidFill>
                <a:schemeClr val="bg1"/>
              </a:solidFill>
              <a:latin typeface="Garamond Premr Pro" panose="02020402060506020403" pitchFamily="18" charset="0"/>
            </a:endParaRPr>
          </a:p>
        </p:txBody>
      </p:sp>
    </p:spTree>
    <p:extLst>
      <p:ext uri="{BB962C8B-B14F-4D97-AF65-F5344CB8AC3E}">
        <p14:creationId xmlns:p14="http://schemas.microsoft.com/office/powerpoint/2010/main" val="1227105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F45EC1F-05A0-1AA0-AE9F-60C7431584B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4803359-2A77-17DA-D362-7E6B49226343}"/>
              </a:ext>
            </a:extLst>
          </p:cNvPr>
          <p:cNvSpPr/>
          <p:nvPr/>
        </p:nvSpPr>
        <p:spPr>
          <a:xfrm>
            <a:off x="0" y="1249635"/>
            <a:ext cx="9144000" cy="304800"/>
          </a:xfrm>
          <a:prstGeom prst="rect">
            <a:avLst/>
          </a:prstGeom>
          <a:noFill/>
          <a:ln/>
        </p:spPr>
        <p:txBody>
          <a:bodyPr wrap="square" lIns="0" tIns="0" rIns="0" bIns="0" rtlCol="0" anchor="t"/>
          <a:lstStyle/>
          <a:p>
            <a:pPr algn="ctr">
              <a:lnSpc>
                <a:spcPct val="150000"/>
              </a:lnSpc>
            </a:pPr>
            <a:r>
              <a:rPr lang="en-GB" sz="2400" b="1" dirty="0">
                <a:solidFill>
                  <a:schemeClr val="bg1"/>
                </a:solidFill>
                <a:latin typeface="Garamond Premr Pro Disp" panose="02020402060506020403" pitchFamily="18" charset="0"/>
              </a:rPr>
              <a:t>You cite 13.2 hectares of asphalt and 17 power nodes. How can you scientifically attribute this massive physical sprawl specifically to 'Virtual Production'?</a:t>
            </a:r>
            <a:endParaRPr lang="en-US" sz="2100" b="1" dirty="0">
              <a:solidFill>
                <a:schemeClr val="bg1"/>
              </a:solidFill>
              <a:latin typeface="Garamond Premr Pro Disp" panose="02020402060506020403" pitchFamily="18" charset="0"/>
            </a:endParaRPr>
          </a:p>
        </p:txBody>
      </p:sp>
    </p:spTree>
    <p:extLst>
      <p:ext uri="{BB962C8B-B14F-4D97-AF65-F5344CB8AC3E}">
        <p14:creationId xmlns:p14="http://schemas.microsoft.com/office/powerpoint/2010/main" val="660610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II: The Attribution Trap</a:t>
            </a:r>
            <a:endParaRPr lang="en-US" sz="2700" b="1" dirty="0">
              <a:latin typeface="Garamond Premr Pro Disp" panose="02020402060506020403" pitchFamily="18" charset="0"/>
            </a:endParaRPr>
          </a:p>
        </p:txBody>
      </p:sp>
      <p:sp>
        <p:nvSpPr>
          <p:cNvPr id="4" name="Text 2"/>
          <p:cNvSpPr/>
          <p:nvPr/>
        </p:nvSpPr>
        <p:spPr>
          <a:xfrm>
            <a:off x="609600" y="1423113"/>
            <a:ext cx="7924800" cy="617190"/>
          </a:xfrm>
          <a:prstGeom prst="rect">
            <a:avLst/>
          </a:prstGeom>
          <a:noFill/>
          <a:ln/>
        </p:spPr>
        <p:txBody>
          <a:bodyPr wrap="square" lIns="0" tIns="0" rIns="0" bIns="0" rtlCol="0" anchor="t"/>
          <a:lstStyle/>
          <a:p>
            <a:pPr>
              <a:lnSpc>
                <a:spcPct val="150000"/>
              </a:lnSpc>
            </a:pPr>
            <a:r>
              <a:rPr lang="en-GB" sz="2400" dirty="0">
                <a:solidFill>
                  <a:schemeClr val="bg1"/>
                </a:solidFill>
                <a:latin typeface="Garamond Premr Pro" panose="02020402060506020403" pitchFamily="18" charset="0"/>
              </a:rPr>
              <a:t>Virtual Production operates as a "Digital Spatial Fix" (Greene &amp; Joseph, 2015). You cannot separate the digital pixel from the physical brick.</a:t>
            </a:r>
            <a:endParaRPr lang="en-US" sz="2400" dirty="0">
              <a:solidFill>
                <a:schemeClr val="bg1"/>
              </a:solidFill>
              <a:latin typeface="Garamond Premr Pro" panose="02020402060506020403" pitchFamily="18" charset="0"/>
            </a:endParaRPr>
          </a:p>
        </p:txBody>
      </p:sp>
      <p:sp>
        <p:nvSpPr>
          <p:cNvPr id="5" name="TextBox 4">
            <a:extLst>
              <a:ext uri="{FF2B5EF4-FFF2-40B4-BE49-F238E27FC236}">
                <a16:creationId xmlns:a16="http://schemas.microsoft.com/office/drawing/2014/main" id="{D9B766EC-39AA-F07D-32C0-69AD8B3E7A06}"/>
              </a:ext>
            </a:extLst>
          </p:cNvPr>
          <p:cNvSpPr txBox="1"/>
          <p:nvPr/>
        </p:nvSpPr>
        <p:spPr>
          <a:xfrm>
            <a:off x="0" y="3820061"/>
            <a:ext cx="9144000" cy="1323439"/>
          </a:xfrm>
          <a:prstGeom prst="rect">
            <a:avLst/>
          </a:prstGeom>
          <a:noFill/>
        </p:spPr>
        <p:txBody>
          <a:bodyPr wrap="square" rtlCol="0">
            <a:spAutoFit/>
          </a:bodyPr>
          <a:lstStyle/>
          <a:p>
            <a:r>
              <a:rPr lang="en-GB" sz="1600" dirty="0">
                <a:solidFill>
                  <a:schemeClr val="bg1">
                    <a:lumMod val="50000"/>
                  </a:schemeClr>
                </a:solidFill>
                <a:latin typeface="Garamond Premr Pro Capt" panose="02020402060506020403" pitchFamily="18" charset="0"/>
              </a:rPr>
              <a:t>This audit does not claim that 100% of land conversion is causally reducible to virtual production.</a:t>
            </a:r>
          </a:p>
          <a:p>
            <a:r>
              <a:rPr lang="en-GB" sz="1600" dirty="0">
                <a:solidFill>
                  <a:schemeClr val="bg1">
                    <a:lumMod val="50000"/>
                  </a:schemeClr>
                </a:solidFill>
                <a:latin typeface="Garamond Premr Pro Capt" panose="02020402060506020403" pitchFamily="18" charset="0"/>
              </a:rPr>
              <a:t>Rather, it examines how virtual production discourse legitimises and stabilises expansionary spatial restructuring.</a:t>
            </a:r>
          </a:p>
          <a:p>
            <a:r>
              <a:rPr lang="en-GB" sz="1600" dirty="0">
                <a:solidFill>
                  <a:schemeClr val="bg1">
                    <a:lumMod val="50000"/>
                  </a:schemeClr>
                </a:solidFill>
                <a:latin typeface="Garamond Premr Pro Capt" panose="02020402060506020403" pitchFamily="18" charset="0"/>
              </a:rPr>
              <a:t>A full counterfactual baseline would require longitudinal comparative studio data, which exceeds the scope of this project.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6DBFB65-5AF5-2C63-01E5-CC0EC3322BC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3EAD6DA-1A97-B48A-1338-C921B0ACB519}"/>
              </a:ext>
            </a:extLst>
          </p:cNvPr>
          <p:cNvSpPr/>
          <p:nvPr/>
        </p:nvSpPr>
        <p:spPr>
          <a:xfrm>
            <a:off x="0" y="1259363"/>
            <a:ext cx="9144000" cy="304800"/>
          </a:xfrm>
          <a:prstGeom prst="rect">
            <a:avLst/>
          </a:prstGeom>
          <a:noFill/>
          <a:ln/>
        </p:spPr>
        <p:txBody>
          <a:bodyPr wrap="square" lIns="0" tIns="0" rIns="0" bIns="0" rtlCol="0" anchor="t"/>
          <a:lstStyle/>
          <a:p>
            <a:pPr algn="ctr">
              <a:lnSpc>
                <a:spcPct val="150000"/>
              </a:lnSpc>
            </a:pPr>
            <a:r>
              <a:rPr lang="en-GB" sz="2400" b="1" dirty="0">
                <a:solidFill>
                  <a:schemeClr val="bg1"/>
                </a:solidFill>
                <a:latin typeface="Garamond Premr Pro Disp" panose="02020402060506020403" pitchFamily="18" charset="0"/>
              </a:rPr>
              <a:t>Your audit is entirely critical. But the EIA projects £322.7 Million in annual operational GVA. </a:t>
            </a:r>
          </a:p>
          <a:p>
            <a:pPr algn="ctr">
              <a:lnSpc>
                <a:spcPct val="150000"/>
              </a:lnSpc>
            </a:pPr>
            <a:r>
              <a:rPr lang="en-GB" sz="2400" b="1" dirty="0">
                <a:solidFill>
                  <a:schemeClr val="bg1"/>
                </a:solidFill>
                <a:latin typeface="Garamond Premr Pro Disp" panose="02020402060506020403" pitchFamily="18" charset="0"/>
              </a:rPr>
              <a:t>Isn't this economic injection worth the sacrifice of </a:t>
            </a:r>
            <a:r>
              <a:rPr lang="en-US" altLang="zh-CN" sz="2400" b="1" dirty="0">
                <a:solidFill>
                  <a:schemeClr val="bg1"/>
                </a:solidFill>
                <a:latin typeface="Garamond Premr Pro Disp" panose="02020402060506020403" pitchFamily="18" charset="0"/>
              </a:rPr>
              <a:t>79</a:t>
            </a:r>
            <a:r>
              <a:rPr lang="en-GB" sz="2400" b="1" dirty="0">
                <a:solidFill>
                  <a:schemeClr val="bg1"/>
                </a:solidFill>
                <a:latin typeface="Garamond Premr Pro Disp" panose="02020402060506020403" pitchFamily="18" charset="0"/>
              </a:rPr>
              <a:t> trees?</a:t>
            </a:r>
            <a:endParaRPr lang="en-US" sz="2400" b="1" dirty="0">
              <a:solidFill>
                <a:schemeClr val="bg1"/>
              </a:solidFill>
              <a:latin typeface="Garamond Premr Pro Disp" panose="02020402060506020403" pitchFamily="18" charset="0"/>
            </a:endParaRPr>
          </a:p>
        </p:txBody>
      </p:sp>
    </p:spTree>
    <p:extLst>
      <p:ext uri="{BB962C8B-B14F-4D97-AF65-F5344CB8AC3E}">
        <p14:creationId xmlns:p14="http://schemas.microsoft.com/office/powerpoint/2010/main" val="2602347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AC83799-E2CA-1AD8-C93D-703C1230F7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EA993A-C7B1-1E1D-984D-A38D4F95DC33}"/>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US" sz="2700" b="1" dirty="0">
                <a:solidFill>
                  <a:srgbClr val="FFFFFF"/>
                </a:solidFill>
                <a:latin typeface="Garamond Premr Pro Disp" panose="02020402060506020403" pitchFamily="18" charset="0"/>
                <a:ea typeface="Garamond" pitchFamily="34" charset="-122"/>
                <a:cs typeface="Garamond" pitchFamily="34" charset="-120"/>
              </a:rPr>
              <a:t>III: The Economic Imperative</a:t>
            </a:r>
            <a:endParaRPr lang="en-US" sz="2700" b="1" dirty="0">
              <a:latin typeface="Garamond Premr Pro Disp" panose="02020402060506020403" pitchFamily="18" charset="0"/>
            </a:endParaRPr>
          </a:p>
        </p:txBody>
      </p:sp>
      <p:sp>
        <p:nvSpPr>
          <p:cNvPr id="4" name="Text 2">
            <a:extLst>
              <a:ext uri="{FF2B5EF4-FFF2-40B4-BE49-F238E27FC236}">
                <a16:creationId xmlns:a16="http://schemas.microsoft.com/office/drawing/2014/main" id="{4C39F12D-5EED-6CCB-58E9-D047C44A3E19}"/>
              </a:ext>
            </a:extLst>
          </p:cNvPr>
          <p:cNvSpPr/>
          <p:nvPr/>
        </p:nvSpPr>
        <p:spPr>
          <a:xfrm>
            <a:off x="609600" y="1423113"/>
            <a:ext cx="7924800" cy="617190"/>
          </a:xfrm>
          <a:prstGeom prst="rect">
            <a:avLst/>
          </a:prstGeom>
          <a:noFill/>
          <a:ln/>
        </p:spPr>
        <p:txBody>
          <a:bodyPr wrap="square" lIns="0" tIns="0" rIns="0" bIns="0" rtlCol="0" anchor="t"/>
          <a:lstStyle/>
          <a:p>
            <a:pPr>
              <a:lnSpc>
                <a:spcPct val="150000"/>
              </a:lnSpc>
            </a:pPr>
            <a:r>
              <a:rPr lang="en-GB" sz="2400" dirty="0">
                <a:solidFill>
                  <a:schemeClr val="bg1"/>
                </a:solidFill>
                <a:latin typeface="Garamond Premr Pro" panose="02020402060506020403" pitchFamily="18" charset="0"/>
              </a:rPr>
              <a:t>The audit does not deny the wealth generation; it exposes the structural asymmetry of its extraction (Harvey, 2004).</a:t>
            </a:r>
            <a:r>
              <a:rPr lang="zh-CN" altLang="en-US" sz="2400" dirty="0">
                <a:solidFill>
                  <a:schemeClr val="bg1"/>
                </a:solidFill>
                <a:latin typeface="Garamond Premr Pro" panose="02020402060506020403" pitchFamily="18" charset="0"/>
              </a:rPr>
              <a:t> </a:t>
            </a:r>
            <a:r>
              <a:rPr lang="en-GB" sz="2400" dirty="0">
                <a:solidFill>
                  <a:schemeClr val="bg1"/>
                </a:solidFill>
                <a:latin typeface="Garamond Premr Pro" panose="02020402060506020403" pitchFamily="18" charset="0"/>
              </a:rPr>
              <a:t>Economic gains are privatised, while ecological burdens are socialised, a classic asymmetry within capitalist accumulation.</a:t>
            </a:r>
          </a:p>
          <a:p>
            <a:pPr>
              <a:lnSpc>
                <a:spcPct val="150000"/>
              </a:lnSpc>
            </a:pPr>
            <a:endParaRPr lang="en-US" sz="2400" dirty="0">
              <a:solidFill>
                <a:schemeClr val="bg1"/>
              </a:solidFill>
              <a:latin typeface="Garamond Premr Pro" panose="02020402060506020403" pitchFamily="18" charset="0"/>
            </a:endParaRPr>
          </a:p>
        </p:txBody>
      </p:sp>
      <p:sp>
        <p:nvSpPr>
          <p:cNvPr id="3" name="TextBox 2">
            <a:extLst>
              <a:ext uri="{FF2B5EF4-FFF2-40B4-BE49-F238E27FC236}">
                <a16:creationId xmlns:a16="http://schemas.microsoft.com/office/drawing/2014/main" id="{7F2AFD86-FF5A-7FCA-4AA0-76D440A82EDD}"/>
              </a:ext>
            </a:extLst>
          </p:cNvPr>
          <p:cNvSpPr txBox="1"/>
          <p:nvPr/>
        </p:nvSpPr>
        <p:spPr>
          <a:xfrm>
            <a:off x="0" y="4558725"/>
            <a:ext cx="7829797" cy="584775"/>
          </a:xfrm>
          <a:prstGeom prst="rect">
            <a:avLst/>
          </a:prstGeom>
          <a:noFill/>
        </p:spPr>
        <p:txBody>
          <a:bodyPr wrap="square" rtlCol="0">
            <a:spAutoFit/>
          </a:bodyPr>
          <a:lstStyle/>
          <a:p>
            <a:r>
              <a:rPr lang="en-GB" sz="1600" dirty="0">
                <a:solidFill>
                  <a:schemeClr val="bg1">
                    <a:lumMod val="50000"/>
                  </a:schemeClr>
                </a:solidFill>
                <a:latin typeface="Garamond Premr Pro Capt" panose="02020402060506020403" pitchFamily="18" charset="0"/>
              </a:rPr>
              <a:t>Under strict land-use and energy caps, virtual production could contribute to decarbonisation; the issue lies in its current governance framework.</a:t>
            </a:r>
          </a:p>
        </p:txBody>
      </p:sp>
    </p:spTree>
    <p:extLst>
      <p:ext uri="{BB962C8B-B14F-4D97-AF65-F5344CB8AC3E}">
        <p14:creationId xmlns:p14="http://schemas.microsoft.com/office/powerpoint/2010/main" val="40717725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42BC21D-87DA-735F-EC21-1A62FCBFF7B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C5C8D6-8C96-5CD6-70DB-D2AFF7ECFF8B}"/>
              </a:ext>
            </a:extLst>
          </p:cNvPr>
          <p:cNvSpPr/>
          <p:nvPr/>
        </p:nvSpPr>
        <p:spPr>
          <a:xfrm>
            <a:off x="609600" y="60960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panose="02020402060506020403" pitchFamily="18" charset="0"/>
                <a:ea typeface="Garamond" pitchFamily="34" charset="-122"/>
                <a:cs typeface="Garamond" pitchFamily="34" charset="-120"/>
              </a:rPr>
              <a:t>Evaluation Summary</a:t>
            </a:r>
            <a:endParaRPr lang="en-US" sz="2700" b="1" dirty="0">
              <a:latin typeface="Garamond Premr Pro" panose="02020402060506020403" pitchFamily="18" charset="0"/>
            </a:endParaRPr>
          </a:p>
        </p:txBody>
      </p:sp>
      <p:sp>
        <p:nvSpPr>
          <p:cNvPr id="3" name="Text 1">
            <a:extLst>
              <a:ext uri="{FF2B5EF4-FFF2-40B4-BE49-F238E27FC236}">
                <a16:creationId xmlns:a16="http://schemas.microsoft.com/office/drawing/2014/main" id="{A467B244-B962-18C3-87D2-8FE097A6A033}"/>
              </a:ext>
            </a:extLst>
          </p:cNvPr>
          <p:cNvSpPr/>
          <p:nvPr/>
        </p:nvSpPr>
        <p:spPr>
          <a:xfrm>
            <a:off x="609600" y="1325835"/>
            <a:ext cx="8083296" cy="381000"/>
          </a:xfrm>
          <a:prstGeom prst="rect">
            <a:avLst/>
          </a:prstGeom>
          <a:noFill/>
          <a:ln/>
        </p:spPr>
        <p:txBody>
          <a:bodyPr wrap="square" lIns="0" tIns="0" rIns="0" bIns="0" rtlCol="0" anchor="t"/>
          <a:lstStyle/>
          <a:p>
            <a:pPr fontAlgn="t"/>
            <a:r>
              <a:rPr lang="en-GB" b="1" dirty="0">
                <a:solidFill>
                  <a:schemeClr val="bg1"/>
                </a:solidFill>
                <a:latin typeface="Garamond Premr Pro" panose="02020402060506020403" pitchFamily="18" charset="0"/>
              </a:rPr>
              <a:t>Q1. Does VP save carbon via reduced aviation?</a:t>
            </a:r>
            <a:br>
              <a:rPr lang="en-GB" dirty="0">
                <a:solidFill>
                  <a:schemeClr val="bg1"/>
                </a:solidFill>
                <a:latin typeface="Garamond Premr Pro" panose="02020402060506020403" pitchFamily="18" charset="0"/>
              </a:rPr>
            </a:br>
            <a:r>
              <a:rPr lang="en-GB" b="1" dirty="0">
                <a:solidFill>
                  <a:schemeClr val="bg1"/>
                </a:solidFill>
                <a:latin typeface="Garamond Premr Pro" panose="02020402060506020403" pitchFamily="18" charset="0"/>
              </a:rPr>
              <a:t>A.</a:t>
            </a:r>
            <a:r>
              <a:rPr lang="en-GB" dirty="0">
                <a:solidFill>
                  <a:schemeClr val="bg1"/>
                </a:solidFill>
                <a:latin typeface="Garamond Premr Pro" panose="02020402060506020403" pitchFamily="18" charset="0"/>
              </a:rPr>
              <a:t> Savings rebound into compute and local sprawl (5.4 GWh). </a:t>
            </a:r>
          </a:p>
          <a:p>
            <a:pPr fontAlgn="t"/>
            <a:endParaRPr lang="en-GB" dirty="0">
              <a:solidFill>
                <a:schemeClr val="bg1"/>
              </a:solidFill>
              <a:latin typeface="Garamond Premr Pro" panose="02020402060506020403" pitchFamily="18" charset="0"/>
            </a:endParaRPr>
          </a:p>
          <a:p>
            <a:pPr fontAlgn="t"/>
            <a:r>
              <a:rPr lang="en-GB" b="1" dirty="0">
                <a:solidFill>
                  <a:schemeClr val="bg1"/>
                </a:solidFill>
                <a:latin typeface="Garamond Premr Pro" panose="02020402060506020403" pitchFamily="18" charset="0"/>
              </a:rPr>
              <a:t>Q2. Can sprawl be attributed to VP?</a:t>
            </a:r>
            <a:br>
              <a:rPr lang="en-GB" dirty="0">
                <a:solidFill>
                  <a:schemeClr val="bg1"/>
                </a:solidFill>
                <a:latin typeface="Garamond Premr Pro" panose="02020402060506020403" pitchFamily="18" charset="0"/>
              </a:rPr>
            </a:br>
            <a:r>
              <a:rPr lang="en-GB" b="1" dirty="0">
                <a:solidFill>
                  <a:schemeClr val="bg1"/>
                </a:solidFill>
                <a:latin typeface="Garamond Premr Pro" panose="02020402060506020403" pitchFamily="18" charset="0"/>
              </a:rPr>
              <a:t>A.</a:t>
            </a:r>
            <a:r>
              <a:rPr lang="en-GB" dirty="0">
                <a:solidFill>
                  <a:schemeClr val="bg1"/>
                </a:solidFill>
                <a:latin typeface="Garamond Premr Pro" panose="02020402060506020403" pitchFamily="18" charset="0"/>
              </a:rPr>
              <a:t> VP functions as a Digital Spatial Fix; discourse legitimises expansion</a:t>
            </a:r>
          </a:p>
          <a:p>
            <a:pPr fontAlgn="t"/>
            <a:endParaRPr lang="en-GB" dirty="0">
              <a:solidFill>
                <a:schemeClr val="bg1"/>
              </a:solidFill>
              <a:latin typeface="Garamond Premr Pro" panose="02020402060506020403" pitchFamily="18" charset="0"/>
            </a:endParaRPr>
          </a:p>
          <a:p>
            <a:pPr fontAlgn="t"/>
            <a:r>
              <a:rPr lang="en-GB" b="1" dirty="0">
                <a:solidFill>
                  <a:schemeClr val="bg1"/>
                </a:solidFill>
                <a:latin typeface="Garamond Premr Pro" panose="02020402060506020403" pitchFamily="18" charset="0"/>
              </a:rPr>
              <a:t>Q3. Isn’t £322.7m/yr GVA worth 79 trees?</a:t>
            </a:r>
            <a:br>
              <a:rPr lang="en-GB" dirty="0">
                <a:solidFill>
                  <a:schemeClr val="bg1"/>
                </a:solidFill>
                <a:latin typeface="Garamond Premr Pro" panose="02020402060506020403" pitchFamily="18" charset="0"/>
              </a:rPr>
            </a:br>
            <a:r>
              <a:rPr lang="en-GB" b="1" dirty="0">
                <a:solidFill>
                  <a:schemeClr val="bg1"/>
                </a:solidFill>
                <a:latin typeface="Garamond Premr Pro" panose="02020402060506020403" pitchFamily="18" charset="0"/>
              </a:rPr>
              <a:t>A.</a:t>
            </a:r>
            <a:r>
              <a:rPr lang="en-GB" dirty="0">
                <a:solidFill>
                  <a:schemeClr val="bg1"/>
                </a:solidFill>
                <a:latin typeface="Garamond Premr Pro" panose="02020402060506020403" pitchFamily="18" charset="0"/>
              </a:rPr>
              <a:t> Value extraction is asymmetric; caps and governance matter, not growth alone.</a:t>
            </a:r>
          </a:p>
        </p:txBody>
      </p:sp>
    </p:spTree>
    <p:extLst>
      <p:ext uri="{BB962C8B-B14F-4D97-AF65-F5344CB8AC3E}">
        <p14:creationId xmlns:p14="http://schemas.microsoft.com/office/powerpoint/2010/main" val="3083077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D9552E6-0D09-FB40-A6B1-5EBDE4ADC4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D51C39-8671-57E8-13CE-A6A593CBA9A9}"/>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US" sz="2700" b="1" dirty="0">
                <a:solidFill>
                  <a:srgbClr val="FFFFFF"/>
                </a:solidFill>
                <a:latin typeface="Garamond Premr Pro Disp" panose="02020402060506020403" pitchFamily="18" charset="0"/>
                <a:ea typeface="Garamond" pitchFamily="34" charset="-122"/>
                <a:cs typeface="Garamond" pitchFamily="34" charset="-120"/>
              </a:rPr>
              <a:t>Appendix</a:t>
            </a:r>
            <a:endParaRPr lang="en-US" sz="2700" b="1" dirty="0">
              <a:latin typeface="Garamond Premr Pro Disp" panose="02020402060506020403" pitchFamily="18" charset="0"/>
            </a:endParaRPr>
          </a:p>
        </p:txBody>
      </p:sp>
      <p:sp>
        <p:nvSpPr>
          <p:cNvPr id="4" name="Text 2">
            <a:extLst>
              <a:ext uri="{FF2B5EF4-FFF2-40B4-BE49-F238E27FC236}">
                <a16:creationId xmlns:a16="http://schemas.microsoft.com/office/drawing/2014/main" id="{4250F748-1773-A3A1-B71F-6859F87C2638}"/>
              </a:ext>
            </a:extLst>
          </p:cNvPr>
          <p:cNvSpPr/>
          <p:nvPr/>
        </p:nvSpPr>
        <p:spPr>
          <a:xfrm>
            <a:off x="609600" y="1423113"/>
            <a:ext cx="7924800" cy="617190"/>
          </a:xfrm>
          <a:prstGeom prst="rect">
            <a:avLst/>
          </a:prstGeom>
          <a:noFill/>
          <a:ln/>
        </p:spPr>
        <p:txBody>
          <a:bodyPr wrap="square" lIns="0" tIns="0" rIns="0" bIns="0" rtlCol="0" anchor="t"/>
          <a:lstStyle/>
          <a:p>
            <a:pPr>
              <a:lnSpc>
                <a:spcPct val="150000"/>
              </a:lnSpc>
            </a:pPr>
            <a:r>
              <a:rPr lang="en-GB" dirty="0">
                <a:solidFill>
                  <a:schemeClr val="bg1">
                    <a:lumMod val="75000"/>
                  </a:schemeClr>
                </a:solidFill>
                <a:latin typeface="Garamond Premr Pro" panose="02020402060506020403" pitchFamily="18" charset="0"/>
              </a:rPr>
              <a:t>Here are unused slides.</a:t>
            </a:r>
            <a:endParaRPr lang="en-US" dirty="0">
              <a:solidFill>
                <a:schemeClr val="bg1">
                  <a:lumMod val="75000"/>
                </a:schemeClr>
              </a:solidFill>
              <a:latin typeface="Garamond Premr Pro" panose="02020402060506020403" pitchFamily="18" charset="0"/>
            </a:endParaRPr>
          </a:p>
        </p:txBody>
      </p:sp>
    </p:spTree>
    <p:extLst>
      <p:ext uri="{BB962C8B-B14F-4D97-AF65-F5344CB8AC3E}">
        <p14:creationId xmlns:p14="http://schemas.microsoft.com/office/powerpoint/2010/main" val="313330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AE8F453-D55E-6C70-9546-15EE1036340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3B2E84B-85BC-A519-6AD4-94B02F08703F}"/>
              </a:ext>
            </a:extLst>
          </p:cNvPr>
          <p:cNvSpPr/>
          <p:nvPr/>
        </p:nvSpPr>
        <p:spPr>
          <a:xfrm>
            <a:off x="530352" y="591033"/>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Institutional Complicity &amp; Moral Licensing</a:t>
            </a:r>
            <a:endParaRPr lang="en-US" sz="2700" b="1" dirty="0">
              <a:latin typeface="Garamond Premr Pro Disp" panose="02020402060506020403" pitchFamily="18" charset="0"/>
            </a:endParaRPr>
          </a:p>
        </p:txBody>
      </p:sp>
      <p:sp>
        <p:nvSpPr>
          <p:cNvPr id="4" name="Text 1">
            <a:extLst>
              <a:ext uri="{FF2B5EF4-FFF2-40B4-BE49-F238E27FC236}">
                <a16:creationId xmlns:a16="http://schemas.microsoft.com/office/drawing/2014/main" id="{1C750D2F-5722-B3FB-ADDD-F02783732265}"/>
              </a:ext>
            </a:extLst>
          </p:cNvPr>
          <p:cNvSpPr/>
          <p:nvPr/>
        </p:nvSpPr>
        <p:spPr>
          <a:xfrm>
            <a:off x="530352" y="1749251"/>
            <a:ext cx="8083296" cy="690563"/>
          </a:xfrm>
          <a:prstGeom prst="rect">
            <a:avLst/>
          </a:prstGeom>
          <a:noFill/>
          <a:ln/>
        </p:spPr>
        <p:txBody>
          <a:bodyPr wrap="square" lIns="0" tIns="0" rIns="0" bIns="0" rtlCol="0" anchor="t"/>
          <a:lstStyle/>
          <a:p>
            <a:pPr marL="0" indent="0" algn="ctr">
              <a:lnSpc>
                <a:spcPts val="4320"/>
              </a:lnSpc>
              <a:buNone/>
            </a:pPr>
            <a:r>
              <a:rPr lang="en-US" sz="4800" b="1" dirty="0">
                <a:solidFill>
                  <a:srgbClr val="FFFFFF"/>
                </a:solidFill>
                <a:latin typeface="Courier Prime" panose="02000409000000000000" pitchFamily="49" charset="77"/>
                <a:ea typeface="Courier New" pitchFamily="34" charset="-122"/>
                <a:cs typeface="Courier New" pitchFamily="34" charset="-120"/>
              </a:rPr>
              <a:t>£</a:t>
            </a:r>
            <a:r>
              <a:rPr lang="en-US" altLang="zh-CN" sz="4800" b="1" dirty="0">
                <a:solidFill>
                  <a:srgbClr val="FFFFFF"/>
                </a:solidFill>
                <a:latin typeface="Courier Prime" panose="02000409000000000000" pitchFamily="49" charset="77"/>
                <a:ea typeface="Courier New" pitchFamily="34" charset="-122"/>
                <a:cs typeface="Courier New" pitchFamily="34" charset="-120"/>
              </a:rPr>
              <a:t>1</a:t>
            </a:r>
            <a:r>
              <a:rPr lang="en-GB" altLang="zh-CN" sz="4800" b="1" dirty="0">
                <a:solidFill>
                  <a:srgbClr val="FFFFFF"/>
                </a:solidFill>
                <a:latin typeface="Courier Prime" panose="02000409000000000000" pitchFamily="49" charset="77"/>
                <a:ea typeface="Courier New" pitchFamily="34" charset="-122"/>
                <a:cs typeface="Courier New" pitchFamily="34" charset="-120"/>
              </a:rPr>
              <a:t>,096,500,000</a:t>
            </a:r>
            <a:endParaRPr lang="en-US" sz="4800" b="1" dirty="0">
              <a:latin typeface="Courier Prime" panose="02000409000000000000" pitchFamily="49" charset="77"/>
            </a:endParaRPr>
          </a:p>
        </p:txBody>
      </p:sp>
      <p:sp>
        <p:nvSpPr>
          <p:cNvPr id="5" name="Text 2">
            <a:extLst>
              <a:ext uri="{FF2B5EF4-FFF2-40B4-BE49-F238E27FC236}">
                <a16:creationId xmlns:a16="http://schemas.microsoft.com/office/drawing/2014/main" id="{89046B60-CFE9-43E7-1B05-2754DEC54C94}"/>
              </a:ext>
            </a:extLst>
          </p:cNvPr>
          <p:cNvSpPr/>
          <p:nvPr/>
        </p:nvSpPr>
        <p:spPr>
          <a:xfrm>
            <a:off x="530352" y="2391897"/>
            <a:ext cx="8083296" cy="342900"/>
          </a:xfrm>
          <a:prstGeom prst="rect">
            <a:avLst/>
          </a:prstGeom>
          <a:noFill/>
          <a:ln/>
        </p:spPr>
        <p:txBody>
          <a:bodyPr wrap="square" lIns="0" tIns="0" rIns="0" bIns="0" rtlCol="0" anchor="t"/>
          <a:lstStyle/>
          <a:p>
            <a:pPr marL="0" indent="0" algn="ctr">
              <a:lnSpc>
                <a:spcPts val="2700"/>
              </a:lnSpc>
              <a:buNone/>
            </a:pPr>
            <a:r>
              <a:rPr lang="en-US" sz="1500" dirty="0">
                <a:solidFill>
                  <a:srgbClr val="CCCCCC"/>
                </a:solidFill>
                <a:latin typeface="Garamond Premr Pro Capt" panose="02020402060506020403" pitchFamily="18" charset="0"/>
                <a:ea typeface="Garamond" pitchFamily="34" charset="-122"/>
                <a:cs typeface="Garamond" pitchFamily="34" charset="-120"/>
              </a:rPr>
              <a:t>(SBC Municipal Debt)</a:t>
            </a:r>
          </a:p>
        </p:txBody>
      </p:sp>
      <p:sp>
        <p:nvSpPr>
          <p:cNvPr id="6" name="Text 3">
            <a:extLst>
              <a:ext uri="{FF2B5EF4-FFF2-40B4-BE49-F238E27FC236}">
                <a16:creationId xmlns:a16="http://schemas.microsoft.com/office/drawing/2014/main" id="{EDECCEA4-772D-D0CD-12B0-17828B292EB7}"/>
              </a:ext>
            </a:extLst>
          </p:cNvPr>
          <p:cNvSpPr/>
          <p:nvPr/>
        </p:nvSpPr>
        <p:spPr>
          <a:xfrm>
            <a:off x="530352" y="3392314"/>
            <a:ext cx="8083296" cy="257175"/>
          </a:xfrm>
          <a:prstGeom prst="rect">
            <a:avLst/>
          </a:prstGeom>
          <a:noFill/>
          <a:ln/>
        </p:spPr>
        <p:txBody>
          <a:bodyPr wrap="square" lIns="0" tIns="0" rIns="0" bIns="0" rtlCol="0" anchor="t"/>
          <a:lstStyle/>
          <a:p>
            <a:pPr marL="0" indent="0" algn="ctr">
              <a:lnSpc>
                <a:spcPts val="1620"/>
              </a:lnSpc>
              <a:buNone/>
            </a:pPr>
            <a:r>
              <a:rPr lang="en-US" sz="1800" dirty="0">
                <a:solidFill>
                  <a:schemeClr val="tx1">
                    <a:lumMod val="75000"/>
                    <a:lumOff val="25000"/>
                  </a:schemeClr>
                </a:solidFill>
                <a:latin typeface="Courier Prime" panose="02000409000000000000" pitchFamily="49" charset="77"/>
                <a:ea typeface="Courier New" pitchFamily="34" charset="-122"/>
                <a:cs typeface="Courier New" pitchFamily="34" charset="-120"/>
              </a:rPr>
              <a:t>£100k + £500k</a:t>
            </a:r>
            <a:endParaRPr lang="en-US" sz="1800" dirty="0">
              <a:solidFill>
                <a:schemeClr val="tx1">
                  <a:lumMod val="75000"/>
                  <a:lumOff val="25000"/>
                </a:schemeClr>
              </a:solidFill>
              <a:latin typeface="Courier Prime" panose="02000409000000000000" pitchFamily="49" charset="77"/>
            </a:endParaRPr>
          </a:p>
        </p:txBody>
      </p:sp>
      <p:sp>
        <p:nvSpPr>
          <p:cNvPr id="7" name="Text 4">
            <a:extLst>
              <a:ext uri="{FF2B5EF4-FFF2-40B4-BE49-F238E27FC236}">
                <a16:creationId xmlns:a16="http://schemas.microsoft.com/office/drawing/2014/main" id="{4C64E3DC-0EBD-F120-00CE-BC244F44FBCB}"/>
              </a:ext>
            </a:extLst>
          </p:cNvPr>
          <p:cNvSpPr/>
          <p:nvPr/>
        </p:nvSpPr>
        <p:spPr>
          <a:xfrm>
            <a:off x="530352" y="3649489"/>
            <a:ext cx="8083296" cy="308595"/>
          </a:xfrm>
          <a:prstGeom prst="rect">
            <a:avLst/>
          </a:prstGeom>
          <a:noFill/>
          <a:ln/>
        </p:spPr>
        <p:txBody>
          <a:bodyPr wrap="square" lIns="0" tIns="0" rIns="0" bIns="0" rtlCol="0" anchor="t"/>
          <a:lstStyle/>
          <a:p>
            <a:pPr marL="0" indent="0" algn="ctr">
              <a:lnSpc>
                <a:spcPts val="2430"/>
              </a:lnSpc>
              <a:buNone/>
            </a:pPr>
            <a:r>
              <a:rPr lang="en-US" sz="1350" dirty="0">
                <a:solidFill>
                  <a:srgbClr val="CCCCCC"/>
                </a:solidFill>
                <a:latin typeface="Garamond Premr Pro Capt" panose="02020402060506020403" pitchFamily="18" charset="0"/>
                <a:ea typeface="Garamond" pitchFamily="34" charset="-122"/>
                <a:cs typeface="Garamond" pitchFamily="34" charset="-120"/>
              </a:rPr>
              <a:t>Business Hub Sponsorship + Community Fund</a:t>
            </a:r>
          </a:p>
        </p:txBody>
      </p:sp>
      <p:sp>
        <p:nvSpPr>
          <p:cNvPr id="8" name="TextBox 7">
            <a:extLst>
              <a:ext uri="{FF2B5EF4-FFF2-40B4-BE49-F238E27FC236}">
                <a16:creationId xmlns:a16="http://schemas.microsoft.com/office/drawing/2014/main" id="{3E40D770-3AAD-9808-A849-231CC11BCE6B}"/>
              </a:ext>
            </a:extLst>
          </p:cNvPr>
          <p:cNvSpPr txBox="1"/>
          <p:nvPr/>
        </p:nvSpPr>
        <p:spPr>
          <a:xfrm>
            <a:off x="0" y="4866501"/>
            <a:ext cx="4737194" cy="276999"/>
          </a:xfrm>
          <a:prstGeom prst="rect">
            <a:avLst/>
          </a:prstGeom>
          <a:noFill/>
        </p:spPr>
        <p:txBody>
          <a:bodyPr wrap="none" rtlCol="0">
            <a:spAutoFit/>
          </a:bodyPr>
          <a:lstStyle/>
          <a:p>
            <a:r>
              <a:rPr lang="en-GB" sz="1200" dirty="0">
                <a:solidFill>
                  <a:schemeClr val="bg1"/>
                </a:solidFill>
                <a:latin typeface="Garamond Premr Pro" panose="02020402060506020403" pitchFamily="18" charset="0"/>
              </a:rPr>
              <a:t>Data Sources: CIPFA (2023, p.1); Spelthorne Borough Council (2019; 2025).</a:t>
            </a:r>
          </a:p>
        </p:txBody>
      </p:sp>
    </p:spTree>
    <p:extLst>
      <p:ext uri="{BB962C8B-B14F-4D97-AF65-F5344CB8AC3E}">
        <p14:creationId xmlns:p14="http://schemas.microsoft.com/office/powerpoint/2010/main" val="1027968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3237AF3-C8AF-95C3-9F04-ABA370EA8715}"/>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CF2DBB9F-A173-18A4-3D9C-CC198CD0C8BD}"/>
              </a:ext>
            </a:extLst>
          </p:cNvPr>
          <p:cNvSpPr/>
          <p:nvPr/>
        </p:nvSpPr>
        <p:spPr>
          <a:xfrm>
            <a:off x="92365" y="115105"/>
            <a:ext cx="8083296" cy="411435"/>
          </a:xfrm>
          <a:prstGeom prst="rect">
            <a:avLst/>
          </a:prstGeom>
          <a:noFill/>
          <a:ln/>
        </p:spPr>
        <p:txBody>
          <a:bodyPr wrap="square" lIns="0" tIns="0" rIns="0" bIns="0" rtlCol="0" anchor="t"/>
          <a:lstStyle/>
          <a:p>
            <a:r>
              <a:rPr lang="zh-CN" altLang="en-US" sz="2800" b="1" dirty="0">
                <a:solidFill>
                  <a:schemeClr val="bg1"/>
                </a:solidFill>
                <a:latin typeface="Garamond Premr Pro Disp" panose="02020402060506020403" pitchFamily="18" charset="0"/>
              </a:rPr>
              <a:t>“</a:t>
            </a:r>
            <a:r>
              <a:rPr lang="en-US" altLang="zh-CN" sz="2800" b="1" dirty="0">
                <a:solidFill>
                  <a:schemeClr val="bg1"/>
                </a:solidFill>
                <a:latin typeface="Garamond Premr Pro Disp" panose="02020402060506020403" pitchFamily="18" charset="0"/>
              </a:rPr>
              <a:t>Ver</a:t>
            </a:r>
            <a:r>
              <a:rPr lang="en-GB" altLang="zh-CN" sz="2800" b="1" dirty="0">
                <a:solidFill>
                  <a:schemeClr val="bg1"/>
                </a:solidFill>
                <a:latin typeface="Garamond Premr Pro Disp" panose="02020402060506020403" pitchFamily="18" charset="0"/>
              </a:rPr>
              <a:t>y</a:t>
            </a:r>
            <a:r>
              <a:rPr lang="en-US" altLang="zh-CN" sz="2800" b="1" dirty="0">
                <a:solidFill>
                  <a:schemeClr val="bg1"/>
                </a:solidFill>
                <a:latin typeface="Garamond Premr Pro Disp" panose="02020402060506020403" pitchFamily="18" charset="0"/>
              </a:rPr>
              <a:t> </a:t>
            </a:r>
            <a:r>
              <a:rPr lang="en-GB" altLang="zh-CN" sz="2800" b="1" dirty="0">
                <a:solidFill>
                  <a:schemeClr val="bg1"/>
                </a:solidFill>
                <a:latin typeface="Garamond Premr Pro Disp" panose="02020402060506020403" pitchFamily="18" charset="0"/>
              </a:rPr>
              <a:t>Special Circumstances”</a:t>
            </a:r>
            <a:endParaRPr lang="en-GB" sz="2800" b="1" dirty="0">
              <a:solidFill>
                <a:schemeClr val="bg1"/>
              </a:solidFill>
              <a:latin typeface="Garamond Premr Pro Disp" panose="02020402060506020403" pitchFamily="18" charset="0"/>
            </a:endParaRPr>
          </a:p>
        </p:txBody>
      </p:sp>
      <p:sp>
        <p:nvSpPr>
          <p:cNvPr id="6" name="TextBox 5">
            <a:extLst>
              <a:ext uri="{FF2B5EF4-FFF2-40B4-BE49-F238E27FC236}">
                <a16:creationId xmlns:a16="http://schemas.microsoft.com/office/drawing/2014/main" id="{2D3C9174-BF60-5A09-DA96-B3751C6D167F}"/>
              </a:ext>
            </a:extLst>
          </p:cNvPr>
          <p:cNvSpPr txBox="1"/>
          <p:nvPr/>
        </p:nvSpPr>
        <p:spPr>
          <a:xfrm>
            <a:off x="0" y="1245146"/>
            <a:ext cx="3345897" cy="646331"/>
          </a:xfrm>
          <a:prstGeom prst="rect">
            <a:avLst/>
          </a:prstGeom>
          <a:noFill/>
        </p:spPr>
        <p:txBody>
          <a:bodyPr wrap="square" rtlCol="0">
            <a:spAutoFit/>
          </a:bodyPr>
          <a:lstStyle/>
          <a:p>
            <a:r>
              <a:rPr lang="en-GB" dirty="0">
                <a:solidFill>
                  <a:schemeClr val="bg1">
                    <a:lumMod val="75000"/>
                  </a:schemeClr>
                </a:solidFill>
                <a:latin typeface="Garamond Premr Pro" panose="02020402060506020403" pitchFamily="18" charset="0"/>
              </a:rPr>
              <a:t>Overriding greenbelt protection via economic justification</a:t>
            </a:r>
          </a:p>
        </p:txBody>
      </p:sp>
      <p:pic>
        <p:nvPicPr>
          <p:cNvPr id="17" name="Picture 16">
            <a:extLst>
              <a:ext uri="{FF2B5EF4-FFF2-40B4-BE49-F238E27FC236}">
                <a16:creationId xmlns:a16="http://schemas.microsoft.com/office/drawing/2014/main" id="{CD4FE102-01A7-BD91-E575-264C7962F880}"/>
              </a:ext>
            </a:extLst>
          </p:cNvPr>
          <p:cNvPicPr>
            <a:picLocks noChangeAspect="1"/>
          </p:cNvPicPr>
          <p:nvPr/>
        </p:nvPicPr>
        <p:blipFill>
          <a:blip r:embed="rId3"/>
          <a:stretch>
            <a:fillRect/>
          </a:stretch>
        </p:blipFill>
        <p:spPr>
          <a:xfrm>
            <a:off x="3755136" y="755472"/>
            <a:ext cx="5388864" cy="4366718"/>
          </a:xfrm>
          <a:prstGeom prst="rect">
            <a:avLst/>
          </a:prstGeom>
        </p:spPr>
      </p:pic>
      <p:sp>
        <p:nvSpPr>
          <p:cNvPr id="18" name="TextBox 17">
            <a:extLst>
              <a:ext uri="{FF2B5EF4-FFF2-40B4-BE49-F238E27FC236}">
                <a16:creationId xmlns:a16="http://schemas.microsoft.com/office/drawing/2014/main" id="{EB329FA8-1C96-3DAB-67B8-7646ACB5DA5D}"/>
              </a:ext>
            </a:extLst>
          </p:cNvPr>
          <p:cNvSpPr txBox="1"/>
          <p:nvPr/>
        </p:nvSpPr>
        <p:spPr>
          <a:xfrm>
            <a:off x="-43479" y="4681835"/>
            <a:ext cx="3657600" cy="461665"/>
          </a:xfrm>
          <a:prstGeom prst="rect">
            <a:avLst/>
          </a:prstGeom>
          <a:noFill/>
        </p:spPr>
        <p:txBody>
          <a:bodyPr wrap="square" rtlCol="0">
            <a:spAutoFit/>
          </a:bodyPr>
          <a:lstStyle/>
          <a:p>
            <a:r>
              <a:rPr lang="en-GB" sz="1200" b="1" dirty="0">
                <a:solidFill>
                  <a:schemeClr val="bg1"/>
                </a:solidFill>
                <a:highlight>
                  <a:srgbClr val="000000"/>
                </a:highlight>
                <a:latin typeface="Garamond Premr Pro" panose="02020402060506020403" pitchFamily="18" charset="0"/>
              </a:rPr>
              <a:t>Table 2</a:t>
            </a:r>
            <a:r>
              <a:rPr lang="en-GB" sz="1200" dirty="0">
                <a:solidFill>
                  <a:schemeClr val="bg1"/>
                </a:solidFill>
                <a:highlight>
                  <a:srgbClr val="000000"/>
                </a:highlight>
                <a:latin typeface="Garamond Premr Pro" panose="02020402060506020403" pitchFamily="18" charset="0"/>
              </a:rPr>
              <a:t>: Planning application executive summary. Source: Spelthorne Borough Council (2025, p. 1).</a:t>
            </a:r>
          </a:p>
        </p:txBody>
      </p:sp>
    </p:spTree>
    <p:extLst>
      <p:ext uri="{BB962C8B-B14F-4D97-AF65-F5344CB8AC3E}">
        <p14:creationId xmlns:p14="http://schemas.microsoft.com/office/powerpoint/2010/main" val="2159067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A068CAA-E5BF-4432-8B80-1790678773CD}"/>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7915091-5ECD-D144-8254-1F443F8E5EF9}"/>
              </a:ext>
            </a:extLst>
          </p:cNvPr>
          <p:cNvPicPr>
            <a:picLocks noChangeAspect="1"/>
          </p:cNvPicPr>
          <p:nvPr/>
        </p:nvPicPr>
        <p:blipFill>
          <a:blip r:embed="rId3">
            <a:alphaModFix/>
          </a:blip>
          <a:stretch>
            <a:fillRect/>
          </a:stretch>
        </p:blipFill>
        <p:spPr>
          <a:xfrm>
            <a:off x="0" y="30013"/>
            <a:ext cx="9144000" cy="5113487"/>
          </a:xfrm>
          <a:prstGeom prst="rect">
            <a:avLst/>
          </a:prstGeom>
        </p:spPr>
      </p:pic>
      <p:sp>
        <p:nvSpPr>
          <p:cNvPr id="2" name="TextBox 1">
            <a:extLst>
              <a:ext uri="{FF2B5EF4-FFF2-40B4-BE49-F238E27FC236}">
                <a16:creationId xmlns:a16="http://schemas.microsoft.com/office/drawing/2014/main" id="{4DEBA9DC-7B0B-EDDA-6C6B-E5C830194657}"/>
              </a:ext>
            </a:extLst>
          </p:cNvPr>
          <p:cNvSpPr txBox="1"/>
          <p:nvPr/>
        </p:nvSpPr>
        <p:spPr>
          <a:xfrm>
            <a:off x="0" y="4866501"/>
            <a:ext cx="5654946" cy="276999"/>
          </a:xfrm>
          <a:prstGeom prst="rect">
            <a:avLst/>
          </a:prstGeom>
          <a:noFill/>
        </p:spPr>
        <p:txBody>
          <a:bodyPr wrap="none" rtlCol="0">
            <a:spAutoFit/>
          </a:bodyPr>
          <a:lstStyle/>
          <a:p>
            <a:r>
              <a:rPr lang="en-GB" sz="1200" dirty="0" err="1">
                <a:solidFill>
                  <a:schemeClr val="bg1"/>
                </a:solidFill>
                <a:highlight>
                  <a:srgbClr val="000000"/>
                </a:highlight>
                <a:latin typeface="Garamond Premr Pro" panose="02020402060506020403" pitchFamily="18" charset="0"/>
              </a:rPr>
              <a:t>Geovisualisation</a:t>
            </a:r>
            <a:r>
              <a:rPr lang="en-GB" sz="1200" dirty="0">
                <a:solidFill>
                  <a:schemeClr val="bg1"/>
                </a:solidFill>
                <a:highlight>
                  <a:srgbClr val="000000"/>
                </a:highlight>
                <a:latin typeface="Garamond Premr Pro" panose="02020402060506020403" pitchFamily="18" charset="0"/>
              </a:rPr>
              <a:t> of </a:t>
            </a:r>
            <a:r>
              <a:rPr lang="en-GB" sz="1200" dirty="0" err="1">
                <a:solidFill>
                  <a:schemeClr val="bg1"/>
                </a:solidFill>
                <a:highlight>
                  <a:srgbClr val="000000"/>
                </a:highlight>
                <a:latin typeface="Garamond Premr Pro" panose="02020402060506020403" pitchFamily="18" charset="0"/>
              </a:rPr>
              <a:t>Longcross</a:t>
            </a:r>
            <a:r>
              <a:rPr lang="en-GB" sz="1200" dirty="0">
                <a:solidFill>
                  <a:schemeClr val="bg1"/>
                </a:solidFill>
                <a:highlight>
                  <a:srgbClr val="000000"/>
                </a:highlight>
                <a:latin typeface="Garamond Premr Pro" panose="02020402060506020403" pitchFamily="18" charset="0"/>
              </a:rPr>
              <a:t> vectors. Data sourced from OSM_AUDIT_2025 repository.</a:t>
            </a:r>
          </a:p>
        </p:txBody>
      </p:sp>
    </p:spTree>
    <p:extLst>
      <p:ext uri="{BB962C8B-B14F-4D97-AF65-F5344CB8AC3E}">
        <p14:creationId xmlns:p14="http://schemas.microsoft.com/office/powerpoint/2010/main" val="19015335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98469FE8-8C87-4F1F-D6F0-8ADE403916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C65BC9-B364-7A5B-7BD0-927B19259B1D}"/>
              </a:ext>
            </a:extLst>
          </p:cNvPr>
          <p:cNvSpPr/>
          <p:nvPr/>
        </p:nvSpPr>
        <p:spPr>
          <a:xfrm>
            <a:off x="609600" y="609600"/>
            <a:ext cx="8083296" cy="411435"/>
          </a:xfrm>
          <a:prstGeom prst="rect">
            <a:avLst/>
          </a:prstGeom>
          <a:noFill/>
          <a:ln/>
        </p:spPr>
        <p:txBody>
          <a:bodyPr wrap="square" lIns="0" tIns="0" rIns="0" bIns="0" rtlCol="0" anchor="t"/>
          <a:lstStyle/>
          <a:p>
            <a:pPr>
              <a:lnSpc>
                <a:spcPts val="3240"/>
              </a:lnSpc>
            </a:pPr>
            <a:r>
              <a:rPr lang="en-US" sz="2700" b="1" dirty="0">
                <a:solidFill>
                  <a:srgbClr val="FFFFFF"/>
                </a:solidFill>
                <a:latin typeface="Garamond Premr Pro Disp" panose="02020402060506020403" pitchFamily="18" charset="0"/>
                <a:ea typeface="Garamond" pitchFamily="34" charset="-122"/>
                <a:cs typeface="Garamond" pitchFamily="34" charset="-120"/>
              </a:rPr>
              <a:t>Synthesis: The Physical Body of the Cloud</a:t>
            </a:r>
            <a:endParaRPr lang="en-US" sz="2700" b="1" dirty="0">
              <a:latin typeface="Garamond Premr Pro Disp" panose="02020402060506020403" pitchFamily="18" charset="0"/>
            </a:endParaRPr>
          </a:p>
        </p:txBody>
      </p:sp>
      <p:sp>
        <p:nvSpPr>
          <p:cNvPr id="3" name="TextBox 2">
            <a:extLst>
              <a:ext uri="{FF2B5EF4-FFF2-40B4-BE49-F238E27FC236}">
                <a16:creationId xmlns:a16="http://schemas.microsoft.com/office/drawing/2014/main" id="{16243CA5-945D-314C-B901-61004FD376A5}"/>
              </a:ext>
            </a:extLst>
          </p:cNvPr>
          <p:cNvSpPr txBox="1"/>
          <p:nvPr/>
        </p:nvSpPr>
        <p:spPr>
          <a:xfrm>
            <a:off x="285067" y="1485738"/>
            <a:ext cx="8858933" cy="646331"/>
          </a:xfrm>
          <a:prstGeom prst="rect">
            <a:avLst/>
          </a:prstGeom>
          <a:noFill/>
        </p:spPr>
        <p:txBody>
          <a:bodyPr wrap="square" rtlCol="0">
            <a:spAutoFit/>
          </a:bodyPr>
          <a:lstStyle/>
          <a:p>
            <a:r>
              <a:rPr lang="en-GB" dirty="0">
                <a:solidFill>
                  <a:schemeClr val="bg1"/>
                </a:solidFill>
                <a:latin typeface="Garamond Premr Pro" panose="02020402060506020403" pitchFamily="18" charset="0"/>
              </a:rPr>
              <a:t>The Marxist Metabolic Rift: The forensic audit proves that “immaterial” cloud rendering requires the violent eradication of local biomass (NDVI Spatiotemporal Collapse).</a:t>
            </a:r>
          </a:p>
        </p:txBody>
      </p:sp>
      <p:sp>
        <p:nvSpPr>
          <p:cNvPr id="5" name="TextBox 4">
            <a:extLst>
              <a:ext uri="{FF2B5EF4-FFF2-40B4-BE49-F238E27FC236}">
                <a16:creationId xmlns:a16="http://schemas.microsoft.com/office/drawing/2014/main" id="{97A15761-D60F-C93F-1ADB-7EC259E43CCB}"/>
              </a:ext>
            </a:extLst>
          </p:cNvPr>
          <p:cNvSpPr txBox="1"/>
          <p:nvPr/>
        </p:nvSpPr>
        <p:spPr>
          <a:xfrm>
            <a:off x="285067" y="2301996"/>
            <a:ext cx="8858933" cy="646331"/>
          </a:xfrm>
          <a:prstGeom prst="rect">
            <a:avLst/>
          </a:prstGeom>
          <a:noFill/>
        </p:spPr>
        <p:txBody>
          <a:bodyPr wrap="square" rtlCol="0">
            <a:spAutoFit/>
          </a:bodyPr>
          <a:lstStyle/>
          <a:p>
            <a:r>
              <a:rPr lang="en-GB" dirty="0">
                <a:solidFill>
                  <a:schemeClr val="bg1"/>
                </a:solidFill>
                <a:latin typeface="Garamond Premr Pro" panose="02020402060506020403" pitchFamily="18" charset="0"/>
              </a:rPr>
              <a:t>The Digital Spatial Fix: Capital does not eliminate emissions; it displaces them. The film industry has anchored its ecological crisis into 13.2 hectares of asphalt and 17 high-voltage nodes.</a:t>
            </a:r>
          </a:p>
        </p:txBody>
      </p:sp>
      <p:sp>
        <p:nvSpPr>
          <p:cNvPr id="6" name="TextBox 5">
            <a:extLst>
              <a:ext uri="{FF2B5EF4-FFF2-40B4-BE49-F238E27FC236}">
                <a16:creationId xmlns:a16="http://schemas.microsoft.com/office/drawing/2014/main" id="{61D88954-5C49-357C-ADDB-F71CE26771E2}"/>
              </a:ext>
            </a:extLst>
          </p:cNvPr>
          <p:cNvSpPr txBox="1"/>
          <p:nvPr/>
        </p:nvSpPr>
        <p:spPr>
          <a:xfrm>
            <a:off x="285066" y="3118254"/>
            <a:ext cx="8858933" cy="646331"/>
          </a:xfrm>
          <a:prstGeom prst="rect">
            <a:avLst/>
          </a:prstGeom>
          <a:noFill/>
        </p:spPr>
        <p:txBody>
          <a:bodyPr wrap="square" rtlCol="0">
            <a:spAutoFit/>
          </a:bodyPr>
          <a:lstStyle/>
          <a:p>
            <a:r>
              <a:rPr lang="en-GB" dirty="0">
                <a:solidFill>
                  <a:schemeClr val="bg1"/>
                </a:solidFill>
                <a:latin typeface="Garamond Premr Pro" panose="02020402060506020403" pitchFamily="18" charset="0"/>
              </a:rPr>
              <a:t>The Thermodynamic Price: The controlled-BACI LST escalation (+0.56 °C across the polygon, +1.08 °C over the impervious core) is the direct, physical manifestation of Algorithmic Metabolism.</a:t>
            </a:r>
          </a:p>
        </p:txBody>
      </p:sp>
      <p:sp>
        <p:nvSpPr>
          <p:cNvPr id="7" name="TextBox 6">
            <a:extLst>
              <a:ext uri="{FF2B5EF4-FFF2-40B4-BE49-F238E27FC236}">
                <a16:creationId xmlns:a16="http://schemas.microsoft.com/office/drawing/2014/main" id="{118D2338-04B8-CF2D-ACD2-8E309F9EDEFB}"/>
              </a:ext>
            </a:extLst>
          </p:cNvPr>
          <p:cNvSpPr txBox="1"/>
          <p:nvPr/>
        </p:nvSpPr>
        <p:spPr>
          <a:xfrm>
            <a:off x="285066" y="3934512"/>
            <a:ext cx="7334932" cy="646331"/>
          </a:xfrm>
          <a:prstGeom prst="rect">
            <a:avLst/>
          </a:prstGeom>
          <a:noFill/>
        </p:spPr>
        <p:txBody>
          <a:bodyPr wrap="square" rtlCol="0">
            <a:spAutoFit/>
          </a:bodyPr>
          <a:lstStyle/>
          <a:p>
            <a:r>
              <a:rPr lang="en-GB" dirty="0">
                <a:solidFill>
                  <a:schemeClr val="bg1"/>
                </a:solidFill>
                <a:latin typeface="Garamond Premr Pro" panose="02020402060506020403" pitchFamily="18" charset="0"/>
              </a:rPr>
              <a:t>Accumulation by Dispossession: A £0 ecological provision within a £36,150 transport-only S106, set against £322.7M annual GVA, reveals the true political economy of greenwashing.</a:t>
            </a:r>
          </a:p>
        </p:txBody>
      </p:sp>
      <p:sp>
        <p:nvSpPr>
          <p:cNvPr id="4" name="TextBox 3">
            <a:extLst>
              <a:ext uri="{FF2B5EF4-FFF2-40B4-BE49-F238E27FC236}">
                <a16:creationId xmlns:a16="http://schemas.microsoft.com/office/drawing/2014/main" id="{9A57E2C5-B072-32EB-637A-691FB57E7BA6}"/>
              </a:ext>
            </a:extLst>
          </p:cNvPr>
          <p:cNvSpPr txBox="1"/>
          <p:nvPr/>
        </p:nvSpPr>
        <p:spPr>
          <a:xfrm>
            <a:off x="609600" y="946479"/>
            <a:ext cx="4646080" cy="369332"/>
          </a:xfrm>
          <a:prstGeom prst="rect">
            <a:avLst/>
          </a:prstGeom>
          <a:noFill/>
        </p:spPr>
        <p:txBody>
          <a:bodyPr wrap="none" rtlCol="0">
            <a:spAutoFit/>
          </a:bodyPr>
          <a:lstStyle/>
          <a:p>
            <a:r>
              <a:rPr lang="en-GB" dirty="0">
                <a:solidFill>
                  <a:schemeClr val="bg1"/>
                </a:solidFill>
                <a:latin typeface="Garamond Premr Pro" panose="02020402060506020403" pitchFamily="18" charset="0"/>
              </a:rPr>
              <a:t>An Eco-Marxist Critique of the Digital Spatial Fix</a:t>
            </a:r>
          </a:p>
        </p:txBody>
      </p:sp>
    </p:spTree>
    <p:extLst>
      <p:ext uri="{BB962C8B-B14F-4D97-AF65-F5344CB8AC3E}">
        <p14:creationId xmlns:p14="http://schemas.microsoft.com/office/powerpoint/2010/main" val="1594978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16B1B45-224F-46DA-0AF8-2E70645F39B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9568A24F-36AC-48C1-4AAC-F7C634783467}"/>
              </a:ext>
            </a:extLst>
          </p:cNvPr>
          <p:cNvSpPr/>
          <p:nvPr/>
        </p:nvSpPr>
        <p:spPr>
          <a:xfrm>
            <a:off x="254000" y="411435"/>
            <a:ext cx="7924800" cy="304800"/>
          </a:xfrm>
          <a:prstGeom prst="rect">
            <a:avLst/>
          </a:prstGeom>
          <a:noFill/>
          <a:ln/>
        </p:spPr>
        <p:txBody>
          <a:bodyPr wrap="square" lIns="0" tIns="0" rIns="0" bIns="0" rtlCol="0" anchor="t"/>
          <a:lstStyle/>
          <a:p>
            <a:pPr marL="0" indent="0">
              <a:lnSpc>
                <a:spcPct val="150000"/>
              </a:lnSpc>
              <a:buNone/>
            </a:pPr>
            <a:r>
              <a:rPr lang="en-US" sz="1500" b="1" dirty="0">
                <a:solidFill>
                  <a:schemeClr val="bg1">
                    <a:lumMod val="85000"/>
                  </a:schemeClr>
                </a:solidFill>
                <a:latin typeface="Garamond" pitchFamily="34" charset="0"/>
              </a:rPr>
              <a:t>Reports and minutes</a:t>
            </a:r>
          </a:p>
        </p:txBody>
      </p:sp>
      <p:sp>
        <p:nvSpPr>
          <p:cNvPr id="4" name="Text 2">
            <a:extLst>
              <a:ext uri="{FF2B5EF4-FFF2-40B4-BE49-F238E27FC236}">
                <a16:creationId xmlns:a16="http://schemas.microsoft.com/office/drawing/2014/main" id="{33A727F3-DE99-EB1A-5296-018BC82F455F}"/>
              </a:ext>
            </a:extLst>
          </p:cNvPr>
          <p:cNvSpPr/>
          <p:nvPr/>
        </p:nvSpPr>
        <p:spPr>
          <a:xfrm>
            <a:off x="0" y="862924"/>
            <a:ext cx="9144000" cy="1834177"/>
          </a:xfrm>
          <a:prstGeom prst="rect">
            <a:avLst/>
          </a:prstGeom>
          <a:noFill/>
          <a:ln/>
        </p:spPr>
        <p:txBody>
          <a:bodyPr wrap="square" lIns="0" tIns="0" rIns="0" bIns="0" rtlCol="0" anchor="t"/>
          <a:lstStyle/>
          <a:p>
            <a:pPr>
              <a:lnSpc>
                <a:spcPct val="150000"/>
              </a:lnSpc>
            </a:pPr>
            <a:r>
              <a:rPr lang="en-GB" sz="1400" dirty="0">
                <a:solidFill>
                  <a:schemeClr val="bg1">
                    <a:lumMod val="65000"/>
                  </a:schemeClr>
                </a:solidFill>
                <a:latin typeface="Garamond Premr Pro" panose="02020402060506020403" pitchFamily="18" charset="0"/>
              </a:rPr>
              <a:t>Finance and Accountancy (2023) </a:t>
            </a:r>
            <a:r>
              <a:rPr lang="en-GB" sz="1400" i="1" dirty="0">
                <a:solidFill>
                  <a:schemeClr val="bg1">
                    <a:lumMod val="65000"/>
                  </a:schemeClr>
                </a:solidFill>
                <a:latin typeface="Garamond Premr Pro" panose="02020402060506020403" pitchFamily="18" charset="0"/>
              </a:rPr>
              <a:t>Spelthorne Borough Council: Capital Assurance Review</a:t>
            </a:r>
            <a:r>
              <a:rPr lang="en-GB" sz="1400" dirty="0">
                <a:solidFill>
                  <a:schemeClr val="bg1">
                    <a:lumMod val="65000"/>
                  </a:schemeClr>
                </a:solidFill>
                <a:latin typeface="Garamond Premr Pro" panose="02020402060506020403" pitchFamily="18" charset="0"/>
              </a:rPr>
              <a:t>. London: Department for Levelling Up, Housing and Communities. Available at: https://</a:t>
            </a:r>
            <a:r>
              <a:rPr lang="en-GB" sz="1400" dirty="0" err="1">
                <a:solidFill>
                  <a:schemeClr val="bg1">
                    <a:lumMod val="65000"/>
                  </a:schemeClr>
                </a:solidFill>
                <a:latin typeface="Garamond Premr Pro" panose="02020402060506020403" pitchFamily="18" charset="0"/>
              </a:rPr>
              <a:t>assets.publishing.service.gov.uk</a:t>
            </a:r>
            <a:r>
              <a:rPr lang="en-GB" sz="1400" dirty="0">
                <a:solidFill>
                  <a:schemeClr val="bg1">
                    <a:lumMod val="65000"/>
                  </a:schemeClr>
                </a:solidFill>
                <a:latin typeface="Garamond Premr Pro" panose="02020402060506020403" pitchFamily="18" charset="0"/>
              </a:rPr>
              <a:t>/media/6634a07174933dccbbb6c1ed/</a:t>
            </a:r>
            <a:r>
              <a:rPr lang="en-GB" sz="1400" dirty="0" err="1">
                <a:solidFill>
                  <a:schemeClr val="bg1">
                    <a:lumMod val="65000"/>
                  </a:schemeClr>
                </a:solidFill>
                <a:latin typeface="Garamond Premr Pro" panose="02020402060506020403" pitchFamily="18" charset="0"/>
              </a:rPr>
              <a:t>Spelthorne_Report.pdf</a:t>
            </a:r>
            <a:r>
              <a:rPr lang="en-GB" sz="1400" dirty="0">
                <a:solidFill>
                  <a:schemeClr val="bg1">
                    <a:lumMod val="65000"/>
                  </a:schemeClr>
                </a:solidFill>
                <a:latin typeface="Garamond Premr Pro" panose="02020402060506020403" pitchFamily="18" charset="0"/>
              </a:rPr>
              <a:t> (Accessed: 6 March 2026).</a:t>
            </a:r>
          </a:p>
          <a:p>
            <a:pPr>
              <a:lnSpc>
                <a:spcPct val="150000"/>
              </a:lnSpc>
            </a:pPr>
            <a:r>
              <a:rPr lang="en-GB" sz="1400" dirty="0">
                <a:solidFill>
                  <a:schemeClr val="bg1">
                    <a:lumMod val="65000"/>
                  </a:schemeClr>
                </a:solidFill>
                <a:latin typeface="Garamond Premr Pro" panose="02020402060506020403" pitchFamily="18" charset="0"/>
              </a:rPr>
              <a:t>Li, H. (2026) </a:t>
            </a:r>
            <a:r>
              <a:rPr lang="en-GB" sz="1400" i="1" dirty="0">
                <a:solidFill>
                  <a:schemeClr val="bg1">
                    <a:lumMod val="65000"/>
                  </a:schemeClr>
                </a:solidFill>
                <a:latin typeface="Garamond Premr Pro" panose="02020402060506020403" pitchFamily="18" charset="0"/>
              </a:rPr>
              <a:t>Strategic Governance and Institutional Interconnectivity: A Comprehensive Analysis of Interest Binding Between Spelthorne Borough Council, Pinewood Group, and Turley</a:t>
            </a:r>
            <a:r>
              <a:rPr lang="en-GB" sz="1400" dirty="0">
                <a:solidFill>
                  <a:schemeClr val="bg1">
                    <a:lumMod val="65000"/>
                  </a:schemeClr>
                </a:solidFill>
                <a:latin typeface="Garamond Premr Pro" panose="02020402060506020403" pitchFamily="18" charset="0"/>
              </a:rPr>
              <a:t>. [Unpublished Report].</a:t>
            </a:r>
          </a:p>
          <a:p>
            <a:pPr>
              <a:lnSpc>
                <a:spcPct val="150000"/>
              </a:lnSpc>
            </a:pPr>
            <a:r>
              <a:rPr lang="en-GB" sz="1400" dirty="0">
                <a:solidFill>
                  <a:schemeClr val="bg1">
                    <a:lumMod val="65000"/>
                  </a:schemeClr>
                </a:solidFill>
                <a:latin typeface="Garamond Premr Pro" panose="02020402060506020403" pitchFamily="18" charset="0"/>
              </a:rPr>
              <a:t>Spelthorne Borough Council (2019) </a:t>
            </a:r>
            <a:r>
              <a:rPr lang="en-GB" sz="1400" i="1" dirty="0">
                <a:solidFill>
                  <a:schemeClr val="bg1">
                    <a:lumMod val="65000"/>
                  </a:schemeClr>
                </a:solidFill>
                <a:latin typeface="Garamond Premr Pro" panose="02020402060506020403" pitchFamily="18" charset="0"/>
              </a:rPr>
              <a:t>Printed Minutes: Planning Committee, Tuesday 12 February 2019</a:t>
            </a:r>
            <a:r>
              <a:rPr lang="en-GB" sz="1400" dirty="0">
                <a:solidFill>
                  <a:schemeClr val="bg1">
                    <a:lumMod val="65000"/>
                  </a:schemeClr>
                </a:solidFill>
                <a:latin typeface="Garamond Premr Pro" panose="02020402060506020403" pitchFamily="18" charset="0"/>
              </a:rPr>
              <a:t>. Staines-upon-Thames: Spelthorne Borough Council. Available at: https://</a:t>
            </a:r>
            <a:r>
              <a:rPr lang="en-GB" sz="1400" dirty="0" err="1">
                <a:solidFill>
                  <a:schemeClr val="bg1">
                    <a:lumMod val="65000"/>
                  </a:schemeClr>
                </a:solidFill>
                <a:latin typeface="Garamond Premr Pro" panose="02020402060506020403" pitchFamily="18" charset="0"/>
              </a:rPr>
              <a:t>democracy.spelthorne.gov.uk</a:t>
            </a:r>
            <a:r>
              <a:rPr lang="en-GB" sz="1400" dirty="0">
                <a:solidFill>
                  <a:schemeClr val="bg1">
                    <a:lumMod val="65000"/>
                  </a:schemeClr>
                </a:solidFill>
                <a:latin typeface="Garamond Premr Pro" panose="02020402060506020403" pitchFamily="18" charset="0"/>
              </a:rPr>
              <a:t>/documents/g2033/Printed%20minutes%20Tuesday%2012-Feb-2019%2018.45%20Planning%20Committee.pdf?T=1 (Accessed: 6 March 2026).</a:t>
            </a:r>
          </a:p>
          <a:p>
            <a:pPr>
              <a:lnSpc>
                <a:spcPct val="150000"/>
              </a:lnSpc>
            </a:pPr>
            <a:r>
              <a:rPr lang="en-GB" sz="1400" dirty="0">
                <a:solidFill>
                  <a:schemeClr val="bg1">
                    <a:lumMod val="65000"/>
                  </a:schemeClr>
                </a:solidFill>
                <a:latin typeface="Garamond Premr Pro" panose="02020402060506020403" pitchFamily="18" charset="0"/>
              </a:rPr>
              <a:t>Spelthorne Borough Council (2025) </a:t>
            </a:r>
            <a:r>
              <a:rPr lang="en-GB" sz="1400" i="1" dirty="0">
                <a:solidFill>
                  <a:schemeClr val="bg1">
                    <a:lumMod val="65000"/>
                  </a:schemeClr>
                </a:solidFill>
                <a:latin typeface="Garamond Premr Pro" panose="02020402060506020403" pitchFamily="18" charset="0"/>
              </a:rPr>
              <a:t>Agenda Document for Business, Infrastructure and Growth Committee, 11 September 2025</a:t>
            </a:r>
            <a:r>
              <a:rPr lang="en-GB" sz="1400" dirty="0">
                <a:solidFill>
                  <a:schemeClr val="bg1">
                    <a:lumMod val="65000"/>
                  </a:schemeClr>
                </a:solidFill>
                <a:latin typeface="Garamond Premr Pro" panose="02020402060506020403" pitchFamily="18" charset="0"/>
              </a:rPr>
              <a:t>. Staines-upon-Thames: Spelthorne Borough Council.</a:t>
            </a:r>
          </a:p>
          <a:p>
            <a:pPr>
              <a:lnSpc>
                <a:spcPct val="150000"/>
              </a:lnSpc>
            </a:pPr>
            <a:r>
              <a:rPr lang="en-GB" sz="1400" dirty="0">
                <a:solidFill>
                  <a:schemeClr val="bg1">
                    <a:lumMod val="65000"/>
                  </a:schemeClr>
                </a:solidFill>
                <a:latin typeface="Garamond Premr Pro" panose="02020402060506020403" pitchFamily="18" charset="0"/>
              </a:rPr>
              <a:t>Shepperton Studios Limited (2019) </a:t>
            </a:r>
            <a:r>
              <a:rPr lang="en-GB" sz="1400" i="1" dirty="0">
                <a:solidFill>
                  <a:schemeClr val="bg1">
                    <a:lumMod val="65000"/>
                  </a:schemeClr>
                </a:solidFill>
                <a:latin typeface="Garamond Premr Pro" panose="02020402060506020403" pitchFamily="18" charset="0"/>
              </a:rPr>
              <a:t>Briefing to Members of Planning Committee - February 2019</a:t>
            </a:r>
            <a:r>
              <a:rPr lang="en-GB" sz="1400" dirty="0">
                <a:solidFill>
                  <a:schemeClr val="bg1">
                    <a:lumMod val="65000"/>
                  </a:schemeClr>
                </a:solidFill>
                <a:latin typeface="Garamond Premr Pro" panose="02020402060506020403" pitchFamily="18" charset="0"/>
              </a:rPr>
              <a:t>. Staines-upon-Thames: Spelthorne Borough Council.</a:t>
            </a:r>
            <a:endParaRPr lang="en-GB" sz="1100" dirty="0">
              <a:solidFill>
                <a:schemeClr val="bg1">
                  <a:lumMod val="65000"/>
                </a:schemeClr>
              </a:solidFill>
              <a:latin typeface="Garamond Premr Pro" panose="02020402060506020403" pitchFamily="18" charset="0"/>
            </a:endParaRPr>
          </a:p>
        </p:txBody>
      </p:sp>
      <p:sp>
        <p:nvSpPr>
          <p:cNvPr id="6" name="Text 0">
            <a:extLst>
              <a:ext uri="{FF2B5EF4-FFF2-40B4-BE49-F238E27FC236}">
                <a16:creationId xmlns:a16="http://schemas.microsoft.com/office/drawing/2014/main" id="{15004A4B-B1D1-E78E-F1E1-7C4E85095369}"/>
              </a:ext>
            </a:extLst>
          </p:cNvPr>
          <p:cNvSpPr/>
          <p:nvPr/>
        </p:nvSpPr>
        <p:spPr>
          <a:xfrm>
            <a:off x="254000" y="0"/>
            <a:ext cx="8083296" cy="411435"/>
          </a:xfrm>
          <a:prstGeom prst="rect">
            <a:avLst/>
          </a:prstGeom>
          <a:noFill/>
          <a:ln/>
        </p:spPr>
        <p:txBody>
          <a:bodyPr wrap="square" lIns="0" tIns="0" rIns="0" bIns="0" rtlCol="0" anchor="t"/>
          <a:lstStyle/>
          <a:p>
            <a:pPr marL="0" indent="0">
              <a:lnSpc>
                <a:spcPts val="3240"/>
              </a:lnSpc>
              <a:buNone/>
            </a:pPr>
            <a:r>
              <a:rPr lang="en-US" sz="2700" b="1" dirty="0">
                <a:solidFill>
                  <a:srgbClr val="FFFFFF"/>
                </a:solidFill>
                <a:latin typeface="Garamond Premr Pro Disp" panose="02020402060506020403" pitchFamily="18" charset="0"/>
                <a:ea typeface="Garamond" pitchFamily="34" charset="-122"/>
                <a:cs typeface="Garamond" pitchFamily="34" charset="-120"/>
              </a:rPr>
              <a:t>Bibliography &amp; Institutional Archives</a:t>
            </a:r>
            <a:endParaRPr lang="en-US" sz="2700" b="1" dirty="0">
              <a:latin typeface="Garamond Premr Pro Disp" panose="02020402060506020403" pitchFamily="18" charset="0"/>
            </a:endParaRPr>
          </a:p>
        </p:txBody>
      </p:sp>
    </p:spTree>
    <p:extLst>
      <p:ext uri="{BB962C8B-B14F-4D97-AF65-F5344CB8AC3E}">
        <p14:creationId xmlns:p14="http://schemas.microsoft.com/office/powerpoint/2010/main" val="39045816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3151</TotalTime>
  <Words>13699</Words>
  <Application>Microsoft Macintosh PowerPoint</Application>
  <PresentationFormat>On-screen Show (16:9)</PresentationFormat>
  <Paragraphs>832</Paragraphs>
  <Slides>47</Slides>
  <Notes>47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Aptos</vt:lpstr>
      <vt:lpstr>Aptos Display</vt:lpstr>
      <vt:lpstr>Arial</vt:lpstr>
      <vt:lpstr>Courier Prime</vt:lpstr>
      <vt:lpstr>Garamond</vt:lpstr>
      <vt:lpstr>Garamond Premr Pro</vt:lpstr>
      <vt:lpstr>Garamond Premr Pro Capt</vt:lpstr>
      <vt:lpstr>Garamond Premr Pro Disp</vt:lpstr>
      <vt:lpstr>Garamond Premr Pro Lt Disp</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Hanpu Li</cp:lastModifiedBy>
  <cp:revision>45</cp:revision>
  <cp:lastPrinted>2026-03-06T04:05:57Z</cp:lastPrinted>
  <dcterms:created xsi:type="dcterms:W3CDTF">2026-03-04T02:24:42Z</dcterms:created>
  <dcterms:modified xsi:type="dcterms:W3CDTF">2026-03-06T17:36:30Z</dcterms:modified>
</cp:coreProperties>
</file>